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D3A4A"/>
                </a:solidFill>
              </a:rPr>
              <a:t>Module 15 — 全量 CMExam 重训练对比 (Plan A → Plan 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66666"/>
                </a:solidFill>
              </a:rPr>
              <a:t>Plan A: 仅牙科 672 样本训练 / 83 题测试 → Plan B: 全科 4608 样本训练 / 991 题(+125 牙科子集)测试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0C0"/>
                </a:solidFill>
              </a:rPr>
              <a:t>Qwen2.5-7B 学生 (两阶段蒸馏)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34440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31520"/>
                <a:gridCol w="731520"/>
                <a:gridCol w="731520"/>
                <a:gridCol w="1554480"/>
                <a:gridCol w="731520"/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Seed 11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Seed 42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Seed 7/7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均值 ± σ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提升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666666"/>
                          </a:solidFill>
                        </a:rPr>
                        <a:t>7B Zero-shot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76.49% (全) / 68.80% (牙)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D3A4A"/>
                          </a:solidFill>
                        </a:rPr>
                        <a:t>Plan A (牙科672)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A4A"/>
                          </a:solidFill>
                        </a:rPr>
                        <a:t>81.93%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A4A"/>
                          </a:solidFill>
                        </a:rPr>
                        <a:t>72.29%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A4A"/>
                          </a:solidFill>
                        </a:rPr>
                        <a:t>77.11%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A4A"/>
                          </a:solidFill>
                        </a:rPr>
                        <a:t>76.87% ± 3.09pp (83题)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8050"/>
                          </a:solidFill>
                        </a:rPr>
                        <a:t>Plan B 全科 (991题)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8050"/>
                          </a:solidFill>
                        </a:rPr>
                        <a:t>86.28%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8050"/>
                          </a:solidFill>
                        </a:rPr>
                        <a:t>85.57%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8050"/>
                          </a:solidFill>
                        </a:rPr>
                        <a:t>84.96%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8050"/>
                          </a:solidFill>
                        </a:rPr>
                        <a:t>85.60% ± 0.54pp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8050"/>
                          </a:solidFill>
                        </a:rPr>
                        <a:t>+9.11pp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D3A4A"/>
                          </a:solidFill>
                        </a:rPr>
                        <a:t>Plan B 牙科 (125题)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A4A"/>
                          </a:solidFill>
                        </a:rPr>
                        <a:t>76.00%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A4A"/>
                          </a:solidFill>
                        </a:rPr>
                        <a:t>73.60%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A4A"/>
                          </a:solidFill>
                        </a:rPr>
                        <a:t>71.20%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A4A"/>
                          </a:solidFill>
                        </a:rPr>
                        <a:t>73.60%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8050"/>
                          </a:solidFill>
                        </a:rPr>
                        <a:t>+4.80pp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666666"/>
                          </a:solidFill>
                        </a:rPr>
                        <a:t>教师 DeepSeek-V3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87.18% (全) / 79.20% (牙)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91440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70C0"/>
                </a:solidFill>
              </a:rPr>
              <a:t>Qwen2.5-14B 学生 (仅 Stage-1 蒸馏)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234440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31520"/>
                <a:gridCol w="731520"/>
                <a:gridCol w="731520"/>
                <a:gridCol w="1554480"/>
                <a:gridCol w="731520"/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Seed 11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Seed 42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Seed 8/8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均值 ± σ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提升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666666"/>
                          </a:solidFill>
                        </a:rPr>
                        <a:t>14B Zero-shot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83.25% (全) / 79.20% (牙)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D3A4A"/>
                          </a:solidFill>
                        </a:rPr>
                        <a:t>Plan A (牙科672)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A4A"/>
                          </a:solidFill>
                        </a:rPr>
                        <a:t>84.34%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A4A"/>
                          </a:solidFill>
                        </a:rPr>
                        <a:t>83.13%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A4A"/>
                          </a:solidFill>
                        </a:rPr>
                        <a:t>79.52%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A4A"/>
                          </a:solidFill>
                        </a:rPr>
                        <a:t>82.33% ± 1.99pp (83题)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8050"/>
                          </a:solidFill>
                        </a:rPr>
                        <a:t>Plan B 全科 (991题)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8050"/>
                          </a:solidFill>
                        </a:rPr>
                        <a:t>88.50%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8050"/>
                          </a:solidFill>
                        </a:rPr>
                        <a:t>88.40%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8050"/>
                          </a:solidFill>
                        </a:rPr>
                        <a:t>89.10%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8050"/>
                          </a:solidFill>
                        </a:rPr>
                        <a:t>88.67% ± 0.31pp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8050"/>
                          </a:solidFill>
                        </a:rPr>
                        <a:t>+5.42pp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D3A4A"/>
                          </a:solidFill>
                        </a:rPr>
                        <a:t>Plan B 牙科 (125题)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A4A"/>
                          </a:solidFill>
                        </a:rPr>
                        <a:t>79.20%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A4A"/>
                          </a:solidFill>
                        </a:rPr>
                        <a:t>80.00%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A4A"/>
                          </a:solidFill>
                        </a:rPr>
                        <a:t>78.40%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D3A4A"/>
                          </a:solidFill>
                        </a:rPr>
                        <a:t>79.20%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00000"/>
                          </a:solidFill>
                        </a:rPr>
                        <a:t>+0.00pp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666666"/>
                          </a:solidFill>
                        </a:rPr>
                        <a:t>教师 DeepSeek-V3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87.18% (全) / 79.20% (牙)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666666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74320" y="3337560"/>
            <a:ext cx="11612880" cy="3246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1400" b="1">
                <a:solidFill>
                  <a:srgbClr val="0070C0"/>
                </a:solidFill>
              </a:rPr>
              <a:t>核心发现</a:t>
            </a:r>
          </a:p>
          <a:p>
            <a:pPr>
              <a:spcAft>
                <a:spcPts val="100"/>
              </a:spcAft>
            </a:pPr>
            <a:r>
              <a:rPr sz="600" b="0">
                <a:solidFill>
                  <a:srgbClr val="2D3A4A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D3A4A"/>
                </a:solidFill>
              </a:rPr>
              <a:t>1. 全量训练显著提升：7B 全科准确率 85.60%（+9.11pp），14B 全科 88.67%（+5.42pp），大数据量 × 多学科覆盖为蒸馏带来实质性增益。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D3A4A"/>
                </a:solidFill>
              </a:rPr>
              <a:t>2. 14B 学生超越教师：14B 均值 88.67% &gt; DeepSeek-V3 教师 87.18%，验证了「强学生 + 大数据蒸馏可超越教师」的假设。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D3A4A"/>
                </a:solidFill>
              </a:rPr>
              <a:t>3. 种子方差大幅压缩：测试集从 83→991 题后，7B σ 从 3.09→0.54pp（-83%），14B σ 从 1.99→0.31pp（-84%），结论更可靠。</a:t>
            </a:r>
          </a:p>
          <a:p>
            <a:pPr>
              <a:spcAft>
                <a:spcPts val="100"/>
              </a:spcAft>
            </a:pPr>
            <a:r>
              <a:rPr sz="1100" b="0">
                <a:solidFill>
                  <a:srgbClr val="2D3A4A"/>
                </a:solidFill>
              </a:rPr>
              <a:t>4. 牙科子集提升有限：14B 牙科 79.20% 与 zero-shot 持平（已触及教师天花板 79.20%），7B 牙科 +4.80pp 仍有改善。</a:t>
            </a:r>
          </a:p>
          <a:p>
            <a:pPr>
              <a:spcAft>
                <a:spcPts val="100"/>
              </a:spcAft>
            </a:pPr>
            <a:r>
              <a:rPr sz="600" b="0">
                <a:solidFill>
                  <a:srgbClr val="2D3A4A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400" b="1">
                <a:solidFill>
                  <a:srgbClr val="0070C0"/>
                </a:solidFill>
              </a:rPr>
              <a:t>实验设置</a:t>
            </a:r>
          </a:p>
          <a:p>
            <a:pPr>
              <a:spcAft>
                <a:spcPts val="100"/>
              </a:spcAft>
            </a:pPr>
            <a:r>
              <a:rPr sz="600" b="0">
                <a:solidFill>
                  <a:srgbClr val="2D3A4A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D3A4A"/>
                </a:solidFill>
              </a:rPr>
              <a:t>• 数据集：CMExam 6591 道单选题（去重后），按难度分层 seed=2026 切分：Train 4608 / Val 991 / Test 991（含 125 牙科子集）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D3A4A"/>
                </a:solidFill>
              </a:rPr>
              <a:t>• 教师：DeepSeek-V3 API（全科 87.18%，牙科 79.20%）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D3A4A"/>
                </a:solidFill>
              </a:rPr>
              <a:t>• 7B 配置：两阶段（Stage1 KL α=0.35 + Stage2 GT-SFT），LR 1.2e-4，LoRA r=16/α=32，smooth_eps=0.25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D3A4A"/>
                </a:solidFill>
              </a:rPr>
              <a:t>• 14B 配置：仅 Stage-1（Stage2 对强学生有害），LR 1e-4，LoRA r=16/α=32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2D3A4A"/>
                </a:solidFill>
              </a:rPr>
              <a:t>• 每组 3 seed 取均值 ± 标准差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