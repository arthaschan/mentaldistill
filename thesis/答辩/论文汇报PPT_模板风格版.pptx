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793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"/>
            <a:ext cx="2103120" cy="162641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63240" y="1234440"/>
            <a:ext cx="8321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303030"/>
                </a:solidFill>
                <a:latin typeface="Noto Sans CJK SC"/>
              </a:rPr>
              <a:t>基于知识蒸馏的牙科选择题自动答题系统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240280"/>
            <a:ext cx="6035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848484"/>
                </a:solidFill>
                <a:latin typeface="Calibri"/>
              </a:rPr>
              <a:t>Knowledge Distillation for Dental MCQ Answering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2834640"/>
            <a:ext cx="3108960" cy="36576"/>
          </a:xfrm>
          <a:prstGeom prst="rect">
            <a:avLst/>
          </a:prstGeom>
          <a:solidFill>
            <a:srgbClr val="9B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83480" y="32461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5C5C5C"/>
                </a:solidFill>
                <a:latin typeface="Noto Sans CJK SC"/>
              </a:rPr>
              <a:t>NVIDIA H100 NVL 95GB  |  CMExam 牙科医师考试选择题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365760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C915D"/>
                </a:solidFill>
                <a:latin typeface="Noto Sans CJK SC"/>
              </a:rPr>
              <a:t>核心结果：89.10%（14B 学生） &gt; 87.18%（DeepSeek-V3 教师）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120640"/>
            <a:ext cx="12179300" cy="1600200"/>
          </a:xfrm>
          <a:prstGeom prst="rect">
            <a:avLst/>
          </a:prstGeom>
          <a:solidFill>
            <a:srgbClr val="9B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523036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Noto Sans CJK SC"/>
              </a:rPr>
              <a:t>专业：应用人工智能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523036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Noto Sans CJK SC"/>
              </a:rPr>
              <a:t>导师：熊体超博士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585216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学号：256360231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5852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Noto Sans CJK SC"/>
              </a:rPr>
              <a:t>答辩人：陈天元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19088"/>
            <a:ext cx="12179300" cy="393192"/>
          </a:xfrm>
          <a:prstGeom prst="rect">
            <a:avLst/>
          </a:prstGeom>
          <a:solidFill>
            <a:srgbClr val="7A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6464808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Noto Sans CJK SC"/>
              </a:rPr>
              <a:t>2026 年 5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303030"/>
                </a:solidFill>
                <a:latin typeface="Noto Sans CJK SC"/>
              </a:rPr>
              <a:t>汇报提纲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417320" cy="36576"/>
          </a:xfrm>
          <a:prstGeom prst="rect">
            <a:avLst/>
          </a:prstGeom>
          <a:solidFill>
            <a:srgbClr val="9B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66751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>
                <a:solidFill>
                  <a:srgbClr val="303030"/>
                </a:solidFill>
                <a:latin typeface="Noto Sans CJK SC"/>
              </a:rPr>
              <a:t>1. 研究背景与核心问题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>
                <a:solidFill>
                  <a:srgbClr val="303030"/>
                </a:solidFill>
                <a:latin typeface="Noto Sans CJK SC"/>
              </a:rPr>
              <a:t>2. 数据、目标与实验范围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>
                <a:solidFill>
                  <a:srgbClr val="303030"/>
                </a:solidFill>
                <a:latin typeface="Noto Sans CJK SC"/>
              </a:rPr>
              <a:t>3. Choice-Head 蒸馏方法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>
                <a:solidFill>
                  <a:srgbClr val="303030"/>
                </a:solidFill>
                <a:latin typeface="Noto Sans CJK SC"/>
              </a:rPr>
              <a:t>4. 实验体系与设置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>
                <a:solidFill>
                  <a:srgbClr val="303030"/>
                </a:solidFill>
                <a:latin typeface="Noto Sans CJK SC"/>
              </a:rPr>
              <a:t>5. 核心结果：学生超过教师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>
                <a:solidFill>
                  <a:srgbClr val="303030"/>
                </a:solidFill>
                <a:latin typeface="Noto Sans CJK SC"/>
              </a:rPr>
              <a:t>6. 关键发现与解释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>
                <a:solidFill>
                  <a:srgbClr val="303030"/>
                </a:solidFill>
                <a:latin typeface="Noto Sans CJK SC"/>
              </a:rPr>
              <a:t>7. 应用价值、局限与未来工作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>
                <a:solidFill>
                  <a:srgbClr val="303030"/>
                </a:solidFill>
                <a:latin typeface="Noto Sans CJK SC"/>
              </a:rPr>
              <a:t>8. 结论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79300" cy="457200"/>
          </a:xfrm>
          <a:prstGeom prst="rect">
            <a:avLst/>
          </a:prstGeom>
          <a:solidFill>
            <a:srgbClr val="9B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0" y="6501384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Noto Sans CJK SC"/>
              </a:rPr>
              <a:t>基于知识蒸馏的牙科选择题自动答题系统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47780" y="650138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Calibri"/>
              </a:rP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0">
                <a:solidFill>
                  <a:srgbClr val="9B1F23"/>
                </a:solidFill>
                <a:latin typeface="Calibr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338328"/>
            <a:ext cx="6217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9B1F23"/>
                </a:solidFill>
                <a:latin typeface="Noto Sans CJK SC"/>
              </a:rPr>
              <a:t>研究背景与问题定义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1874519" cy="36576"/>
          </a:xfrm>
          <a:prstGeom prst="rect">
            <a:avLst/>
          </a:prstGeom>
          <a:solidFill>
            <a:srgbClr val="9B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332720" cy="1051560"/>
          </a:xfrm>
          <a:prstGeom prst="roundRect">
            <a:avLst/>
          </a:prstGeom>
          <a:solidFill>
            <a:srgbClr val="E7EFF8"/>
          </a:solidFill>
          <a:ln w="19050">
            <a:solidFill>
              <a:srgbClr val="008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1F609C"/>
                </a:solidFill>
                <a:latin typeface="Noto Sans CJK SC"/>
              </a:rPr>
              <a:t>核心问题：能否把大模型的牙科答题能力迁移到 7B/14B 学生模型，同时兼顾准确率和部署成本？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303030"/>
                </a:solidFill>
                <a:latin typeface="Noto Sans CJK SC"/>
              </a:rPr>
              <a:t>研究动机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429000"/>
            <a:ext cx="96012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100" b="0">
                <a:solidFill>
                  <a:srgbClr val="5C5C5C"/>
                </a:solidFill>
                <a:latin typeface="Noto Sans CJK SC"/>
              </a:rPr>
              <a:t>需要的是低成本、可部署的牙科答题能力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100" b="0">
                <a:solidFill>
                  <a:srgbClr val="5C5C5C"/>
                </a:solidFill>
                <a:latin typeface="Noto Sans CJK SC"/>
              </a:rPr>
              <a:t>大模型效果好，但推理和部署代价高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100" b="0">
                <a:solidFill>
                  <a:srgbClr val="5C5C5C"/>
                </a:solidFill>
                <a:latin typeface="Noto Sans CJK SC"/>
              </a:rPr>
              <a:t>传统全词表蒸馏对五选一任务有明显冗余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100" b="0">
                <a:solidFill>
                  <a:srgbClr val="5C5C5C"/>
                </a:solidFill>
                <a:latin typeface="Noto Sans CJK SC"/>
              </a:rPr>
              <a:t>因此本文重写蒸馏目标，而不是继续堆大模型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79300" cy="457200"/>
          </a:xfrm>
          <a:prstGeom prst="rect">
            <a:avLst/>
          </a:prstGeom>
          <a:solidFill>
            <a:srgbClr val="9B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6501384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Noto Sans CJK SC"/>
              </a:rPr>
              <a:t>基于知识蒸馏的牙科选择题自动答题系统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47780" y="650138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Calibri"/>
              </a:rP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0">
                <a:solidFill>
                  <a:srgbClr val="9B1F23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338328"/>
            <a:ext cx="6217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303030"/>
                </a:solidFill>
                <a:latin typeface="Noto Sans CJK SC"/>
              </a:rPr>
              <a:t>研究目标、数据与实验范围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1874519" cy="36576"/>
          </a:xfrm>
          <a:prstGeom prst="rect">
            <a:avLst/>
          </a:prstGeom>
          <a:solidFill>
            <a:srgbClr val="9B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2240280" cy="1097280"/>
          </a:xfrm>
          <a:prstGeom prst="roundRect">
            <a:avLst/>
          </a:prstGeom>
          <a:solidFill>
            <a:srgbClr val="F7F7F7"/>
          </a:solidFill>
          <a:ln w="19050">
            <a:solidFill>
              <a:srgbClr val="008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8A96"/>
                </a:solidFill>
                <a:latin typeface="Noto Sans CJK SC"/>
              </a:rPr>
              <a:t>数据范围</a:t>
            </a:r>
          </a:p>
          <a:p>
            <a:pPr>
              <a:spcBef>
                <a:spcPts val="400"/>
              </a:spcBef>
            </a:pPr>
            <a:r>
              <a:rPr sz="2400" b="1">
                <a:solidFill>
                  <a:srgbClr val="303030"/>
                </a:solidFill>
                <a:latin typeface="Calibri"/>
              </a:rPr>
              <a:t>6,591 题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5C5C5C"/>
                </a:solidFill>
                <a:latin typeface="Noto Sans CJK SC"/>
              </a:rPr>
              <a:t>全量 CMExam 单选题，含牙科子集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508760"/>
            <a:ext cx="2240280" cy="1097280"/>
          </a:xfrm>
          <a:prstGeom prst="roundRect">
            <a:avLst/>
          </a:prstGeom>
          <a:solidFill>
            <a:srgbClr val="F7F7F7"/>
          </a:solidFill>
          <a:ln w="19050">
            <a:solidFill>
              <a:srgbClr val="DC7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DC741A"/>
                </a:solidFill>
                <a:latin typeface="Noto Sans CJK SC"/>
              </a:rPr>
              <a:t>实验规模</a:t>
            </a:r>
          </a:p>
          <a:p>
            <a:pPr>
              <a:spcBef>
                <a:spcPts val="400"/>
              </a:spcBef>
            </a:pPr>
            <a:r>
              <a:rPr sz="2400" b="1">
                <a:solidFill>
                  <a:srgbClr val="303030"/>
                </a:solidFill>
                <a:latin typeface="Calibri"/>
              </a:rPr>
              <a:t>21 组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5C5C5C"/>
                </a:solidFill>
                <a:latin typeface="Noto Sans CJK SC"/>
              </a:rPr>
              <a:t>覆盖 00–20 模块的系统性实验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23560" y="1508760"/>
            <a:ext cx="2240280" cy="1097280"/>
          </a:xfrm>
          <a:prstGeom prst="roundRect">
            <a:avLst/>
          </a:prstGeom>
          <a:solidFill>
            <a:srgbClr val="F7F7F7"/>
          </a:solidFill>
          <a:ln w="19050">
            <a:solidFill>
              <a:srgbClr val="1C9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C915D"/>
                </a:solidFill>
                <a:latin typeface="Noto Sans CJK SC"/>
              </a:rPr>
              <a:t>学生模型</a:t>
            </a:r>
          </a:p>
          <a:p>
            <a:pPr>
              <a:spcBef>
                <a:spcPts val="400"/>
              </a:spcBef>
            </a:pPr>
            <a:r>
              <a:rPr sz="2400" b="1">
                <a:solidFill>
                  <a:srgbClr val="303030"/>
                </a:solidFill>
                <a:latin typeface="Calibri"/>
              </a:rPr>
              <a:t>7B / 14B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5C5C5C"/>
                </a:solidFill>
                <a:latin typeface="Noto Sans CJK SC"/>
              </a:rPr>
              <a:t>Qwen2.5 系列 LoRA 微调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08760"/>
            <a:ext cx="2240280" cy="1097280"/>
          </a:xfrm>
          <a:prstGeom prst="roundRect">
            <a:avLst/>
          </a:prstGeom>
          <a:solidFill>
            <a:srgbClr val="F7F7F7"/>
          </a:solidFill>
          <a:ln w="19050">
            <a:solidFill>
              <a:srgbClr val="1F6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609C"/>
                </a:solidFill>
                <a:latin typeface="Noto Sans CJK SC"/>
              </a:rPr>
              <a:t>部署约束</a:t>
            </a:r>
          </a:p>
          <a:p>
            <a:pPr>
              <a:spcBef>
                <a:spcPts val="400"/>
              </a:spcBef>
            </a:pPr>
            <a:r>
              <a:rPr sz="2400" b="1">
                <a:solidFill>
                  <a:srgbClr val="303030"/>
                </a:solidFill>
                <a:latin typeface="Calibri"/>
              </a:rPr>
              <a:t>45× 压缩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5C5C5C"/>
                </a:solidFill>
                <a:latin typeface="Noto Sans CJK SC"/>
              </a:rPr>
              <a:t>从 671B 教师迁移到 14B 学生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834640"/>
            <a:ext cx="480060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08A96"/>
                </a:solidFill>
                <a:latin typeface="Noto Sans CJK SC"/>
              </a:rPr>
              <a:t>评测设置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小规模：672/74/83 牙科固定划分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大规模：4608/991/991 全量重分割 + 125 题牙科子集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教师覆盖 DeepSeek-V3、Doubao、Llama-70B、Qwen2.5-32B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硬件：NVIDIA H100 NVL 95GB，BF16 混合精度训练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2834640"/>
            <a:ext cx="457200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7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DC741A"/>
                </a:solidFill>
                <a:latin typeface="Noto Sans CJK SC"/>
              </a:rPr>
              <a:t>模型参数规模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学生：Qwen2.5-7B / 14B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本地教师：Qwen2.5-32B、Llama-3.3-70B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主要 API 教师：DeepSeek-V3（671B 总参数 / 37B 激活）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Doubao、Kimi 为闭源模型，参数规模未公开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79300" cy="457200"/>
          </a:xfrm>
          <a:prstGeom prst="rect">
            <a:avLst/>
          </a:prstGeom>
          <a:solidFill>
            <a:srgbClr val="9B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6501384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Noto Sans CJK SC"/>
              </a:rPr>
              <a:t>基于知识蒸馏的牙科选择题自动答题系统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47780" y="650138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Calibri"/>
              </a:rP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0">
                <a:solidFill>
                  <a:srgbClr val="9B1F23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338328"/>
            <a:ext cx="6217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303030"/>
                </a:solidFill>
                <a:latin typeface="Noto Sans CJK SC"/>
              </a:rPr>
              <a:t>核心方法：Choice-Head 两阶段蒸馏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1874519" cy="36576"/>
          </a:xfrm>
          <a:prstGeom prst="rect">
            <a:avLst/>
          </a:prstGeom>
          <a:solidFill>
            <a:srgbClr val="9B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05740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303030"/>
                </a:solidFill>
                <a:latin typeface="Noto Sans CJK SC"/>
              </a:rPr>
              <a:t>传统全词表蒸馏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151,936 维 logits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代价高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黑盒教师难支持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1417320"/>
            <a:ext cx="214884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008A96"/>
                </a:solidFill>
                <a:latin typeface="Noto Sans CJK SC"/>
              </a:rPr>
              <a:t>Choice-Head 蒸馏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只看 A/B/C/D/E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监督降到 5 维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兼容 API 教师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417320"/>
            <a:ext cx="214884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7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DC741A"/>
                </a:solidFill>
                <a:latin typeface="Noto Sans CJK SC"/>
              </a:rPr>
              <a:t>Stage 1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Choice-Head KL + CE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先学教师偏好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1 epoch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417320"/>
            <a:ext cx="274320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6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F609C"/>
                </a:solidFill>
                <a:latin typeface="Noto Sans CJK SC"/>
              </a:rPr>
              <a:t>Stage 2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GT SFT 精校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再用标准答案校准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2–5 epochs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9B1F23"/>
                </a:solidFill>
                <a:latin typeface="Noto Sans CJK SC"/>
              </a:rPr>
              <a:t>方法直觉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03320"/>
            <a:ext cx="5029200" cy="2011680"/>
          </a:xfrm>
          <a:prstGeom prst="roundRect">
            <a:avLst/>
          </a:prstGeom>
          <a:solidFill>
            <a:srgbClr val="F7F7F7"/>
          </a:solidFill>
          <a:ln w="19050">
            <a:solidFill>
              <a:srgbClr val="008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08A96"/>
                </a:solidFill>
                <a:latin typeface="Noto Sans CJK SC"/>
              </a:rPr>
              <a:t>Stage 1：Choice-Head KL 蒸馏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只蒸馏五个选项间的相对偏好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损失：α·KL(pT∥pS) + (1-α)·CE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显存更低，也能用 API-only 教师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3703320"/>
            <a:ext cx="4297680" cy="2011680"/>
          </a:xfrm>
          <a:prstGeom prst="roundRect">
            <a:avLst/>
          </a:prstGeom>
          <a:solidFill>
            <a:srgbClr val="F7F7F7"/>
          </a:solidFill>
          <a:ln w="19050">
            <a:solidFill>
              <a:srgbClr val="1F6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F609C"/>
                </a:solidFill>
                <a:latin typeface="Noto Sans CJK SC"/>
              </a:rPr>
              <a:t>Stage 2：GT SFT 精校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继承 Stage 1 的 LoRA 权重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用 GT 校正教师误差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对 7B 更稳，对 14B 不一定继续增益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00800"/>
            <a:ext cx="12179300" cy="457200"/>
          </a:xfrm>
          <a:prstGeom prst="rect">
            <a:avLst/>
          </a:prstGeom>
          <a:solidFill>
            <a:srgbClr val="9B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6501384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Noto Sans CJK SC"/>
              </a:rPr>
              <a:t>基于知识蒸馏的牙科选择题自动答题系统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47780" y="650138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Calibri"/>
              </a:rP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0">
                <a:solidFill>
                  <a:srgbClr val="9B1F23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338328"/>
            <a:ext cx="6217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303030"/>
                </a:solidFill>
                <a:latin typeface="Noto Sans CJK SC"/>
              </a:rPr>
              <a:t>实验体系与设置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1874519" cy="36576"/>
          </a:xfrm>
          <a:prstGeom prst="rect">
            <a:avLst/>
          </a:prstGeom>
          <a:solidFill>
            <a:srgbClr val="9B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96596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303030"/>
                </a:solidFill>
                <a:latin typeface="Noto Sans CJK SC"/>
              </a:rPr>
              <a:t>A. 基线建立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GT SFT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7B：77.11%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先定起点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1417320"/>
            <a:ext cx="21488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008A96"/>
                </a:solidFill>
                <a:latin typeface="Noto Sans CJK SC"/>
              </a:rPr>
              <a:t>B. 单教师蒸馏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白盒 Logit-KL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黑盒 Choice-Head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比较监督形式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1417320"/>
            <a:ext cx="21488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7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DC741A"/>
                </a:solidFill>
                <a:latin typeface="Noto Sans CJK SC"/>
              </a:rPr>
              <a:t>C. 多教师优化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静态融合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一致性过滤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多数票集成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417320"/>
            <a:ext cx="141732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B1F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9B1F23"/>
                </a:solidFill>
                <a:latin typeface="Noto Sans CJK SC"/>
              </a:rPr>
              <a:t>D. 范式拓展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CoT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α-散度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边界过滤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417320"/>
            <a:ext cx="141732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9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C915D"/>
                </a:solidFill>
                <a:latin typeface="Noto Sans CJK SC"/>
              </a:rPr>
              <a:t>E. 容量升级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14B 学生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跨架构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全量重分割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46120"/>
            <a:ext cx="48006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08A96"/>
                </a:solidFill>
                <a:latin typeface="Noto Sans CJK SC"/>
              </a:rPr>
              <a:t>实验设计特点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从单教师到多教师、从 7B 到 14B 逐层推进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同时保留正例、负例和失败实验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所有模块都保留统一脚本，保证可复现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3246120"/>
            <a:ext cx="457200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7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DC741A"/>
                </a:solidFill>
                <a:latin typeface="Noto Sans CJK SC"/>
              </a:rPr>
              <a:t>关键可比性控制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模块之间尽量复用同一学生架构与超参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用多 seed 和大测试集缓解 83 题波动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先给经验结果，再做理论解释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00800"/>
            <a:ext cx="12179300" cy="457200"/>
          </a:xfrm>
          <a:prstGeom prst="rect">
            <a:avLst/>
          </a:prstGeom>
          <a:solidFill>
            <a:srgbClr val="9B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6501384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Noto Sans CJK SC"/>
              </a:rPr>
              <a:t>基于知识蒸馏的牙科选择题自动答题系统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47780" y="650138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Calibri"/>
              </a:rP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0">
                <a:solidFill>
                  <a:srgbClr val="9B1F23"/>
                </a:solidFill>
                <a:latin typeface="Calibr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338328"/>
            <a:ext cx="6217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303030"/>
                </a:solidFill>
                <a:latin typeface="Noto Sans CJK SC"/>
              </a:rPr>
              <a:t>核心结果：学生超过教师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1874519" cy="36576"/>
          </a:xfrm>
          <a:prstGeom prst="rect">
            <a:avLst/>
          </a:prstGeom>
          <a:solidFill>
            <a:srgbClr val="9B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2240280" cy="1188720"/>
          </a:xfrm>
          <a:prstGeom prst="roundRect">
            <a:avLst/>
          </a:prstGeom>
          <a:solidFill>
            <a:srgbClr val="F7F7F7"/>
          </a:solidFill>
          <a:ln w="19050">
            <a:solidFill>
              <a:srgbClr val="9B1F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9B1F23"/>
                </a:solidFill>
                <a:latin typeface="Noto Sans CJK SC"/>
              </a:rPr>
              <a:t>DeepSeek-V3 教师</a:t>
            </a:r>
          </a:p>
          <a:p>
            <a:pPr>
              <a:spcBef>
                <a:spcPts val="400"/>
              </a:spcBef>
            </a:pPr>
            <a:r>
              <a:rPr sz="2400" b="1">
                <a:solidFill>
                  <a:srgbClr val="303030"/>
                </a:solidFill>
                <a:latin typeface="Calibri"/>
              </a:rPr>
              <a:t>87.18%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5C5C5C"/>
                </a:solidFill>
                <a:latin typeface="Noto Sans CJK SC"/>
              </a:rPr>
              <a:t>991 题全量测试集准确率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417320"/>
            <a:ext cx="2240280" cy="1188720"/>
          </a:xfrm>
          <a:prstGeom prst="roundRect">
            <a:avLst/>
          </a:prstGeom>
          <a:solidFill>
            <a:srgbClr val="F7F7F7"/>
          </a:solidFill>
          <a:ln w="19050">
            <a:solidFill>
              <a:srgbClr val="1C9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C915D"/>
                </a:solidFill>
                <a:latin typeface="Noto Sans CJK SC"/>
              </a:rPr>
              <a:t>14B 学生最佳</a:t>
            </a:r>
          </a:p>
          <a:p>
            <a:pPr>
              <a:spcBef>
                <a:spcPts val="400"/>
              </a:spcBef>
            </a:pPr>
            <a:r>
              <a:rPr sz="2400" b="1">
                <a:solidFill>
                  <a:srgbClr val="303030"/>
                </a:solidFill>
                <a:latin typeface="Calibri"/>
              </a:rPr>
              <a:t>89.10%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5C5C5C"/>
                </a:solidFill>
                <a:latin typeface="Noto Sans CJK SC"/>
              </a:rPr>
              <a:t>Module 15，seed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0" y="1417320"/>
            <a:ext cx="2240280" cy="1188720"/>
          </a:xfrm>
          <a:prstGeom prst="roundRect">
            <a:avLst/>
          </a:prstGeom>
          <a:solidFill>
            <a:srgbClr val="F7F7F7"/>
          </a:solidFill>
          <a:ln w="19050">
            <a:solidFill>
              <a:srgbClr val="1F6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609C"/>
                </a:solidFill>
                <a:latin typeface="Noto Sans CJK SC"/>
              </a:rPr>
              <a:t>14B 三种子均值</a:t>
            </a:r>
          </a:p>
          <a:p>
            <a:pPr>
              <a:spcBef>
                <a:spcPts val="400"/>
              </a:spcBef>
            </a:pPr>
            <a:r>
              <a:rPr sz="2400" b="1">
                <a:solidFill>
                  <a:srgbClr val="303030"/>
                </a:solidFill>
                <a:latin typeface="Calibri"/>
              </a:rPr>
              <a:t>88.67%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5C5C5C"/>
                </a:solidFill>
                <a:latin typeface="Noto Sans CJK SC"/>
              </a:rPr>
              <a:t>同样超过教师表现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417320"/>
            <a:ext cx="2240280" cy="1188720"/>
          </a:xfrm>
          <a:prstGeom prst="roundRect">
            <a:avLst/>
          </a:prstGeom>
          <a:solidFill>
            <a:srgbClr val="F7F7F7"/>
          </a:solidFill>
          <a:ln w="19050">
            <a:solidFill>
              <a:srgbClr val="DC7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DC741A"/>
                </a:solidFill>
                <a:latin typeface="Noto Sans CJK SC"/>
              </a:rPr>
              <a:t>参数压缩比</a:t>
            </a:r>
          </a:p>
          <a:p>
            <a:pPr>
              <a:spcBef>
                <a:spcPts val="400"/>
              </a:spcBef>
            </a:pPr>
            <a:r>
              <a:rPr sz="2400" b="1">
                <a:solidFill>
                  <a:srgbClr val="303030"/>
                </a:solidFill>
                <a:latin typeface="Calibri"/>
              </a:rPr>
              <a:t>45×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5C5C5C"/>
                </a:solidFill>
                <a:latin typeface="Noto Sans CJK SC"/>
              </a:rPr>
              <a:t>671B 教师到 14B 学生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926080"/>
            <a:ext cx="484632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9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C915D"/>
                </a:solidFill>
                <a:latin typeface="Noto Sans CJK SC"/>
              </a:rPr>
              <a:t>最重要的结论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学生不只是接近教师，而是可以超过教师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关键不在流程更复杂，而在蒸馏目标更贴近任务结构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991 题验证后，这个结论更稳健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2926080"/>
            <a:ext cx="4480560" cy="2240280"/>
          </a:xfrm>
          <a:prstGeom prst="roundRect">
            <a:avLst/>
          </a:prstGeom>
          <a:solidFill>
            <a:srgbClr val="F7F7F7"/>
          </a:solidFill>
          <a:ln w="19050">
            <a:solidFill>
              <a:srgbClr val="9B1F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9B1F23"/>
                </a:solidFill>
                <a:latin typeface="Noto Sans CJK SC"/>
              </a:rPr>
              <a:t>代表性结果串联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7B GT SFT 基线：77.11%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7B Choice-Head 蒸馏最佳：81.93%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14B DeepSeek 蒸馏最佳：84.34%（83 题牙科）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14B 全量重分割最佳：89.10%（991 题）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79300" cy="457200"/>
          </a:xfrm>
          <a:prstGeom prst="rect">
            <a:avLst/>
          </a:prstGeom>
          <a:solidFill>
            <a:srgbClr val="9B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6501384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Noto Sans CJK SC"/>
              </a:rPr>
              <a:t>基于知识蒸馏的牙科选择题自动答题系统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47780" y="650138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Calibri"/>
              </a:rP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0">
                <a:solidFill>
                  <a:srgbClr val="9B1F23"/>
                </a:solidFill>
                <a:latin typeface="Calibr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338328"/>
            <a:ext cx="6217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303030"/>
                </a:solidFill>
                <a:latin typeface="Noto Sans CJK SC"/>
              </a:rPr>
              <a:t>结果细化：什么条件下蒸馏有效？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1874519" cy="36576"/>
          </a:xfrm>
          <a:prstGeom prst="rect">
            <a:avLst/>
          </a:prstGeom>
          <a:solidFill>
            <a:srgbClr val="9B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06324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008A96"/>
                </a:solidFill>
                <a:latin typeface="Noto Sans CJK SC"/>
              </a:rPr>
              <a:t>白盒 vs 黑盒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白盒 Logit-KL：80.72%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黑盒 Choice-Head：81.93%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任务对齐比全词表更重要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1417320"/>
            <a:ext cx="306324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7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DC741A"/>
                </a:solidFill>
                <a:latin typeface="Noto Sans CJK SC"/>
              </a:rPr>
              <a:t>Stage 2 的边界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7B 通常受益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14B 均值下降约 1.6pp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强学生可能被过校准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417320"/>
            <a:ext cx="306324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9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C915D"/>
                </a:solidFill>
                <a:latin typeface="Noto Sans CJK SC"/>
              </a:rPr>
              <a:t>跨架构可行性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Llama-70B 教师：72.45%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14B 学生仍达 87.25%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教师价值不只看准确率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11880"/>
            <a:ext cx="9601200" cy="1645920"/>
          </a:xfrm>
          <a:prstGeom prst="roundRect">
            <a:avLst/>
          </a:prstGeom>
          <a:solidFill>
            <a:srgbClr val="E7EFF8"/>
          </a:solidFill>
          <a:ln w="19050">
            <a:solidFill>
              <a:srgbClr val="1F6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>
                <a:solidFill>
                  <a:srgbClr val="1F609C"/>
                </a:solidFill>
                <a:latin typeface="Noto Sans CJK SC"/>
              </a:rPr>
              <a:t>结论不是“越复杂越好”，而是“监督信号要和任务决策结构匹配”。</a:t>
            </a:r>
          </a:p>
          <a:p>
            <a:pPr algn="ctr"/>
            <a:r>
              <a:rPr sz="1600" b="0">
                <a:solidFill>
                  <a:srgbClr val="5C5C5C"/>
                </a:solidFill>
                <a:latin typeface="Noto Sans CJK SC"/>
              </a:rPr>
              <a:t>本文的价值不只是一组更高分数，更在于给出了可解释的设计原则。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79300" cy="457200"/>
          </a:xfrm>
          <a:prstGeom prst="rect">
            <a:avLst/>
          </a:prstGeom>
          <a:solidFill>
            <a:srgbClr val="9B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6501384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Noto Sans CJK SC"/>
              </a:rPr>
              <a:t>基于知识蒸馏的牙科选择题自动答题系统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47780" y="650138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Calibri"/>
              </a:rP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0">
                <a:solidFill>
                  <a:srgbClr val="9B1F23"/>
                </a:solidFill>
                <a:latin typeface="Calibr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338328"/>
            <a:ext cx="6217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303030"/>
                </a:solidFill>
                <a:latin typeface="Noto Sans CJK SC"/>
              </a:rPr>
              <a:t>关键发现一：教师不是越强越好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1874519" cy="36576"/>
          </a:xfrm>
          <a:prstGeom prst="rect">
            <a:avLst/>
          </a:prstGeom>
          <a:solidFill>
            <a:srgbClr val="9B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283464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B1F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9B1F23"/>
                </a:solidFill>
                <a:latin typeface="Noto Sans CJK SC"/>
              </a:rPr>
              <a:t>弱教师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Kimi：62.65%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分歧高但信号质量不足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学生最终与基线持平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1554480"/>
            <a:ext cx="36576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9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C915D"/>
                </a:solidFill>
                <a:latin typeface="Noto Sans CJK SC"/>
              </a:rPr>
              <a:t>较优情形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较高准确率 + 适度 teacher-GT 分歧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保留结构信息，又不过分偏离真值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更容易带来蒸馏增益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554480"/>
            <a:ext cx="27432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7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DC741A"/>
                </a:solidFill>
                <a:latin typeface="Noto Sans CJK SC"/>
              </a:rPr>
              <a:t>过强教师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接近 one-hot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暗知识不足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C5C5C"/>
                </a:solidFill>
                <a:latin typeface="Noto Sans CJK SC"/>
              </a:rPr>
              <a:t>给不出有效混淆结构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343400"/>
            <a:ext cx="946404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08A96"/>
                </a:solidFill>
                <a:latin typeface="Noto Sans CJK SC"/>
              </a:rPr>
              <a:t>教师质量与蒸馏收益呈倒 U 型，关键在于是否保留了可迁移的不确定性结构。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79300" cy="457200"/>
          </a:xfrm>
          <a:prstGeom prst="rect">
            <a:avLst/>
          </a:prstGeom>
          <a:solidFill>
            <a:srgbClr val="9B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6501384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Noto Sans CJK SC"/>
              </a:rPr>
              <a:t>基于知识蒸馏的牙科选择题自动答题系统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47780" y="650138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Calibri"/>
              </a:rP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0">
                <a:solidFill>
                  <a:srgbClr val="9B1F23"/>
                </a:solidFill>
                <a:latin typeface="Calibr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338328"/>
            <a:ext cx="6217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303030"/>
                </a:solidFill>
                <a:latin typeface="Noto Sans CJK SC"/>
              </a:rPr>
              <a:t>关键发现二：真实 logprobs 更有价值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1874519" cy="36576"/>
          </a:xfrm>
          <a:prstGeom prst="rect">
            <a:avLst/>
          </a:prstGeom>
          <a:solidFill>
            <a:srgbClr val="9B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480060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6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F609C"/>
                </a:solidFill>
                <a:latin typeface="Noto Sans CJK SC"/>
              </a:rPr>
              <a:t>为什么人工平滑标签不够？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人工平滑只是加固定噪声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看不到最容易混淆的错误项和边界距离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因此只能提供有限的软监督增益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417320"/>
            <a:ext cx="466344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9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C915D"/>
                </a:solidFill>
                <a:latin typeface="Noto Sans CJK SC"/>
              </a:rPr>
              <a:t>信息几何分析给出的证据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Fisher-Rao 与 α-散度都指向同一结论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真实 logprobs 更接近连续概率流形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体积密度约为人工平滑标签的 2500 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4526280"/>
            <a:ext cx="8503920" cy="822960"/>
          </a:xfrm>
          <a:prstGeom prst="roundRect">
            <a:avLst/>
          </a:prstGeom>
          <a:solidFill>
            <a:srgbClr val="E7EFF8"/>
          </a:solidFill>
          <a:ln w="19050">
            <a:solidFill>
              <a:srgbClr val="008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08A96"/>
                </a:solidFill>
                <a:latin typeface="Noto Sans CJK SC"/>
              </a:rPr>
              <a:t>决定蒸馏效果的，不只是教师有没有答对，更在于它有没有保留高价值的连续结构信息。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79300" cy="457200"/>
          </a:xfrm>
          <a:prstGeom prst="rect">
            <a:avLst/>
          </a:prstGeom>
          <a:solidFill>
            <a:srgbClr val="9B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6501384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Noto Sans CJK SC"/>
              </a:rPr>
              <a:t>基于知识蒸馏的牙科选择题自动答题系统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47780" y="650138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Calibri"/>
              </a:rP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0">
                <a:solidFill>
                  <a:srgbClr val="9B1F23"/>
                </a:solidFill>
                <a:latin typeface="Calibr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338328"/>
            <a:ext cx="6217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303030"/>
                </a:solidFill>
                <a:latin typeface="Noto Sans CJK SC"/>
              </a:rPr>
              <a:t>应用价值与系统原型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1874519" cy="36576"/>
          </a:xfrm>
          <a:prstGeom prst="rect">
            <a:avLst/>
          </a:prstGeom>
          <a:solidFill>
            <a:srgbClr val="9B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80060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08A96"/>
                </a:solidFill>
                <a:latin typeface="Noto Sans CJK SC"/>
              </a:rPr>
              <a:t>从论文到系统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仓库已提供统一训练、评估和 Web/Quiz 入口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7B/14B 学生模型可完成部署演示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更适合教学演示、考试训练等轻量场景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方法也能迁移到其他标准化多选任务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463040"/>
            <a:ext cx="4572000" cy="3566160"/>
          </a:xfrm>
          <a:prstGeom prst="roundRect">
            <a:avLst/>
          </a:prstGeom>
          <a:solidFill>
            <a:srgbClr val="F7F7F7"/>
          </a:solidFill>
          <a:ln w="19050">
            <a:solidFill>
              <a:srgbClr val="DC7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DC741A"/>
                </a:solidFill>
                <a:latin typeface="Noto Sans CJK SC"/>
              </a:rPr>
              <a:t>应用意义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重点不是把大模型原样搬到端侧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而是把“能答题”做成“能低成本交付”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为医疗大模型轻量化提供可复现范式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79300" cy="457200"/>
          </a:xfrm>
          <a:prstGeom prst="rect">
            <a:avLst/>
          </a:prstGeom>
          <a:solidFill>
            <a:srgbClr val="9B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6501384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Noto Sans CJK SC"/>
              </a:rPr>
              <a:t>基于知识蒸馏的牙科选择题自动答题系统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7780" y="650138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Calibri"/>
              </a:rP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0">
                <a:solidFill>
                  <a:srgbClr val="9B1F23"/>
                </a:solidFill>
                <a:latin typeface="Calibr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338328"/>
            <a:ext cx="6217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303030"/>
                </a:solidFill>
                <a:latin typeface="Noto Sans CJK SC"/>
              </a:rPr>
              <a:t>局限性与未来工作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78992"/>
            <a:ext cx="1874519" cy="36576"/>
          </a:xfrm>
          <a:prstGeom prst="rect">
            <a:avLst/>
          </a:prstGeom>
          <a:solidFill>
            <a:srgbClr val="9B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4709160" cy="3611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B1F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9B1F23"/>
                </a:solidFill>
                <a:latin typeface="Noto Sans CJK SC"/>
              </a:rPr>
              <a:t>当前局限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任务仍以标准化选择题为主，尚未覆盖开放问答与长文本推理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教师谱系还不够密集，倒 U 型仍需更细验证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评估以准确率为主，缺少人工和专家反馈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系统目前更多面向研究验证，而非直接临床部署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508760"/>
            <a:ext cx="4709160" cy="3611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9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1C915D"/>
                </a:solidFill>
                <a:latin typeface="Noto Sans CJK SC"/>
              </a:rPr>
              <a:t>未来工作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扩大数据与多种子验证，提高统计可信度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研究教师路由、自适应 α-散度和动态样本选择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从选择题扩展到开放问答、多模态和真实交互</a:t>
            </a:r>
          </a:p>
          <a:p>
            <a:r>
              <a:rPr sz="1600" b="0">
                <a:solidFill>
                  <a:srgbClr val="5C5C5C"/>
                </a:solidFill>
                <a:latin typeface="Noto Sans CJK SC"/>
              </a:rPr>
              <a:t>继续推进端侧部署与真实反馈闭环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79300" cy="457200"/>
          </a:xfrm>
          <a:prstGeom prst="rect">
            <a:avLst/>
          </a:prstGeom>
          <a:solidFill>
            <a:srgbClr val="9B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6501384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Noto Sans CJK SC"/>
              </a:rPr>
              <a:t>基于知识蒸馏的牙科选择题自动答题系统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7780" y="650138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Calibri"/>
              </a:rP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508760"/>
            <a:ext cx="6400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303030"/>
                </a:solidFill>
                <a:latin typeface="Noto Sans CJK SC"/>
              </a:rPr>
              <a:t>结论与答辩总结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0" y="2240280"/>
            <a:ext cx="1828800" cy="36576"/>
          </a:xfrm>
          <a:prstGeom prst="rect">
            <a:avLst/>
          </a:prstGeom>
          <a:solidFill>
            <a:srgbClr val="9B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2743200"/>
            <a:ext cx="9144000" cy="2011680"/>
          </a:xfrm>
          <a:prstGeom prst="roundRect">
            <a:avLst/>
          </a:prstGeom>
          <a:solidFill>
            <a:srgbClr val="E7EFF8"/>
          </a:solidFill>
          <a:ln w="19050">
            <a:solidFill>
              <a:srgbClr val="008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F609C"/>
                </a:solidFill>
                <a:latin typeface="Noto Sans CJK SC"/>
              </a:rPr>
              <a:t>本文说明：当蒸馏目标和任务决策结构对齐时，小模型不仅更容易部署，也有机会超过教师。</a:t>
            </a:r>
          </a:p>
          <a:p>
            <a:pPr algn="ctr"/>
            <a:r>
              <a:rPr sz="2400" b="1">
                <a:solidFill>
                  <a:srgbClr val="1C915D"/>
                </a:solidFill>
                <a:latin typeface="Noto Sans CJK SC"/>
              </a:rPr>
              <a:t>感谢各位老师聆听，恳请批评指正。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79300" cy="457200"/>
          </a:xfrm>
          <a:prstGeom prst="rect">
            <a:avLst/>
          </a:prstGeom>
          <a:solidFill>
            <a:srgbClr val="9B1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0" y="6501384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Noto Sans CJK SC"/>
              </a:rPr>
              <a:t>基于知识蒸馏的牙科选择题自动答题系统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47780" y="650138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Calibri"/>
              </a:rP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