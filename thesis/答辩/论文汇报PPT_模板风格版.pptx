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793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7160"/>
            <a:ext cx="2103120" cy="162641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063240" y="1234440"/>
            <a:ext cx="8321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303030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240280"/>
            <a:ext cx="6035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848484"/>
                </a:solidFill>
                <a:latin typeface="Calibri"/>
              </a:rPr>
              <a:t>Knowledge Distillation for Dental MCQ Answering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2834640"/>
            <a:ext cx="3108960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83480" y="32461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5C5C5C"/>
                </a:solidFill>
                <a:latin typeface="Noto Sans CJK SC"/>
              </a:rPr>
              <a:t>NVIDIA H100 NVL 95GB  |  CMExam 牙科医师考试选择题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365760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C915D"/>
                </a:solidFill>
                <a:latin typeface="Noto Sans CJK SC"/>
              </a:rPr>
              <a:t>核心结果：89.10%（14B 学生） &gt; 87.18%（DeepSeek-V3 教师）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120640"/>
            <a:ext cx="12179300" cy="1600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523036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SC"/>
              </a:rPr>
              <a:t>专业：应用人工智能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52303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SC"/>
              </a:rPr>
              <a:t>导师：熊体超博士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585216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学号：256360231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85216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SC"/>
              </a:rPr>
              <a:t>答辩人：陈天元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19088"/>
            <a:ext cx="12179300" cy="393192"/>
          </a:xfrm>
          <a:prstGeom prst="rect">
            <a:avLst/>
          </a:prstGeom>
          <a:solidFill>
            <a:srgbClr val="7A14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6464808"/>
            <a:ext cx="2468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303030"/>
                </a:solidFill>
                <a:latin typeface="Noto Sans CJK SC"/>
              </a:rPr>
              <a:t>汇报提纲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78992"/>
            <a:ext cx="1417320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667512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303030"/>
                </a:solidFill>
                <a:latin typeface="Noto Sans CJK SC"/>
              </a:rPr>
              <a:t>1. 研究背景与问题定义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303030"/>
                </a:solidFill>
                <a:latin typeface="Noto Sans CJK SC"/>
              </a:rPr>
              <a:t>2. 研究目标、数据与实验范围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303030"/>
                </a:solidFill>
                <a:latin typeface="Noto Sans CJK SC"/>
              </a:rPr>
              <a:t>3. 核心方法：Choice-Head 两阶段蒸馏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303030"/>
                </a:solidFill>
                <a:latin typeface="Noto Sans CJK SC"/>
              </a:rPr>
              <a:t>4. 实验体系与设置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303030"/>
                </a:solidFill>
                <a:latin typeface="Noto Sans CJK SC"/>
              </a:rPr>
              <a:t>5. 核心结果：学生超过教师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303030"/>
                </a:solidFill>
                <a:latin typeface="Noto Sans CJK SC"/>
              </a:rPr>
              <a:t>6. 关键发现与理论解释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303030"/>
                </a:solidFill>
                <a:latin typeface="Noto Sans CJK SC"/>
              </a:rPr>
              <a:t>7. 应用价值、局限与未来工作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>
                <a:solidFill>
                  <a:srgbClr val="303030"/>
                </a:solidFill>
                <a:latin typeface="Noto Sans CJK SC"/>
              </a:rPr>
              <a:t>8. 结论与答辩总结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9B1F23"/>
                </a:solidFill>
                <a:latin typeface="Calibr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338328"/>
            <a:ext cx="6217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9B1F23"/>
                </a:solidFill>
                <a:latin typeface="Noto Sans CJK SC"/>
              </a:rPr>
              <a:t>研究背景与问题定义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1874519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332720" cy="1051560"/>
          </a:xfrm>
          <a:prstGeom prst="roundRect">
            <a:avLst/>
          </a:prstGeom>
          <a:solidFill>
            <a:srgbClr val="E7EFF8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100" b="1">
                <a:solidFill>
                  <a:srgbClr val="1F609C"/>
                </a:solidFill>
                <a:latin typeface="Noto Sans CJK SC"/>
              </a:rPr>
              <a:t>核心问题：能否通过知识蒸馏，将大型教师模型的答题能力迁移到轻量级学生模型（7B~14B），在保持可部署性的同时最大化准确率？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303030"/>
                </a:solidFill>
                <a:latin typeface="Noto Sans CJK SC"/>
              </a:rPr>
              <a:t>研究动机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96012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100" b="0">
                <a:solidFill>
                  <a:srgbClr val="5C5C5C"/>
                </a:solidFill>
                <a:latin typeface="Noto Sans CJK SC"/>
              </a:rPr>
              <a:t>牙科知识服务需要即时、低门槛、可解释的辅助能力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100" b="0">
                <a:solidFill>
                  <a:srgbClr val="5C5C5C"/>
                </a:solidFill>
                <a:latin typeface="Noto Sans CJK SC"/>
              </a:rPr>
              <a:t>商业级教师模型准确率高，但显存、算力和调用成本高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100" b="0">
                <a:solidFill>
                  <a:srgbClr val="5C5C5C"/>
                </a:solidFill>
                <a:latin typeface="Noto Sans CJK SC"/>
              </a:rPr>
              <a:t>传统全词表蒸馏对五选一任务存在明显冗余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100" b="0">
                <a:solidFill>
                  <a:srgbClr val="5C5C5C"/>
                </a:solidFill>
                <a:latin typeface="Noto Sans CJK SC"/>
              </a:rPr>
              <a:t>研究目标不是做更大模型，而是把高性能能力做成可部署系统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9B1F23"/>
                </a:solidFill>
                <a:latin typeface="Calibr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338328"/>
            <a:ext cx="6217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303030"/>
                </a:solidFill>
                <a:latin typeface="Noto Sans CJK SC"/>
              </a:rPr>
              <a:t>研究目标、数据与实验范围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1874519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2240280" cy="109728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08A96"/>
                </a:solidFill>
                <a:latin typeface="Noto Sans CJK SC"/>
              </a:rPr>
              <a:t>数据范围</a:t>
            </a:r>
          </a:p>
          <a:p>
            <a:pPr>
              <a:spcBef>
                <a:spcPts val="400"/>
              </a:spcBef>
            </a:pPr>
            <a:r>
              <a:rPr sz="2400" b="1">
                <a:solidFill>
                  <a:srgbClr val="303030"/>
                </a:solidFill>
                <a:latin typeface="Calibri"/>
              </a:rPr>
              <a:t>6,591 题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C5C5C"/>
                </a:solidFill>
                <a:latin typeface="Noto Sans CJK SC"/>
              </a:rPr>
              <a:t>全量 CMExam 单选题，含牙科子集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508760"/>
            <a:ext cx="2240280" cy="109728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DC7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DC741A"/>
                </a:solidFill>
                <a:latin typeface="Noto Sans CJK SC"/>
              </a:rPr>
              <a:t>实验规模</a:t>
            </a:r>
          </a:p>
          <a:p>
            <a:pPr>
              <a:spcBef>
                <a:spcPts val="400"/>
              </a:spcBef>
            </a:pPr>
            <a:r>
              <a:rPr sz="2400" b="1">
                <a:solidFill>
                  <a:srgbClr val="303030"/>
                </a:solidFill>
                <a:latin typeface="Calibri"/>
              </a:rPr>
              <a:t>21 组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C5C5C"/>
                </a:solidFill>
                <a:latin typeface="Noto Sans CJK SC"/>
              </a:rPr>
              <a:t>覆盖 00–20 模块的系统性实验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1508760"/>
            <a:ext cx="2240280" cy="109728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1C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C915D"/>
                </a:solidFill>
                <a:latin typeface="Noto Sans CJK SC"/>
              </a:rPr>
              <a:t>学生模型</a:t>
            </a:r>
          </a:p>
          <a:p>
            <a:pPr>
              <a:spcBef>
                <a:spcPts val="400"/>
              </a:spcBef>
            </a:pPr>
            <a:r>
              <a:rPr sz="2400" b="1">
                <a:solidFill>
                  <a:srgbClr val="303030"/>
                </a:solidFill>
                <a:latin typeface="Calibri"/>
              </a:rPr>
              <a:t>7B / 14B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C5C5C"/>
                </a:solidFill>
                <a:latin typeface="Noto Sans CJK SC"/>
              </a:rPr>
              <a:t>Qwen2.5 系列 LoRA 微调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08760"/>
            <a:ext cx="2240280" cy="109728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1F6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609C"/>
                </a:solidFill>
                <a:latin typeface="Noto Sans CJK SC"/>
              </a:rPr>
              <a:t>部署约束</a:t>
            </a:r>
          </a:p>
          <a:p>
            <a:pPr>
              <a:spcBef>
                <a:spcPts val="400"/>
              </a:spcBef>
            </a:pPr>
            <a:r>
              <a:rPr sz="2400" b="1">
                <a:solidFill>
                  <a:srgbClr val="303030"/>
                </a:solidFill>
                <a:latin typeface="Calibri"/>
              </a:rPr>
              <a:t>45× 压缩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C5C5C"/>
                </a:solidFill>
                <a:latin typeface="Noto Sans CJK SC"/>
              </a:rPr>
              <a:t>从 671B 教师迁移到 14B 学生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34640"/>
            <a:ext cx="480060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08A96"/>
                </a:solidFill>
                <a:latin typeface="Noto Sans CJK SC"/>
              </a:rPr>
              <a:t>评测设置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小规模实验：672/74/83（train/val/test）牙科固定划分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大规模验证：4608/991/991 全量重分割 + 125 题牙科子集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教师：DeepSeek-V3、Doubao、Llama-3.3-70B、Qwen2.5-32B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硬件：NVIDIA H100 NVL 95GB，BF16 混合精度训练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2834640"/>
            <a:ext cx="457200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7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DC741A"/>
                </a:solidFill>
                <a:latin typeface="Noto Sans CJK SC"/>
              </a:rPr>
              <a:t>模型参数规模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学生：Qwen2.5-7B / 14B，覆盖 7B 到 14B 容量段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本地教师：Qwen2.5-32B（32B）、Llama-3.3-70B（70B）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主要 API 教师：DeepSeek-V3（671B 总参数 / 37B 激活）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Doubao、Kimi 为闭源模型，参数规模未公开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9B1F23"/>
                </a:solidFill>
                <a:latin typeface="Calibr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338328"/>
            <a:ext cx="6217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303030"/>
                </a:solidFill>
                <a:latin typeface="Noto Sans CJK SC"/>
              </a:rPr>
              <a:t>核心方法：Choice-Head 两阶段蒸馏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1874519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205740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03030"/>
                </a:solidFill>
                <a:latin typeface="Noto Sans CJK SC"/>
              </a:rPr>
              <a:t>传统全词表蒸馏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151,936 维 logits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显存与计算代价高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API 教师难以支持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1417320"/>
            <a:ext cx="214884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08A96"/>
                </a:solidFill>
                <a:latin typeface="Noto Sans CJK SC"/>
              </a:rPr>
              <a:t>Choice-Head 蒸馏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只蒸馏 A/B/C/D/E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监督维度压缩到 5 维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天然兼容黑盒教师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417320"/>
            <a:ext cx="214884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7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DC741A"/>
                </a:solidFill>
                <a:latin typeface="Noto Sans CJK SC"/>
              </a:rPr>
              <a:t>Stage 1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Choice-Head KL + CE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1 epoch，α=0.35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先学教师偏好结构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417320"/>
            <a:ext cx="274320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6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F609C"/>
                </a:solidFill>
                <a:latin typeface="Noto Sans CJK SC"/>
              </a:rPr>
              <a:t>Stage 2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GT SFT 精校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2–5 epochs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用标准答案纠正教师误差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9B1F23"/>
                </a:solidFill>
                <a:latin typeface="Noto Sans CJK SC"/>
              </a:rPr>
              <a:t>关键设计思想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5029200" cy="201168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08A96"/>
                </a:solidFill>
                <a:latin typeface="Noto Sans CJK SC"/>
              </a:rPr>
              <a:t>Stage 1：Choice-Head KL 蒸馏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仅提取 A/B/C/D/E 五个选项上的概率分布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损失：α·KL(pT∥pS) + (1-α)·CE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典型显存约 22GB，可使用 API-only 教师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3703320"/>
            <a:ext cx="4297680" cy="201168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1F6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F609C"/>
                </a:solidFill>
                <a:latin typeface="Noto Sans CJK SC"/>
              </a:rPr>
              <a:t>Stage 2：GT SFT 精校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继承 Stage 1 的 LoRA 权重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用标准答案对教师错误进行校准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对弱学生更稳定，对 14B 强学生不一定持续增益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9B1F23"/>
                </a:solidFill>
                <a:latin typeface="Calibr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338328"/>
            <a:ext cx="6217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303030"/>
                </a:solidFill>
                <a:latin typeface="Noto Sans CJK SC"/>
              </a:rPr>
              <a:t>实验体系与设置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1874519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96596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03030"/>
                </a:solidFill>
                <a:latin typeface="Noto Sans CJK SC"/>
              </a:rPr>
              <a:t>A. 基线建立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GT SFT 基线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7B：77.11%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明确学生起点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1417320"/>
            <a:ext cx="21488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08A96"/>
                </a:solidFill>
                <a:latin typeface="Noto Sans CJK SC"/>
              </a:rPr>
              <a:t>B. 单教师蒸馏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白盒 Logit-KL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黑盒 Choice-Head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比较教师形态与参数规模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74920" y="1417320"/>
            <a:ext cx="21488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7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DC741A"/>
                </a:solidFill>
                <a:latin typeface="Noto Sans CJK SC"/>
              </a:rPr>
              <a:t>C. 多教师优化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静态融合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一致性过滤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多数票集成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1417320"/>
            <a:ext cx="14173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B1F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9B1F23"/>
                </a:solidFill>
                <a:latin typeface="Noto Sans CJK SC"/>
              </a:rPr>
              <a:t>D. 范式拓展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CoT 蒸馏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α-散度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边界过滤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417320"/>
            <a:ext cx="14173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C915D"/>
                </a:solidFill>
                <a:latin typeface="Noto Sans CJK SC"/>
              </a:rPr>
              <a:t>E. 容量升级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14B 学生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跨架构蒸馏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全量重分割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48006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08A96"/>
                </a:solidFill>
                <a:latin typeface="Noto Sans CJK SC"/>
              </a:rPr>
              <a:t>实验设计特点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从单教师到多教师、从 7B 到 14B、从 83 题到 991 题逐层推进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包含正例、负例与失败实验，不只保留最优结果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所有模块保留统一运行脚本，强调可复现性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3246120"/>
            <a:ext cx="4572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7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DC741A"/>
                </a:solidFill>
                <a:latin typeface="Noto Sans CJK SC"/>
              </a:rPr>
              <a:t>关键可比性控制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模块之间尽量复用同一学生架构与训练超参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通过多 seed 与大测试集缓解 83 题小样本波动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把理论分析放在经验结论之后，避免先验解释替代实证比较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9B1F23"/>
                </a:solidFill>
                <a:latin typeface="Calibr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338328"/>
            <a:ext cx="6217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303030"/>
                </a:solidFill>
                <a:latin typeface="Noto Sans CJK SC"/>
              </a:rPr>
              <a:t>核心结果：学生超过教师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1874519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2240280" cy="118872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9B1F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9B1F23"/>
                </a:solidFill>
                <a:latin typeface="Noto Sans CJK SC"/>
              </a:rPr>
              <a:t>DeepSeek-V3 教师</a:t>
            </a:r>
          </a:p>
          <a:p>
            <a:pPr>
              <a:spcBef>
                <a:spcPts val="400"/>
              </a:spcBef>
            </a:pPr>
            <a:r>
              <a:rPr sz="2400" b="1">
                <a:solidFill>
                  <a:srgbClr val="303030"/>
                </a:solidFill>
                <a:latin typeface="Calibri"/>
              </a:rPr>
              <a:t>87.18%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C5C5C"/>
                </a:solidFill>
                <a:latin typeface="Noto Sans CJK SC"/>
              </a:rPr>
              <a:t>991 题全量测试集准确率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417320"/>
            <a:ext cx="2240280" cy="118872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1C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C915D"/>
                </a:solidFill>
                <a:latin typeface="Noto Sans CJK SC"/>
              </a:rPr>
              <a:t>14B 学生最佳</a:t>
            </a:r>
          </a:p>
          <a:p>
            <a:pPr>
              <a:spcBef>
                <a:spcPts val="400"/>
              </a:spcBef>
            </a:pPr>
            <a:r>
              <a:rPr sz="2400" b="1">
                <a:solidFill>
                  <a:srgbClr val="303030"/>
                </a:solidFill>
                <a:latin typeface="Calibri"/>
              </a:rPr>
              <a:t>89.10%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C5C5C"/>
                </a:solidFill>
                <a:latin typeface="Noto Sans CJK SC"/>
              </a:rPr>
              <a:t>Module 15，seed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417320"/>
            <a:ext cx="2240280" cy="118872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1F6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609C"/>
                </a:solidFill>
                <a:latin typeface="Noto Sans CJK SC"/>
              </a:rPr>
              <a:t>14B 三种子均值</a:t>
            </a:r>
          </a:p>
          <a:p>
            <a:pPr>
              <a:spcBef>
                <a:spcPts val="400"/>
              </a:spcBef>
            </a:pPr>
            <a:r>
              <a:rPr sz="2400" b="1">
                <a:solidFill>
                  <a:srgbClr val="303030"/>
                </a:solidFill>
                <a:latin typeface="Calibri"/>
              </a:rPr>
              <a:t>88.67%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C5C5C"/>
                </a:solidFill>
                <a:latin typeface="Noto Sans CJK SC"/>
              </a:rPr>
              <a:t>同样超过教师表现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417320"/>
            <a:ext cx="2240280" cy="118872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DC7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DC741A"/>
                </a:solidFill>
                <a:latin typeface="Noto Sans CJK SC"/>
              </a:rPr>
              <a:t>参数压缩比</a:t>
            </a:r>
          </a:p>
          <a:p>
            <a:pPr>
              <a:spcBef>
                <a:spcPts val="400"/>
              </a:spcBef>
            </a:pPr>
            <a:r>
              <a:rPr sz="2400" b="1">
                <a:solidFill>
                  <a:srgbClr val="303030"/>
                </a:solidFill>
                <a:latin typeface="Calibri"/>
              </a:rPr>
              <a:t>45×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C5C5C"/>
                </a:solidFill>
                <a:latin typeface="Noto Sans CJK SC"/>
              </a:rPr>
              <a:t>671B 教师到 14B 学生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26080"/>
            <a:ext cx="4846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C915D"/>
                </a:solidFill>
                <a:latin typeface="Noto Sans CJK SC"/>
              </a:rPr>
              <a:t>最重要的结论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学生模型不只是接近教师，而是在任务结构更对齐的训练目标下可以超过教师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对 14B 强学生而言，最有效的并不一定是更复杂流程，而是更精准的蒸馏目标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大测试集验证后，结论在统计上更稳健，不依赖少量题目的偶然波动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926080"/>
            <a:ext cx="4480560" cy="224028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9B1F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9B1F23"/>
                </a:solidFill>
                <a:latin typeface="Noto Sans CJK SC"/>
              </a:rPr>
              <a:t>代表性结果串联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7B GT SFT 基线：77.11%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7B Choice-Head 蒸馏最佳：81.93%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14B DeepSeek 蒸馏最佳：84.34%（83 题牙科）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14B 全量重分割最佳：89.10%（991 题）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9B1F23"/>
                </a:solidFill>
                <a:latin typeface="Calibr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338328"/>
            <a:ext cx="6217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303030"/>
                </a:solidFill>
                <a:latin typeface="Noto Sans CJK SC"/>
              </a:rPr>
              <a:t>结果细化：什么条件下蒸馏有效？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1874519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06324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08A96"/>
                </a:solidFill>
                <a:latin typeface="Noto Sans CJK SC"/>
              </a:rPr>
              <a:t>白盒 vs 黑盒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白盒 Logit-KL：80.72%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黑盒 Choice-Head：81.93%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任务对齐优于全词表监督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417320"/>
            <a:ext cx="306324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7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DC741A"/>
                </a:solidFill>
                <a:latin typeface="Noto Sans CJK SC"/>
              </a:rPr>
              <a:t>Stage 2 的边界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7B 学生通常受益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14B 学生均值反而下降约 1.6pp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说明强学生会被过校准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417320"/>
            <a:ext cx="306324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C915D"/>
                </a:solidFill>
                <a:latin typeface="Noto Sans CJK SC"/>
              </a:rPr>
              <a:t>跨架构可行性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72.8% 的 Llama-70B 教师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仍能蒸馏出 87.25% 的 14B 学生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监督价值不只由教师准确率决定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11880"/>
            <a:ext cx="9601200" cy="1645920"/>
          </a:xfrm>
          <a:prstGeom prst="roundRect">
            <a:avLst/>
          </a:prstGeom>
          <a:solidFill>
            <a:srgbClr val="E7EFF8"/>
          </a:solidFill>
          <a:ln w="19050">
            <a:solidFill>
              <a:srgbClr val="1F6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300" b="1">
                <a:solidFill>
                  <a:srgbClr val="1F609C"/>
                </a:solidFill>
                <a:latin typeface="Noto Sans CJK SC"/>
              </a:rPr>
              <a:t>结论不是“蒸馏越复杂越好”，而是“监督信号是否与任务决策结构匹配”。</a:t>
            </a:r>
          </a:p>
          <a:p>
            <a:pPr algn="ctr"/>
            <a:r>
              <a:rPr sz="1600" b="0">
                <a:solidFill>
                  <a:srgbClr val="5C5C5C"/>
                </a:solidFill>
                <a:latin typeface="Noto Sans CJK SC"/>
              </a:rPr>
              <a:t>因此，本文的主要价值不只是一组更高分数，而是给出了一套可解释的设计原则：聚焦选项空间、保留教师偏好、避免无效监督维度。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9B1F23"/>
                </a:solidFill>
                <a:latin typeface="Calibr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338328"/>
            <a:ext cx="6217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303030"/>
                </a:solidFill>
                <a:latin typeface="Noto Sans CJK SC"/>
              </a:rPr>
              <a:t>关键发现一：教师不是越强越好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1874519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83464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B1F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9B1F23"/>
                </a:solidFill>
                <a:latin typeface="Noto Sans CJK SC"/>
              </a:rPr>
              <a:t>弱教师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代表：Kimi，61.45%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错误过多，噪声大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学生学习到的偏好不稳定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0" y="1554480"/>
            <a:ext cx="3657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C915D"/>
                </a:solidFill>
                <a:latin typeface="Noto Sans CJK SC"/>
              </a:rPr>
              <a:t>最佳区间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教师与 GT 不一致率约 5%–15%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既保留结构信息，又不过度偏离真值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是最适合迁移的蒸馏信号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554480"/>
            <a:ext cx="27432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7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DC741A"/>
                </a:solidFill>
                <a:latin typeface="Noto Sans CJK SC"/>
              </a:rPr>
              <a:t>过强教师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接近 one-hot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暗知识不足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Noto Sans CJK SC"/>
              </a:rPr>
              <a:t>难以提供有梯度价值的混淆结构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343400"/>
            <a:ext cx="946404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08A96"/>
                </a:solidFill>
                <a:latin typeface="Noto Sans CJK SC"/>
              </a:rPr>
              <a:t>教师质量与蒸馏收益呈倒 U 型关系。真正关键的不是教师“绝对有多强”，而是它是否保留了可迁移的结构性不确定性。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9B1F23"/>
                </a:solidFill>
                <a:latin typeface="Calibr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338328"/>
            <a:ext cx="6217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303030"/>
                </a:solidFill>
                <a:latin typeface="Noto Sans CJK SC"/>
              </a:rPr>
              <a:t>关键发现二：真实 logprobs 更有价值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1874519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48006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6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F609C"/>
                </a:solidFill>
                <a:latin typeface="Noto Sans CJK SC"/>
              </a:rPr>
              <a:t>为什么人工平滑标签不够？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人工平滑只在正确答案周围分配固定噪声，信息结构单一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无法反映“最容易混淆的错误项”与“边界距离”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因此在任务层面只提供了有限的软监督增益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417320"/>
            <a:ext cx="466344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C915D"/>
                </a:solidFill>
                <a:latin typeface="Noto Sans CJK SC"/>
              </a:rPr>
              <a:t>信息几何分析给出的证据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Fisher-Rao 与 α-散度分析显示：真实 logprobs 更接近连续概率流形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真实标签的体积密度约为人工平滑标签的 2500 倍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这解释了为何真实 logprobs 教师往往蒸馏效果更稳定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526280"/>
            <a:ext cx="8503920" cy="822960"/>
          </a:xfrm>
          <a:prstGeom prst="roundRect">
            <a:avLst/>
          </a:prstGeom>
          <a:solidFill>
            <a:srgbClr val="E7EFF8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08A96"/>
                </a:solidFill>
                <a:latin typeface="Noto Sans CJK SC"/>
              </a:rPr>
              <a:t>结论：决定蒸馏效果的不只是“答对没有”，而是教师分布中是否保留了高价值的连续结构信息。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9B1F23"/>
                </a:solidFill>
                <a:latin typeface="Calibr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338328"/>
            <a:ext cx="6217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303030"/>
                </a:solidFill>
                <a:latin typeface="Noto Sans CJK SC"/>
              </a:rPr>
              <a:t>应用价值与系统原型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1874519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80060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08A96"/>
                </a:solidFill>
                <a:latin typeface="Noto Sans CJK SC"/>
              </a:rPr>
              <a:t>从论文到系统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仓库中已实现统一训练、评估、Web 推理与 Quiz 交互入口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7B/14B 学生模型可以在普通 GPU 条件下完成部署演示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适合患者教育、教学演示、标准化考试训练等轻量场景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方法本身也可迁移到其他标准化多选知识评测任务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463040"/>
            <a:ext cx="4572000" cy="356616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DC74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DC741A"/>
                </a:solidFill>
                <a:latin typeface="Noto Sans CJK SC"/>
              </a:rPr>
              <a:t>应用意义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不是把大模型原样搬到端侧，而是围绕任务结构重构蒸馏目标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把“能答题”转化为“能低成本稳定交付”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为医疗大模型轻量化提供了可复现、可解释的实验范式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9B1F23"/>
                </a:solidFill>
                <a:latin typeface="Calibr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00200" y="338328"/>
            <a:ext cx="6217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303030"/>
                </a:solidFill>
                <a:latin typeface="Noto Sans CJK SC"/>
              </a:rPr>
              <a:t>局限性与未来工作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78992"/>
            <a:ext cx="1874519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470916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B1F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100" b="1">
                <a:solidFill>
                  <a:srgbClr val="9B1F23"/>
                </a:solidFill>
                <a:latin typeface="Noto Sans CJK SC"/>
              </a:rPr>
              <a:t>当前局限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任务仍以标准化选择题为主，尚未覆盖开放问答与长文本推理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教师谱系还不够密集，倒 U 型规律仍需更细粒度验证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评估指标以准确率为主，缺少人工质量评审与临床专家反馈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系统目前更多面向研究验证，而非直接临床部署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508760"/>
            <a:ext cx="470916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1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100" b="1">
                <a:solidFill>
                  <a:srgbClr val="1C915D"/>
                </a:solidFill>
                <a:latin typeface="Noto Sans CJK SC"/>
              </a:rPr>
              <a:t>未来工作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扩大数据与多种子验证，进一步提高结论的统计置信度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研究教师路由、自适应 α-散度与动态样本选择策略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从选择题扩展到开放医疗问答、多模态与真实交互任务</a:t>
            </a:r>
          </a:p>
          <a:p>
            <a:r>
              <a:rPr sz="1600" b="0">
                <a:solidFill>
                  <a:srgbClr val="5C5C5C"/>
                </a:solidFill>
                <a:latin typeface="Noto Sans CJK SC"/>
              </a:rPr>
              <a:t>继续推进端侧部署与真实用户反馈闭环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0" y="1508760"/>
            <a:ext cx="6400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303030"/>
                </a:solidFill>
                <a:latin typeface="Noto Sans CJK SC"/>
              </a:rPr>
              <a:t>结论与答辩总结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4297680" y="2240280"/>
            <a:ext cx="1828800" cy="36576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2743200"/>
            <a:ext cx="9144000" cy="2011680"/>
          </a:xfrm>
          <a:prstGeom prst="roundRect">
            <a:avLst/>
          </a:prstGeom>
          <a:solidFill>
            <a:srgbClr val="E7EFF8"/>
          </a:solidFill>
          <a:ln w="19050">
            <a:solidFill>
              <a:srgbClr val="0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F609C"/>
                </a:solidFill>
                <a:latin typeface="Noto Sans CJK SC"/>
              </a:rPr>
              <a:t>本文证明：当蒸馏目标与任务决策结构对齐时，小模型不仅能以更低成本部署，还有机会获得超过教师的任务表现。</a:t>
            </a:r>
          </a:p>
          <a:p>
            <a:pPr algn="ctr"/>
            <a:r>
              <a:rPr sz="2400" b="1">
                <a:solidFill>
                  <a:srgbClr val="1C915D"/>
                </a:solidFill>
                <a:latin typeface="Noto Sans CJK SC"/>
              </a:rPr>
              <a:t>感谢各位老师聆听，恳请批评指正。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79300" cy="457200"/>
          </a:xfrm>
          <a:prstGeom prst="rect">
            <a:avLst/>
          </a:prstGeom>
          <a:solidFill>
            <a:srgbClr val="9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0" y="6501384"/>
            <a:ext cx="4754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Noto Sans CJK SC"/>
              </a:rPr>
              <a:t>基于知识蒸馏的牙科选择题自动答题系统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47780" y="6501384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