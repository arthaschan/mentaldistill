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793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a:r>
              <a:rPr sz="1200" b="0">
                <a:solidFill>
                  <a:srgbClr val="303030"/>
                </a:solidFill>
                <a:latin typeface="Noto Sans CJK SC"/>
              </a:rPr>
              <a:t>各位老师、各位专家好。我今天汇报的题目是用于高效牙科选择题自动答题的 Choice-Head 蒸馏方法。</a:t>
            </a:r>
          </a:p>
          <a:p>
            <a:r>
              <a:rPr sz="1200" b="0">
                <a:solidFill>
                  <a:srgbClr val="303030"/>
                </a:solidFill>
                <a:latin typeface="Noto Sans CJK SC"/>
              </a:rPr>
              <a:t>这个工作的核心目标，是把大型医疗语言模型的答题能力迁移到更小、更容易部署的学生模型上。</a:t>
            </a:r>
          </a:p>
        </p:txBody>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a:r>
              <a:rPr sz="1200" b="0">
                <a:solidFill>
                  <a:srgbClr val="303030"/>
                </a:solidFill>
                <a:latin typeface="Noto Sans CJK SC"/>
              </a:rPr>
              <a:t>这一页先给各位一个整体路线图。</a:t>
            </a:r>
          </a:p>
          <a:p>
            <a:r>
              <a:rPr sz="1200" b="0">
                <a:solidFill>
                  <a:srgbClr val="303030"/>
                </a:solidFill>
                <a:latin typeface="Noto Sans CJK SC"/>
              </a:rPr>
              <a:t>我会先讲问题背景和研究问题，再介绍 Choice-Head 方法，然后给出实验设置、核心结果、两点贡献，以及最后的讨论和结论。</a:t>
            </a:r>
          </a:p>
        </p:txBody>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a:r>
              <a:rPr sz="1200" b="0">
                <a:solidFill>
                  <a:srgbClr val="303030"/>
                </a:solidFill>
                <a:latin typeface="Noto Sans CJK SC"/>
              </a:rPr>
              <a:t>医疗大语言模型在考试类基准上已经很强，但部署成本依然很高，包括推理成本、硬件需求和复现成本。</a:t>
            </a:r>
          </a:p>
          <a:p>
            <a:r>
              <a:rPr sz="1200" b="0">
                <a:solidFill>
                  <a:srgbClr val="303030"/>
                </a:solidFill>
                <a:latin typeface="Noto Sans CJK SC"/>
              </a:rPr>
              <a:t>而我们的任务不是开放式聊天，而是标准的五选一牙科选择题，所以蒸馏目标未必还要沿用全词表那套通用做法。</a:t>
            </a:r>
          </a:p>
        </p:txBody>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a:r>
              <a:rPr sz="1200" b="0">
                <a:solidFill>
                  <a:srgbClr val="303030"/>
                </a:solidFill>
                <a:latin typeface="Noto Sans CJK SC"/>
              </a:rPr>
              <a:t>这里最核心的问题不是怎样完整模仿一个大语言模型，而是对于五选一考试题，到底什么信息最值得迁移。</a:t>
            </a:r>
          </a:p>
          <a:p>
            <a:r>
              <a:rPr sz="1200" b="0">
                <a:solidFill>
                  <a:srgbClr val="303030"/>
                </a:solidFill>
                <a:latin typeface="Noto Sans CJK SC"/>
              </a:rPr>
              <a:t>学生究竟要学整个词表分布，还是只学最后真正影响答题的决策结构，同时还要兼容 API 黑盒教师。</a:t>
            </a:r>
          </a:p>
        </p:txBody>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a:r>
              <a:rPr sz="1200" b="0">
                <a:solidFill>
                  <a:srgbClr val="303030"/>
                </a:solidFill>
                <a:latin typeface="Noto Sans CJK SC"/>
              </a:rPr>
              <a:t>我们的方法叫 Choice-Head distillation。</a:t>
            </a:r>
          </a:p>
          <a:p>
            <a:r>
              <a:rPr sz="1200" b="0">
                <a:solidFill>
                  <a:srgbClr val="303030"/>
                </a:solidFill>
                <a:latin typeface="Noto Sans CJK SC"/>
              </a:rPr>
              <a:t>核心思想是只蒸馏 A、B、C、D、E 五个选项上的概率分布，而不是让学生去拟合教师的完整词表输出。</a:t>
            </a:r>
          </a:p>
          <a:p>
            <a:r>
              <a:rPr sz="1200" b="0">
                <a:solidFill>
                  <a:srgbClr val="303030"/>
                </a:solidFill>
                <a:latin typeface="Noto Sans CJK SC"/>
              </a:rPr>
              <a:t>在第一阶段里，我们用选项分布上的 KL 散度加标准答案上的交叉熵共同训练学生。</a:t>
            </a:r>
          </a:p>
        </p:txBody>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a:r>
              <a:rPr sz="1200" b="0">
                <a:solidFill>
                  <a:srgbClr val="303030"/>
                </a:solidFill>
                <a:latin typeface="Noto Sans CJK SC"/>
              </a:rPr>
              <a:t>这个设计有三个关键价值。第一，它让训练目标和任务本身对齐。第二，它去掉了大量无关监督。第三，它让黑盒强教师也能纳入蒸馏流程。</a:t>
            </a:r>
          </a:p>
          <a:p>
            <a:r>
              <a:rPr sz="1200" b="0">
                <a:solidFill>
                  <a:srgbClr val="303030"/>
                </a:solidFill>
                <a:latin typeface="Noto Sans CJK SC"/>
              </a:rPr>
              <a:t>换句话说，我们只保留真正影响最后选项决策的教师信号。</a:t>
            </a:r>
          </a:p>
        </p:txBody>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a:r>
              <a:rPr sz="1200" b="0">
                <a:solidFill>
                  <a:srgbClr val="303030"/>
                </a:solidFill>
                <a:latin typeface="Noto Sans CJK SC"/>
              </a:rPr>
              <a:t>实验使用的是基于 CMExam 构建的全量重分割数据，一共 6591 道单选医学题。</a:t>
            </a:r>
          </a:p>
          <a:p>
            <a:r>
              <a:rPr sz="1200" b="0">
                <a:solidFill>
                  <a:srgbClr val="303030"/>
                </a:solidFill>
                <a:latin typeface="Noto Sans CJK SC"/>
              </a:rPr>
              <a:t>主教师是 DeepSeek-V3，学生是 Qwen2.5-7B 和 Qwen2.5-14B。表现最好的 14B 配置只使用一阶段 Choice-Head 蒸馏，并采用 LoRA 微调。</a:t>
            </a:r>
          </a:p>
        </p:txBody>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a:r>
              <a:rPr sz="1200" b="0">
                <a:solidFill>
                  <a:srgbClr val="303030"/>
                </a:solidFill>
                <a:latin typeface="Noto Sans CJK SC"/>
              </a:rPr>
              <a:t>核心结果非常直接。14B 学生的零样本基线是 83.55%，教师是 87.18%。</a:t>
            </a:r>
          </a:p>
          <a:p>
            <a:r>
              <a:rPr sz="1200" b="0">
                <a:solidFill>
                  <a:srgbClr val="303030"/>
                </a:solidFill>
                <a:latin typeface="Noto Sans CJK SC"/>
              </a:rPr>
              <a:t>经过 Choice-Head 蒸馏后，14B 学生的平均准确率达到 88.67%，最佳达到 89.10%。</a:t>
            </a:r>
          </a:p>
          <a:p>
            <a:r>
              <a:rPr sz="1200" b="0">
                <a:solidFill>
                  <a:srgbClr val="303030"/>
                </a:solidFill>
                <a:latin typeface="Noto Sans CJK SC"/>
              </a:rPr>
              <a:t>这里的 Full Test Accuracy 指的是 991 题全量测试集，Dental Test Accuracy 指的是 125 题牙科子集。</a:t>
            </a:r>
          </a:p>
          <a:p>
            <a:r>
              <a:rPr sz="1200" b="0">
                <a:solidFill>
                  <a:srgbClr val="303030"/>
                </a:solidFill>
                <a:latin typeface="Noto Sans CJK SC"/>
              </a:rPr>
              <a:t>Zero-shot baseline 就是不蒸馏直接测试，Stage 1 mean 是多次蒸馏运行的平均值，Stage 1 best 是其中最好的单次结果。</a:t>
            </a:r>
          </a:p>
          <a:p>
            <a:r>
              <a:rPr sz="1200" b="0">
                <a:solidFill>
                  <a:srgbClr val="303030"/>
                </a:solidFill>
                <a:latin typeface="Noto Sans CJK SC"/>
              </a:rPr>
              <a:t>也就是说，学生不仅明显超过了自己的零样本基线，而且在同一个 991 题测试集上也超过了教师。</a:t>
            </a:r>
          </a:p>
        </p:txBody>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a:r>
              <a:rPr sz="1200" b="0">
                <a:solidFill>
                  <a:srgbClr val="303030"/>
                </a:solidFill>
                <a:latin typeface="Noto Sans CJK SC"/>
              </a:rPr>
              <a:t>第一个贡献是方法上的：我们说明了对于结构化医学选择题，蒸馏目标应该围绕任务决策结构来定义。</a:t>
            </a:r>
          </a:p>
          <a:p>
            <a:r>
              <a:rPr sz="1200" b="0">
                <a:solidFill>
                  <a:srgbClr val="303030"/>
                </a:solidFill>
                <a:latin typeface="Noto Sans CJK SC"/>
              </a:rPr>
              <a:t>第二个贡献是实证上的：在更大、更可靠的测试集上，一个更小的学生模型在这种任务对齐的设置下可以超过更强的教师模型。</a:t>
            </a:r>
          </a:p>
        </p:txBody>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a:r>
              <a:rPr sz="1200" b="0">
                <a:solidFill>
                  <a:srgbClr val="303030"/>
                </a:solidFill>
                <a:latin typeface="Noto Sans CJK SC"/>
              </a:rPr>
              <a:t>一个很重要的实际发现是，更复杂的训练流程不一定更好。</a:t>
            </a:r>
          </a:p>
          <a:p>
            <a:r>
              <a:rPr sz="1200" b="0">
                <a:solidFill>
                  <a:srgbClr val="303030"/>
                </a:solidFill>
                <a:latin typeface="Noto Sans CJK SC"/>
              </a:rPr>
              <a:t>在我们的实验里，最强的 14B 结果恰恰来自只做 Stage 1。</a:t>
            </a:r>
          </a:p>
          <a:p>
            <a:r>
              <a:rPr sz="1200" b="0">
                <a:solidFill>
                  <a:srgbClr val="303030"/>
                </a:solidFill>
                <a:latin typeface="Noto Sans CJK SC"/>
              </a:rPr>
              <a:t>更大的结论是，蒸馏应该围绕任务结构来设计，而不是机械沿用通用大模型训练范式。</a:t>
            </a:r>
          </a:p>
        </p:txBody>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a:r>
              <a:rPr sz="1200" b="0">
                <a:solidFill>
                  <a:srgbClr val="303030"/>
                </a:solidFill>
                <a:latin typeface="Noto Sans CJK SC"/>
              </a:rPr>
              <a:t>最后，这项工作说明了一件事情：想实现高效部署，并不一定要重现教师模型的全部语言行为。</a:t>
            </a:r>
          </a:p>
          <a:p>
            <a:r>
              <a:rPr sz="1200" b="0">
                <a:solidFill>
                  <a:srgbClr val="303030"/>
                </a:solidFill>
                <a:latin typeface="Noto Sans CJK SC"/>
              </a:rPr>
              <a:t>对于结构化医学选择题任务，只要迁移选项级决策分布，就可能获得很强的效果。</a:t>
            </a:r>
          </a:p>
          <a:p>
            <a:r>
              <a:rPr sz="1200" b="0">
                <a:solidFill>
                  <a:srgbClr val="303030"/>
                </a:solidFill>
                <a:latin typeface="Noto Sans CJK SC"/>
              </a:rPr>
              <a:t>谢谢各位老师和专家聆听，欢迎批评指正。</a:t>
            </a:r>
          </a:p>
          <a:p>
            <a:r>
              <a:rPr sz="1200" b="0">
                <a:solidFill>
                  <a:srgbClr val="303030"/>
                </a:solidFill>
                <a:latin typeface="Noto Sans CJK SC"/>
              </a:rPr>
              <a:t>Q&amp;A 可补充三点：为什么只蒸馏五个选项、为什么学生能超过教师、以及这个方法为什么不能直接照搬到开放式问答。</a:t>
            </a:r>
          </a:p>
        </p:txBody>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a:r>
              <a:rPr sz="1200" b="0">
                <a:solidFill>
                  <a:srgbClr val="303030"/>
                </a:solidFill>
                <a:latin typeface="Noto Sans CJK SC"/>
              </a:rPr>
              <a:t>这一页是我为现场问答准备的备用页。</a:t>
            </a:r>
          </a:p>
          <a:p>
            <a:r>
              <a:rPr sz="1200" b="0">
                <a:solidFill>
                  <a:srgbClr val="303030"/>
                </a:solidFill>
                <a:latin typeface="Noto Sans CJK SC"/>
              </a:rPr>
              <a:t>如果被问到为什么只蒸馏五个选项，我会强调下游任务本质上就是五选一决策问题。</a:t>
            </a:r>
          </a:p>
          <a:p>
            <a:r>
              <a:rPr sz="1200" b="0">
                <a:solidFill>
                  <a:srgbClr val="303030"/>
                </a:solidFill>
                <a:latin typeface="Noto Sans CJK SC"/>
              </a:rPr>
              <a:t>如果被问到为什么学生能超过教师，我会强调学生同时学习了教师软标签结构和任务本身的优化目标。</a:t>
            </a:r>
          </a:p>
          <a:p>
            <a:r>
              <a:rPr sz="1200" b="0">
                <a:solidFill>
                  <a:srgbClr val="303030"/>
                </a:solidFill>
                <a:latin typeface="Noto Sans CJK SC"/>
              </a:rPr>
              <a:t>如果被问到能否扩展到开放式问答，我会说明当前方法不能直接照搬，因为开放式任务需要重新定义监督目标。</a:t>
            </a:r>
          </a:p>
        </p:txBody>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320040" y="146304"/>
            <a:ext cx="1920240" cy="1484986"/>
          </a:xfrm>
          <a:prstGeom prst="rect">
            <a:avLst/>
          </a:prstGeom>
        </p:spPr>
      </p:pic>
      <p:sp>
        <p:nvSpPr>
          <p:cNvPr id="3" name="TextBox 2"/>
          <p:cNvSpPr txBox="1"/>
          <p:nvPr/>
        </p:nvSpPr>
        <p:spPr>
          <a:xfrm>
            <a:off x="914400" y="1234440"/>
            <a:ext cx="9601200" cy="1005840"/>
          </a:xfrm>
          <a:prstGeom prst="rect">
            <a:avLst/>
          </a:prstGeom>
          <a:noFill/>
        </p:spPr>
        <p:txBody>
          <a:bodyPr wrap="none" anchor="t">
            <a:spAutoFit/>
          </a:bodyPr>
          <a:lstStyle/>
          <a:p>
            <a:pPr algn="ctr"/>
            <a:r>
              <a:rPr sz="2800" b="1">
                <a:solidFill>
                  <a:srgbClr val="303030"/>
                </a:solidFill>
                <a:latin typeface="Calibri"/>
              </a:rPr>
              <a:t>Choice-Head Distillation for Efficient Dental MCQ Answering</a:t>
            </a:r>
          </a:p>
        </p:txBody>
      </p:sp>
      <p:sp>
        <p:nvSpPr>
          <p:cNvPr id="4" name="TextBox 3"/>
          <p:cNvSpPr txBox="1"/>
          <p:nvPr/>
        </p:nvSpPr>
        <p:spPr>
          <a:xfrm>
            <a:off x="1828800" y="2286000"/>
            <a:ext cx="7863840" cy="384048"/>
          </a:xfrm>
          <a:prstGeom prst="rect">
            <a:avLst/>
          </a:prstGeom>
          <a:noFill/>
        </p:spPr>
        <p:txBody>
          <a:bodyPr wrap="none" anchor="t">
            <a:spAutoFit/>
          </a:bodyPr>
          <a:lstStyle/>
          <a:p>
            <a:pPr algn="ctr"/>
            <a:r>
              <a:rPr sz="1800" b="0">
                <a:solidFill>
                  <a:srgbClr val="808080"/>
                </a:solidFill>
                <a:latin typeface="Calibri"/>
              </a:rPr>
              <a:t>Decision-Space Distillation for Deployable Medical QA</a:t>
            </a:r>
          </a:p>
        </p:txBody>
      </p:sp>
      <p:sp>
        <p:nvSpPr>
          <p:cNvPr id="5" name="Rectangle 4"/>
          <p:cNvSpPr/>
          <p:nvPr/>
        </p:nvSpPr>
        <p:spPr>
          <a:xfrm>
            <a:off x="4023360" y="2834640"/>
            <a:ext cx="2971800" cy="36576"/>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3182112"/>
            <a:ext cx="8138160" cy="457200"/>
          </a:xfrm>
          <a:prstGeom prst="rect">
            <a:avLst/>
          </a:prstGeom>
          <a:noFill/>
        </p:spPr>
        <p:txBody>
          <a:bodyPr wrap="none" anchor="t">
            <a:spAutoFit/>
          </a:bodyPr>
          <a:lstStyle/>
          <a:p>
            <a:pPr algn="ctr"/>
            <a:r>
              <a:rPr sz="1600" b="0">
                <a:solidFill>
                  <a:srgbClr val="5C5C5C"/>
                </a:solidFill>
                <a:latin typeface="Calibri"/>
              </a:rPr>
              <a:t>DeepSeek-V3 Teacher  |  Qwen2.5-14B Student  |  CMExam Full-Test 991 Questions</a:t>
            </a:r>
          </a:p>
        </p:txBody>
      </p:sp>
      <p:sp>
        <p:nvSpPr>
          <p:cNvPr id="7" name="TextBox 6"/>
          <p:cNvSpPr txBox="1"/>
          <p:nvPr/>
        </p:nvSpPr>
        <p:spPr>
          <a:xfrm>
            <a:off x="2331720" y="3675887"/>
            <a:ext cx="7132320" cy="457200"/>
          </a:xfrm>
          <a:prstGeom prst="rect">
            <a:avLst/>
          </a:prstGeom>
          <a:noFill/>
        </p:spPr>
        <p:txBody>
          <a:bodyPr wrap="none" anchor="t">
            <a:spAutoFit/>
          </a:bodyPr>
          <a:lstStyle/>
          <a:p>
            <a:pPr algn="ctr"/>
            <a:r>
              <a:rPr sz="1900" b="1">
                <a:solidFill>
                  <a:srgbClr val="1C915D"/>
                </a:solidFill>
                <a:latin typeface="Calibri"/>
              </a:rPr>
              <a:t>Key Result: 89.10% student accuracy &gt; 87.18% teacher accuracy</a:t>
            </a:r>
          </a:p>
        </p:txBody>
      </p:sp>
      <p:sp>
        <p:nvSpPr>
          <p:cNvPr id="8" name="Rectangle 7"/>
          <p:cNvSpPr/>
          <p:nvPr/>
        </p:nvSpPr>
        <p:spPr>
          <a:xfrm>
            <a:off x="0" y="5074920"/>
            <a:ext cx="12179300" cy="1645920"/>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37360" y="5230368"/>
            <a:ext cx="2743200" cy="320040"/>
          </a:xfrm>
          <a:prstGeom prst="rect">
            <a:avLst/>
          </a:prstGeom>
          <a:noFill/>
        </p:spPr>
        <p:txBody>
          <a:bodyPr wrap="none" anchor="t">
            <a:spAutoFit/>
          </a:bodyPr>
          <a:lstStyle/>
          <a:p>
            <a:pPr algn="l"/>
            <a:r>
              <a:rPr sz="2100" b="1">
                <a:solidFill>
                  <a:srgbClr val="FFFFFF"/>
                </a:solidFill>
                <a:latin typeface="Calibri"/>
              </a:rPr>
              <a:t>Presenter: Tianyuan Chen</a:t>
            </a:r>
          </a:p>
        </p:txBody>
      </p:sp>
      <p:sp>
        <p:nvSpPr>
          <p:cNvPr id="10" name="TextBox 9"/>
          <p:cNvSpPr txBox="1"/>
          <p:nvPr/>
        </p:nvSpPr>
        <p:spPr>
          <a:xfrm>
            <a:off x="6537960" y="5230368"/>
            <a:ext cx="3108960" cy="320040"/>
          </a:xfrm>
          <a:prstGeom prst="rect">
            <a:avLst/>
          </a:prstGeom>
          <a:noFill/>
        </p:spPr>
        <p:txBody>
          <a:bodyPr wrap="none" anchor="t">
            <a:spAutoFit/>
          </a:bodyPr>
          <a:lstStyle/>
          <a:p>
            <a:pPr algn="l"/>
            <a:r>
              <a:rPr sz="2100" b="1">
                <a:solidFill>
                  <a:srgbClr val="FFFFFF"/>
                </a:solidFill>
                <a:latin typeface="Calibri"/>
              </a:rPr>
              <a:t>Supervisor: Tichao Xiong</a:t>
            </a:r>
          </a:p>
        </p:txBody>
      </p:sp>
      <p:sp>
        <p:nvSpPr>
          <p:cNvPr id="11" name="TextBox 10"/>
          <p:cNvSpPr txBox="1"/>
          <p:nvPr/>
        </p:nvSpPr>
        <p:spPr>
          <a:xfrm>
            <a:off x="1737360" y="5815584"/>
            <a:ext cx="3017520" cy="320040"/>
          </a:xfrm>
          <a:prstGeom prst="rect">
            <a:avLst/>
          </a:prstGeom>
          <a:noFill/>
        </p:spPr>
        <p:txBody>
          <a:bodyPr wrap="none" anchor="t">
            <a:spAutoFit/>
          </a:bodyPr>
          <a:lstStyle/>
          <a:p>
            <a:pPr algn="l"/>
            <a:r>
              <a:rPr sz="1900" b="1">
                <a:solidFill>
                  <a:srgbClr val="FFFFFF"/>
                </a:solidFill>
                <a:latin typeface="Calibri"/>
              </a:rPr>
              <a:t>Program: Applied Artificial Intelligence</a:t>
            </a:r>
          </a:p>
        </p:txBody>
      </p:sp>
      <p:sp>
        <p:nvSpPr>
          <p:cNvPr id="12" name="TextBox 11"/>
          <p:cNvSpPr txBox="1"/>
          <p:nvPr/>
        </p:nvSpPr>
        <p:spPr>
          <a:xfrm>
            <a:off x="6537960" y="5815584"/>
            <a:ext cx="2651760" cy="320040"/>
          </a:xfrm>
          <a:prstGeom prst="rect">
            <a:avLst/>
          </a:prstGeom>
          <a:noFill/>
        </p:spPr>
        <p:txBody>
          <a:bodyPr wrap="none" anchor="t">
            <a:spAutoFit/>
          </a:bodyPr>
          <a:lstStyle/>
          <a:p>
            <a:pPr algn="l"/>
            <a:r>
              <a:rPr sz="1900" b="1">
                <a:solidFill>
                  <a:srgbClr val="FFFFFF"/>
                </a:solidFill>
                <a:latin typeface="Calibri"/>
              </a:rPr>
              <a:t>AIEA 2026, Shenzhen</a:t>
            </a:r>
          </a:p>
        </p:txBody>
      </p:sp>
      <p:sp>
        <p:nvSpPr>
          <p:cNvPr id="13" name="Rectangle 12"/>
          <p:cNvSpPr/>
          <p:nvPr/>
        </p:nvSpPr>
        <p:spPr>
          <a:xfrm>
            <a:off x="0" y="6419088"/>
            <a:ext cx="12179300" cy="393192"/>
          </a:xfrm>
          <a:prstGeom prst="rect">
            <a:avLst/>
          </a:prstGeom>
          <a:solidFill>
            <a:srgbClr val="7A14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0600" y="6464808"/>
            <a:ext cx="2560320" cy="182880"/>
          </a:xfrm>
          <a:prstGeom prst="rect">
            <a:avLst/>
          </a:prstGeom>
          <a:noFill/>
        </p:spPr>
        <p:txBody>
          <a:bodyPr wrap="none" anchor="t">
            <a:spAutoFit/>
          </a:bodyPr>
          <a:lstStyle/>
          <a:p>
            <a:pPr algn="ctr"/>
            <a:r>
              <a:rPr sz="1500" b="0">
                <a:solidFill>
                  <a:srgbClr val="FFFFFF"/>
                </a:solidFill>
                <a:latin typeface="Calibri"/>
              </a:rPr>
              <a:t>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68680" y="566928"/>
            <a:ext cx="2377440" cy="502920"/>
          </a:xfrm>
          <a:prstGeom prst="rect">
            <a:avLst/>
          </a:prstGeom>
          <a:noFill/>
        </p:spPr>
        <p:txBody>
          <a:bodyPr wrap="none" anchor="t">
            <a:spAutoFit/>
          </a:bodyPr>
          <a:lstStyle/>
          <a:p>
            <a:pPr algn="l"/>
            <a:r>
              <a:rPr sz="3000" b="1">
                <a:solidFill>
                  <a:srgbClr val="303030"/>
                </a:solidFill>
                <a:latin typeface="Calibri"/>
              </a:rPr>
              <a:t>Presentation Outline</a:t>
            </a:r>
          </a:p>
        </p:txBody>
      </p:sp>
      <p:sp>
        <p:nvSpPr>
          <p:cNvPr id="3" name="Rectangle 2"/>
          <p:cNvSpPr/>
          <p:nvPr/>
        </p:nvSpPr>
        <p:spPr>
          <a:xfrm>
            <a:off x="786384" y="1097280"/>
            <a:ext cx="1783080" cy="36576"/>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68680" y="1554480"/>
            <a:ext cx="9281160" cy="4251960"/>
          </a:xfrm>
          <a:prstGeom prst="roundRect">
            <a:avLst/>
          </a:prstGeom>
          <a:solidFill>
            <a:srgbClr val="FFFFFF"/>
          </a:solidFill>
          <a:ln w="17780">
            <a:solidFill>
              <a:srgbClr val="008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1810512"/>
            <a:ext cx="8595360" cy="3749039"/>
          </a:xfrm>
          <a:prstGeom prst="rect">
            <a:avLst/>
          </a:prstGeom>
          <a:noFill/>
        </p:spPr>
        <p:txBody>
          <a:bodyPr wrap="none">
            <a:spAutoFit/>
          </a:bodyPr>
          <a:lstStyle/>
          <a:p>
            <a:pPr algn="l">
              <a:spcAft>
                <a:spcPts val="1000"/>
              </a:spcAft>
            </a:pPr>
            <a:r>
              <a:rPr sz="2200" b="0">
                <a:solidFill>
                  <a:srgbClr val="303030"/>
                </a:solidFill>
                <a:latin typeface="Calibri"/>
              </a:rPr>
              <a:t>1. Motivation and problem setting</a:t>
            </a:r>
          </a:p>
          <a:p>
            <a:pPr algn="l">
              <a:spcAft>
                <a:spcPts val="1000"/>
              </a:spcAft>
            </a:pPr>
            <a:r>
              <a:rPr sz="2200" b="0">
                <a:solidFill>
                  <a:srgbClr val="303030"/>
                </a:solidFill>
                <a:latin typeface="Calibri"/>
              </a:rPr>
              <a:t>2. Research questions and Choice-Head method</a:t>
            </a:r>
          </a:p>
          <a:p>
            <a:pPr algn="l">
              <a:spcAft>
                <a:spcPts val="1000"/>
              </a:spcAft>
            </a:pPr>
            <a:r>
              <a:rPr sz="2200" b="0">
                <a:solidFill>
                  <a:srgbClr val="303030"/>
                </a:solidFill>
                <a:latin typeface="Calibri"/>
              </a:rPr>
              <a:t>3. Why decision-space distillation matters</a:t>
            </a:r>
          </a:p>
          <a:p>
            <a:pPr algn="l">
              <a:spcAft>
                <a:spcPts val="1000"/>
              </a:spcAft>
            </a:pPr>
            <a:r>
              <a:rPr sz="2200" b="0">
                <a:solidFill>
                  <a:srgbClr val="303030"/>
                </a:solidFill>
                <a:latin typeface="Calibri"/>
              </a:rPr>
              <a:t>4. Experimental setup and benchmark scale</a:t>
            </a:r>
          </a:p>
          <a:p>
            <a:pPr algn="l">
              <a:spcAft>
                <a:spcPts val="1000"/>
              </a:spcAft>
            </a:pPr>
            <a:r>
              <a:rPr sz="2200" b="0">
                <a:solidFill>
                  <a:srgbClr val="303030"/>
                </a:solidFill>
                <a:latin typeface="Calibri"/>
              </a:rPr>
              <a:t>5. Main results and student-over-teacher finding</a:t>
            </a:r>
          </a:p>
          <a:p>
            <a:pPr algn="l">
              <a:spcAft>
                <a:spcPts val="1000"/>
              </a:spcAft>
            </a:pPr>
            <a:r>
              <a:rPr sz="2200" b="0">
                <a:solidFill>
                  <a:srgbClr val="303030"/>
                </a:solidFill>
                <a:latin typeface="Calibri"/>
              </a:rPr>
              <a:t>6. Contributions, discussion, and conclusion</a:t>
            </a:r>
          </a:p>
        </p:txBody>
      </p:sp>
      <p:sp>
        <p:nvSpPr>
          <p:cNvPr id="6" name="Rectangle 5"/>
          <p:cNvSpPr/>
          <p:nvPr/>
        </p:nvSpPr>
        <p:spPr>
          <a:xfrm>
            <a:off x="0" y="6400800"/>
            <a:ext cx="12179300" cy="457200"/>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03320" y="6501384"/>
            <a:ext cx="4023360" cy="228600"/>
          </a:xfrm>
          <a:prstGeom prst="rect">
            <a:avLst/>
          </a:prstGeom>
          <a:noFill/>
        </p:spPr>
        <p:txBody>
          <a:bodyPr wrap="none" anchor="t">
            <a:spAutoFit/>
          </a:bodyPr>
          <a:lstStyle/>
          <a:p>
            <a:pPr algn="ctr"/>
            <a:r>
              <a:rPr sz="1500" b="0">
                <a:solidFill>
                  <a:srgbClr val="FFFFFF"/>
                </a:solidFill>
                <a:latin typeface="Calibri"/>
              </a:rPr>
              <a:t>AIEA 2026 Conference Presentation</a:t>
            </a:r>
          </a:p>
        </p:txBody>
      </p:sp>
      <p:sp>
        <p:nvSpPr>
          <p:cNvPr id="8" name="TextBox 7"/>
          <p:cNvSpPr txBox="1"/>
          <p:nvPr/>
        </p:nvSpPr>
        <p:spPr>
          <a:xfrm>
            <a:off x="11466068" y="6501384"/>
            <a:ext cx="457200" cy="228600"/>
          </a:xfrm>
          <a:prstGeom prst="rect">
            <a:avLst/>
          </a:prstGeom>
          <a:noFill/>
        </p:spPr>
        <p:txBody>
          <a:bodyPr wrap="none" anchor="t">
            <a:spAutoFit/>
          </a:bodyPr>
          <a:lstStyle/>
          <a:p>
            <a:pPr algn="r"/>
            <a:r>
              <a:rPr sz="1500" b="0">
                <a:solidFill>
                  <a:srgbClr val="FFFFFF"/>
                </a:solidFill>
                <a:latin typeface="Calibri"/>
              </a:rPr>
              <a:t>2/12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47472"/>
            <a:ext cx="731520" cy="457200"/>
          </a:xfrm>
          <a:prstGeom prst="rect">
            <a:avLst/>
          </a:prstGeom>
          <a:noFill/>
        </p:spPr>
        <p:txBody>
          <a:bodyPr wrap="none" anchor="t">
            <a:spAutoFit/>
          </a:bodyPr>
          <a:lstStyle/>
          <a:p>
            <a:pPr algn="l"/>
            <a:r>
              <a:rPr sz="3000" b="0">
                <a:solidFill>
                  <a:srgbClr val="9B1F23"/>
                </a:solidFill>
                <a:latin typeface="Calibri"/>
              </a:rPr>
              <a:t>01</a:t>
            </a:r>
          </a:p>
        </p:txBody>
      </p:sp>
      <p:sp>
        <p:nvSpPr>
          <p:cNvPr id="3" name="TextBox 2"/>
          <p:cNvSpPr txBox="1"/>
          <p:nvPr/>
        </p:nvSpPr>
        <p:spPr>
          <a:xfrm>
            <a:off x="1554480" y="310896"/>
            <a:ext cx="8046720" cy="548640"/>
          </a:xfrm>
          <a:prstGeom prst="rect">
            <a:avLst/>
          </a:prstGeom>
          <a:noFill/>
        </p:spPr>
        <p:txBody>
          <a:bodyPr wrap="none" anchor="t">
            <a:spAutoFit/>
          </a:bodyPr>
          <a:lstStyle/>
          <a:p>
            <a:pPr algn="l"/>
            <a:r>
              <a:rPr sz="2800" b="1">
                <a:solidFill>
                  <a:srgbClr val="9B1F23"/>
                </a:solidFill>
                <a:latin typeface="Calibri"/>
              </a:rPr>
              <a:t>Motivation and Problem Setting</a:t>
            </a:r>
          </a:p>
        </p:txBody>
      </p:sp>
      <p:sp>
        <p:nvSpPr>
          <p:cNvPr id="4" name="Rectangle 3"/>
          <p:cNvSpPr/>
          <p:nvPr/>
        </p:nvSpPr>
        <p:spPr>
          <a:xfrm>
            <a:off x="749808" y="1042415"/>
            <a:ext cx="1874519" cy="36576"/>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463040"/>
            <a:ext cx="10149840" cy="914400"/>
          </a:xfrm>
          <a:prstGeom prst="roundRect">
            <a:avLst/>
          </a:prstGeom>
          <a:solidFill>
            <a:srgbClr val="E7EFF8"/>
          </a:solidFill>
          <a:ln w="17780">
            <a:solidFill>
              <a:srgbClr val="008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1F609C"/>
                </a:solidFill>
                <a:latin typeface="Calibri"/>
              </a:rPr>
              <a:t>Goal: preserve exam performance while making dental MCQ systems smaller, cheaper, and easier to deploy.</a:t>
            </a:r>
          </a:p>
        </p:txBody>
      </p:sp>
      <p:sp>
        <p:nvSpPr>
          <p:cNvPr id="6" name="Rounded Rectangle 5"/>
          <p:cNvSpPr/>
          <p:nvPr/>
        </p:nvSpPr>
        <p:spPr>
          <a:xfrm>
            <a:off x="822960" y="2743200"/>
            <a:ext cx="3154680" cy="2240280"/>
          </a:xfrm>
          <a:prstGeom prst="roundRect">
            <a:avLst/>
          </a:prstGeom>
          <a:solidFill>
            <a:srgbClr val="FFFFFF"/>
          </a:solidFill>
          <a:ln w="17780">
            <a:solidFill>
              <a:srgbClr val="9B1F23"/>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800" b="1">
                <a:solidFill>
                  <a:srgbClr val="9B1F23"/>
                </a:solidFill>
                <a:latin typeface="Calibri"/>
              </a:rPr>
              <a:t>Current Tension</a:t>
            </a:r>
          </a:p>
          <a:p>
            <a:pPr>
              <a:spcAft>
                <a:spcPts val="400"/>
              </a:spcAft>
            </a:pPr>
            <a:r>
              <a:rPr sz="1300" b="0">
                <a:solidFill>
                  <a:srgbClr val="5C5C5C"/>
                </a:solidFill>
                <a:latin typeface="Calibri"/>
              </a:rPr>
              <a:t>Medical LLMs are accurate on exam benchmarks</a:t>
            </a:r>
          </a:p>
          <a:p>
            <a:pPr>
              <a:spcAft>
                <a:spcPts val="400"/>
              </a:spcAft>
            </a:pPr>
            <a:r>
              <a:rPr sz="1300" b="0">
                <a:solidFill>
                  <a:srgbClr val="5C5C5C"/>
                </a:solidFill>
                <a:latin typeface="Calibri"/>
              </a:rPr>
              <a:t>But inference cost and hardware demand remain high</a:t>
            </a:r>
          </a:p>
          <a:p>
            <a:pPr>
              <a:spcAft>
                <a:spcPts val="400"/>
              </a:spcAft>
            </a:pPr>
            <a:r>
              <a:rPr sz="1300" b="0">
                <a:solidFill>
                  <a:srgbClr val="5C5C5C"/>
                </a:solidFill>
                <a:latin typeface="Calibri"/>
              </a:rPr>
              <a:t>Deployment value matters beyond raw benchmark scores</a:t>
            </a:r>
          </a:p>
        </p:txBody>
      </p:sp>
      <p:sp>
        <p:nvSpPr>
          <p:cNvPr id="7" name="Rounded Rectangle 6"/>
          <p:cNvSpPr/>
          <p:nvPr/>
        </p:nvSpPr>
        <p:spPr>
          <a:xfrm>
            <a:off x="4251960" y="2743200"/>
            <a:ext cx="2880360" cy="2240280"/>
          </a:xfrm>
          <a:prstGeom prst="roundRect">
            <a:avLst/>
          </a:prstGeom>
          <a:solidFill>
            <a:srgbClr val="FFFFFF"/>
          </a:solidFill>
          <a:ln w="17780">
            <a:solidFill>
              <a:srgbClr val="008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800" b="1">
                <a:solidFill>
                  <a:srgbClr val="008A96"/>
                </a:solidFill>
                <a:latin typeface="Calibri"/>
              </a:rPr>
              <a:t>Task Structure</a:t>
            </a:r>
          </a:p>
          <a:p>
            <a:pPr>
              <a:spcAft>
                <a:spcPts val="400"/>
              </a:spcAft>
            </a:pPr>
            <a:r>
              <a:rPr sz="1300" b="0">
                <a:solidFill>
                  <a:srgbClr val="5C5C5C"/>
                </a:solidFill>
                <a:latin typeface="Calibri"/>
              </a:rPr>
              <a:t>Dental QA is a five-option MCQ task</a:t>
            </a:r>
          </a:p>
          <a:p>
            <a:pPr>
              <a:spcAft>
                <a:spcPts val="400"/>
              </a:spcAft>
            </a:pPr>
            <a:r>
              <a:rPr sz="1300" b="0">
                <a:solidFill>
                  <a:srgbClr val="5C5C5C"/>
                </a:solidFill>
                <a:latin typeface="Calibri"/>
              </a:rPr>
              <a:t>Decision space is small and well-structured</a:t>
            </a:r>
          </a:p>
          <a:p>
            <a:pPr>
              <a:spcAft>
                <a:spcPts val="400"/>
              </a:spcAft>
            </a:pPr>
            <a:r>
              <a:rPr sz="1300" b="0">
                <a:solidFill>
                  <a:srgbClr val="5C5C5C"/>
                </a:solidFill>
                <a:latin typeface="Calibri"/>
              </a:rPr>
              <a:t>Open-ended generation is not required here</a:t>
            </a:r>
          </a:p>
        </p:txBody>
      </p:sp>
      <p:sp>
        <p:nvSpPr>
          <p:cNvPr id="8" name="Rounded Rectangle 7"/>
          <p:cNvSpPr/>
          <p:nvPr/>
        </p:nvSpPr>
        <p:spPr>
          <a:xfrm>
            <a:off x="7406640" y="2743200"/>
            <a:ext cx="2743200" cy="2240280"/>
          </a:xfrm>
          <a:prstGeom prst="roundRect">
            <a:avLst/>
          </a:prstGeom>
          <a:solidFill>
            <a:srgbClr val="FFFFFF"/>
          </a:solidFill>
          <a:ln w="17780">
            <a:solidFill>
              <a:srgbClr val="DC741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800" b="1">
                <a:solidFill>
                  <a:srgbClr val="DC741A"/>
                </a:solidFill>
                <a:latin typeface="Calibri"/>
              </a:rPr>
              <a:t>Mismatch</a:t>
            </a:r>
          </a:p>
          <a:p>
            <a:pPr>
              <a:spcAft>
                <a:spcPts val="400"/>
              </a:spcAft>
            </a:pPr>
            <a:r>
              <a:rPr sz="1300" b="0">
                <a:solidFill>
                  <a:srgbClr val="5C5C5C"/>
                </a:solidFill>
                <a:latin typeface="Calibri"/>
              </a:rPr>
              <a:t>Full-vocabulary distillation is redundant</a:t>
            </a:r>
          </a:p>
          <a:p>
            <a:pPr>
              <a:spcAft>
                <a:spcPts val="400"/>
              </a:spcAft>
            </a:pPr>
            <a:r>
              <a:rPr sz="1300" b="0">
                <a:solidFill>
                  <a:srgbClr val="5C5C5C"/>
                </a:solidFill>
                <a:latin typeface="Calibri"/>
              </a:rPr>
              <a:t>API teachers rarely expose internal logits</a:t>
            </a:r>
          </a:p>
          <a:p>
            <a:pPr>
              <a:spcAft>
                <a:spcPts val="400"/>
              </a:spcAft>
            </a:pPr>
            <a:r>
              <a:rPr sz="1300" b="0">
                <a:solidFill>
                  <a:srgbClr val="5C5C5C"/>
                </a:solidFill>
                <a:latin typeface="Calibri"/>
              </a:rPr>
              <a:t>Task-aligned supervision is needed</a:t>
            </a:r>
          </a:p>
        </p:txBody>
      </p:sp>
      <p:sp>
        <p:nvSpPr>
          <p:cNvPr id="9" name="Rectangle 8"/>
          <p:cNvSpPr/>
          <p:nvPr/>
        </p:nvSpPr>
        <p:spPr>
          <a:xfrm>
            <a:off x="0" y="6400800"/>
            <a:ext cx="12179300" cy="457200"/>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6501384"/>
            <a:ext cx="4023360" cy="228600"/>
          </a:xfrm>
          <a:prstGeom prst="rect">
            <a:avLst/>
          </a:prstGeom>
          <a:noFill/>
        </p:spPr>
        <p:txBody>
          <a:bodyPr wrap="none" anchor="t">
            <a:spAutoFit/>
          </a:bodyPr>
          <a:lstStyle/>
          <a:p>
            <a:pPr algn="ctr"/>
            <a:r>
              <a:rPr sz="1500" b="0">
                <a:solidFill>
                  <a:srgbClr val="FFFFFF"/>
                </a:solidFill>
                <a:latin typeface="Calibri"/>
              </a:rPr>
              <a:t>AIEA 2026 Conference Presentation</a:t>
            </a:r>
          </a:p>
        </p:txBody>
      </p:sp>
      <p:sp>
        <p:nvSpPr>
          <p:cNvPr id="11" name="TextBox 10"/>
          <p:cNvSpPr txBox="1"/>
          <p:nvPr/>
        </p:nvSpPr>
        <p:spPr>
          <a:xfrm>
            <a:off x="11466068" y="6501384"/>
            <a:ext cx="457200" cy="228600"/>
          </a:xfrm>
          <a:prstGeom prst="rect">
            <a:avLst/>
          </a:prstGeom>
          <a:noFill/>
        </p:spPr>
        <p:txBody>
          <a:bodyPr wrap="none" anchor="t">
            <a:spAutoFit/>
          </a:bodyPr>
          <a:lstStyle/>
          <a:p>
            <a:pPr algn="r"/>
            <a:r>
              <a:rPr sz="1500" b="0">
                <a:solidFill>
                  <a:srgbClr val="FFFFFF"/>
                </a:solidFill>
                <a:latin typeface="Calibri"/>
              </a:rPr>
              <a:t>2/12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47472"/>
            <a:ext cx="731520" cy="457200"/>
          </a:xfrm>
          <a:prstGeom prst="rect">
            <a:avLst/>
          </a:prstGeom>
          <a:noFill/>
        </p:spPr>
        <p:txBody>
          <a:bodyPr wrap="none" anchor="t">
            <a:spAutoFit/>
          </a:bodyPr>
          <a:lstStyle/>
          <a:p>
            <a:pPr algn="l"/>
            <a:r>
              <a:rPr sz="3000" b="0">
                <a:solidFill>
                  <a:srgbClr val="9B1F23"/>
                </a:solidFill>
                <a:latin typeface="Calibri"/>
              </a:rPr>
              <a:t>02</a:t>
            </a:r>
          </a:p>
        </p:txBody>
      </p:sp>
      <p:sp>
        <p:nvSpPr>
          <p:cNvPr id="3" name="TextBox 2"/>
          <p:cNvSpPr txBox="1"/>
          <p:nvPr/>
        </p:nvSpPr>
        <p:spPr>
          <a:xfrm>
            <a:off x="1554480" y="310896"/>
            <a:ext cx="8046720" cy="548640"/>
          </a:xfrm>
          <a:prstGeom prst="rect">
            <a:avLst/>
          </a:prstGeom>
          <a:noFill/>
        </p:spPr>
        <p:txBody>
          <a:bodyPr wrap="none" anchor="t">
            <a:spAutoFit/>
          </a:bodyPr>
          <a:lstStyle/>
          <a:p>
            <a:pPr algn="l"/>
            <a:r>
              <a:rPr sz="2800" b="1">
                <a:solidFill>
                  <a:srgbClr val="303030"/>
                </a:solidFill>
                <a:latin typeface="Calibri"/>
              </a:rPr>
              <a:t>Research Questions</a:t>
            </a:r>
          </a:p>
        </p:txBody>
      </p:sp>
      <p:sp>
        <p:nvSpPr>
          <p:cNvPr id="4" name="Rectangle 3"/>
          <p:cNvSpPr/>
          <p:nvPr/>
        </p:nvSpPr>
        <p:spPr>
          <a:xfrm>
            <a:off x="749808" y="1042415"/>
            <a:ext cx="1874519" cy="36576"/>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463040"/>
            <a:ext cx="2834640" cy="1097280"/>
          </a:xfrm>
          <a:prstGeom prst="roundRect">
            <a:avLst/>
          </a:prstGeom>
          <a:solidFill>
            <a:srgbClr val="F7F7F7"/>
          </a:solidFill>
          <a:ln w="17780">
            <a:solidFill>
              <a:srgbClr val="008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08A96"/>
                </a:solidFill>
                <a:latin typeface="Calibri"/>
              </a:rPr>
              <a:t>RQ1</a:t>
            </a:r>
          </a:p>
          <a:p>
            <a:pPr>
              <a:spcBef>
                <a:spcPts val="500"/>
              </a:spcBef>
            </a:pPr>
            <a:r>
              <a:rPr sz="2400" b="1">
                <a:solidFill>
                  <a:srgbClr val="303030"/>
                </a:solidFill>
                <a:latin typeface="Calibri"/>
              </a:rPr>
              <a:t>What to Distill?</a:t>
            </a:r>
          </a:p>
          <a:p>
            <a:pPr>
              <a:spcBef>
                <a:spcPts val="200"/>
              </a:spcBef>
            </a:pPr>
            <a:r>
              <a:rPr sz="1100" b="0">
                <a:solidFill>
                  <a:srgbClr val="5C5C5C"/>
                </a:solidFill>
                <a:latin typeface="Calibri"/>
              </a:rPr>
              <a:t>Whole vocabulary or only A/B/C/D/E?</a:t>
            </a:r>
          </a:p>
        </p:txBody>
      </p:sp>
      <p:sp>
        <p:nvSpPr>
          <p:cNvPr id="6" name="Rounded Rectangle 5"/>
          <p:cNvSpPr/>
          <p:nvPr/>
        </p:nvSpPr>
        <p:spPr>
          <a:xfrm>
            <a:off x="3886200" y="1463040"/>
            <a:ext cx="2834640" cy="1097280"/>
          </a:xfrm>
          <a:prstGeom prst="roundRect">
            <a:avLst/>
          </a:prstGeom>
          <a:solidFill>
            <a:srgbClr val="F7F7F7"/>
          </a:solidFill>
          <a:ln w="17780">
            <a:solidFill>
              <a:srgbClr val="1C915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C915D"/>
                </a:solidFill>
                <a:latin typeface="Calibri"/>
              </a:rPr>
              <a:t>RQ2</a:t>
            </a:r>
          </a:p>
          <a:p>
            <a:pPr>
              <a:spcBef>
                <a:spcPts val="500"/>
              </a:spcBef>
            </a:pPr>
            <a:r>
              <a:rPr sz="2400" b="1">
                <a:solidFill>
                  <a:srgbClr val="303030"/>
                </a:solidFill>
                <a:latin typeface="Calibri"/>
              </a:rPr>
              <a:t>Can Students Exceed Teachers?</a:t>
            </a:r>
          </a:p>
          <a:p>
            <a:pPr>
              <a:spcBef>
                <a:spcPts val="200"/>
              </a:spcBef>
            </a:pPr>
            <a:r>
              <a:rPr sz="1100" b="0">
                <a:solidFill>
                  <a:srgbClr val="5C5C5C"/>
                </a:solidFill>
                <a:latin typeface="Calibri"/>
              </a:rPr>
              <a:t>Under a task-aligned objective</a:t>
            </a:r>
          </a:p>
        </p:txBody>
      </p:sp>
      <p:sp>
        <p:nvSpPr>
          <p:cNvPr id="7" name="Rounded Rectangle 6"/>
          <p:cNvSpPr/>
          <p:nvPr/>
        </p:nvSpPr>
        <p:spPr>
          <a:xfrm>
            <a:off x="6995160" y="1463040"/>
            <a:ext cx="2834640" cy="1097280"/>
          </a:xfrm>
          <a:prstGeom prst="roundRect">
            <a:avLst/>
          </a:prstGeom>
          <a:solidFill>
            <a:srgbClr val="F7F7F7"/>
          </a:solidFill>
          <a:ln w="17780">
            <a:solidFill>
              <a:srgbClr val="DC741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DC741A"/>
                </a:solidFill>
                <a:latin typeface="Calibri"/>
              </a:rPr>
              <a:t>RQ3</a:t>
            </a:r>
          </a:p>
          <a:p>
            <a:pPr>
              <a:spcBef>
                <a:spcPts val="500"/>
              </a:spcBef>
            </a:pPr>
            <a:r>
              <a:rPr sz="2400" b="1">
                <a:solidFill>
                  <a:srgbClr val="303030"/>
                </a:solidFill>
                <a:latin typeface="Calibri"/>
              </a:rPr>
              <a:t>Can It Stay Black-Box Friendly?</a:t>
            </a:r>
          </a:p>
          <a:p>
            <a:pPr>
              <a:spcBef>
                <a:spcPts val="200"/>
              </a:spcBef>
            </a:pPr>
            <a:r>
              <a:rPr sz="1100" b="0">
                <a:solidFill>
                  <a:srgbClr val="5C5C5C"/>
                </a:solidFill>
                <a:latin typeface="Calibri"/>
              </a:rPr>
              <a:t>Compatible with API teachers</a:t>
            </a:r>
          </a:p>
        </p:txBody>
      </p:sp>
      <p:sp>
        <p:nvSpPr>
          <p:cNvPr id="8" name="Rounded Rectangle 7"/>
          <p:cNvSpPr/>
          <p:nvPr/>
        </p:nvSpPr>
        <p:spPr>
          <a:xfrm>
            <a:off x="868680" y="2971800"/>
            <a:ext cx="9509760" cy="2194560"/>
          </a:xfrm>
          <a:prstGeom prst="roundRect">
            <a:avLst/>
          </a:prstGeom>
          <a:solidFill>
            <a:srgbClr val="FFFFFF"/>
          </a:solidFill>
          <a:ln w="17780">
            <a:solidFill>
              <a:srgbClr val="1F609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1F609C"/>
                </a:solidFill>
                <a:latin typeface="Calibri"/>
              </a:rPr>
              <a:t>Central research question</a:t>
            </a:r>
          </a:p>
          <a:p>
            <a:pPr>
              <a:spcAft>
                <a:spcPts val="600"/>
              </a:spcAft>
            </a:pPr>
            <a:r>
              <a:rPr sz="1600" b="0">
                <a:solidFill>
                  <a:srgbClr val="5C5C5C"/>
                </a:solidFill>
                <a:latin typeface="Calibri"/>
              </a:rPr>
              <a:t>For a five-option medical exam task, the important transfer target may be the decision structure rather than the full language-model distribution.</a:t>
            </a:r>
          </a:p>
          <a:p>
            <a:pPr>
              <a:spcAft>
                <a:spcPts val="600"/>
              </a:spcAft>
            </a:pPr>
            <a:r>
              <a:rPr sz="1600" b="0">
                <a:solidFill>
                  <a:srgbClr val="5C5C5C"/>
                </a:solidFill>
                <a:latin typeface="Calibri"/>
              </a:rPr>
              <a:t>If the supervision target is redesigned around the downstream task, smaller students may become both deployable and unexpectedly strong.</a:t>
            </a:r>
          </a:p>
        </p:txBody>
      </p:sp>
      <p:sp>
        <p:nvSpPr>
          <p:cNvPr id="9" name="Rectangle 8"/>
          <p:cNvSpPr/>
          <p:nvPr/>
        </p:nvSpPr>
        <p:spPr>
          <a:xfrm>
            <a:off x="0" y="6400800"/>
            <a:ext cx="12179300" cy="457200"/>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6501384"/>
            <a:ext cx="4023360" cy="228600"/>
          </a:xfrm>
          <a:prstGeom prst="rect">
            <a:avLst/>
          </a:prstGeom>
          <a:noFill/>
        </p:spPr>
        <p:txBody>
          <a:bodyPr wrap="none" anchor="t">
            <a:spAutoFit/>
          </a:bodyPr>
          <a:lstStyle/>
          <a:p>
            <a:pPr algn="ctr"/>
            <a:r>
              <a:rPr sz="1500" b="0">
                <a:solidFill>
                  <a:srgbClr val="FFFFFF"/>
                </a:solidFill>
                <a:latin typeface="Calibri"/>
              </a:rPr>
              <a:t>AIEA 2026 Conference Presentation</a:t>
            </a:r>
          </a:p>
        </p:txBody>
      </p:sp>
      <p:sp>
        <p:nvSpPr>
          <p:cNvPr id="11" name="TextBox 10"/>
          <p:cNvSpPr txBox="1"/>
          <p:nvPr/>
        </p:nvSpPr>
        <p:spPr>
          <a:xfrm>
            <a:off x="11466068" y="6501384"/>
            <a:ext cx="457200" cy="228600"/>
          </a:xfrm>
          <a:prstGeom prst="rect">
            <a:avLst/>
          </a:prstGeom>
          <a:noFill/>
        </p:spPr>
        <p:txBody>
          <a:bodyPr wrap="none" anchor="t">
            <a:spAutoFit/>
          </a:bodyPr>
          <a:lstStyle/>
          <a:p>
            <a:pPr algn="r"/>
            <a:r>
              <a:rPr sz="1500" b="0">
                <a:solidFill>
                  <a:srgbClr val="FFFFFF"/>
                </a:solidFill>
                <a:latin typeface="Calibri"/>
              </a:rPr>
              <a:t>3/12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47472"/>
            <a:ext cx="731520" cy="457200"/>
          </a:xfrm>
          <a:prstGeom prst="rect">
            <a:avLst/>
          </a:prstGeom>
          <a:noFill/>
        </p:spPr>
        <p:txBody>
          <a:bodyPr wrap="none" anchor="t">
            <a:spAutoFit/>
          </a:bodyPr>
          <a:lstStyle/>
          <a:p>
            <a:pPr algn="l"/>
            <a:r>
              <a:rPr sz="3000" b="0">
                <a:solidFill>
                  <a:srgbClr val="9B1F23"/>
                </a:solidFill>
                <a:latin typeface="Calibri"/>
              </a:rPr>
              <a:t>03</a:t>
            </a:r>
          </a:p>
        </p:txBody>
      </p:sp>
      <p:sp>
        <p:nvSpPr>
          <p:cNvPr id="3" name="TextBox 2"/>
          <p:cNvSpPr txBox="1"/>
          <p:nvPr/>
        </p:nvSpPr>
        <p:spPr>
          <a:xfrm>
            <a:off x="1554480" y="310896"/>
            <a:ext cx="8046720" cy="548640"/>
          </a:xfrm>
          <a:prstGeom prst="rect">
            <a:avLst/>
          </a:prstGeom>
          <a:noFill/>
        </p:spPr>
        <p:txBody>
          <a:bodyPr wrap="none" anchor="t">
            <a:spAutoFit/>
          </a:bodyPr>
          <a:lstStyle/>
          <a:p>
            <a:pPr algn="l"/>
            <a:r>
              <a:rPr sz="2800" b="1">
                <a:solidFill>
                  <a:srgbClr val="303030"/>
                </a:solidFill>
                <a:latin typeface="Calibri"/>
              </a:rPr>
              <a:t>Core Method: Choice-Head Distillation</a:t>
            </a:r>
          </a:p>
        </p:txBody>
      </p:sp>
      <p:sp>
        <p:nvSpPr>
          <p:cNvPr id="4" name="Rectangle 3"/>
          <p:cNvSpPr/>
          <p:nvPr/>
        </p:nvSpPr>
        <p:spPr>
          <a:xfrm>
            <a:off x="749808" y="1042415"/>
            <a:ext cx="1874519" cy="36576"/>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2148840" cy="1417320"/>
          </a:xfrm>
          <a:prstGeom prst="roundRect">
            <a:avLst/>
          </a:prstGeom>
          <a:solidFill>
            <a:srgbClr val="FFFFFF"/>
          </a:solidFill>
          <a:ln w="17780">
            <a:solidFill>
              <a:srgbClr val="9B1F23"/>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800" b="1">
                <a:solidFill>
                  <a:srgbClr val="9B1F23"/>
                </a:solidFill>
                <a:latin typeface="Calibri"/>
              </a:rPr>
              <a:t>Teacher</a:t>
            </a:r>
          </a:p>
          <a:p>
            <a:pPr>
              <a:spcAft>
                <a:spcPts val="400"/>
              </a:spcAft>
            </a:pPr>
            <a:r>
              <a:rPr sz="1300" b="0">
                <a:solidFill>
                  <a:srgbClr val="5C5C5C"/>
                </a:solidFill>
                <a:latin typeface="Calibri"/>
              </a:rPr>
              <a:t>DeepSeek-V3</a:t>
            </a:r>
          </a:p>
          <a:p>
            <a:pPr>
              <a:spcAft>
                <a:spcPts val="400"/>
              </a:spcAft>
            </a:pPr>
            <a:r>
              <a:rPr sz="1300" b="0">
                <a:solidFill>
                  <a:srgbClr val="5C5C5C"/>
                </a:solidFill>
                <a:latin typeface="Calibri"/>
              </a:rPr>
              <a:t>Can be local or API-based</a:t>
            </a:r>
          </a:p>
          <a:p>
            <a:pPr>
              <a:spcAft>
                <a:spcPts val="400"/>
              </a:spcAft>
            </a:pPr>
            <a:r>
              <a:rPr sz="1300" b="0">
                <a:solidFill>
                  <a:srgbClr val="5C5C5C"/>
                </a:solidFill>
                <a:latin typeface="Calibri"/>
              </a:rPr>
              <a:t>Provides option-level preference</a:t>
            </a:r>
          </a:p>
        </p:txBody>
      </p:sp>
      <p:sp>
        <p:nvSpPr>
          <p:cNvPr id="6" name="Chevron 5"/>
          <p:cNvSpPr/>
          <p:nvPr/>
        </p:nvSpPr>
        <p:spPr>
          <a:xfrm>
            <a:off x="3063240" y="1664208"/>
            <a:ext cx="1143000" cy="566928"/>
          </a:xfrm>
          <a:prstGeom prst="chevron">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A/B/C/D/E</a:t>
            </a:r>
          </a:p>
        </p:txBody>
      </p:sp>
      <p:sp>
        <p:nvSpPr>
          <p:cNvPr id="7" name="Rounded Rectangle 6"/>
          <p:cNvSpPr/>
          <p:nvPr/>
        </p:nvSpPr>
        <p:spPr>
          <a:xfrm>
            <a:off x="4480560" y="1371600"/>
            <a:ext cx="2011680" cy="1417320"/>
          </a:xfrm>
          <a:prstGeom prst="roundRect">
            <a:avLst/>
          </a:prstGeom>
          <a:solidFill>
            <a:srgbClr val="FFFFFF"/>
          </a:solidFill>
          <a:ln w="17780">
            <a:solidFill>
              <a:srgbClr val="008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800" b="1">
                <a:solidFill>
                  <a:srgbClr val="008A96"/>
                </a:solidFill>
                <a:latin typeface="Calibri"/>
              </a:rPr>
              <a:t>Choice Head</a:t>
            </a:r>
          </a:p>
          <a:p>
            <a:pPr>
              <a:spcAft>
                <a:spcPts val="400"/>
              </a:spcAft>
            </a:pPr>
            <a:r>
              <a:rPr sz="1300" b="0">
                <a:solidFill>
                  <a:srgbClr val="5C5C5C"/>
                </a:solidFill>
                <a:latin typeface="Calibri"/>
              </a:rPr>
              <a:t>Five-option distribution</a:t>
            </a:r>
          </a:p>
          <a:p>
            <a:pPr>
              <a:spcAft>
                <a:spcPts val="400"/>
              </a:spcAft>
            </a:pPr>
            <a:r>
              <a:rPr sz="1300" b="0">
                <a:solidFill>
                  <a:srgbClr val="5C5C5C"/>
                </a:solidFill>
                <a:latin typeface="Calibri"/>
              </a:rPr>
              <a:t>Decision-space supervision</a:t>
            </a:r>
          </a:p>
          <a:p>
            <a:pPr>
              <a:spcAft>
                <a:spcPts val="400"/>
              </a:spcAft>
            </a:pPr>
            <a:r>
              <a:rPr sz="1300" b="0">
                <a:solidFill>
                  <a:srgbClr val="5C5C5C"/>
                </a:solidFill>
                <a:latin typeface="Calibri"/>
              </a:rPr>
              <a:t>No full vocabulary needed</a:t>
            </a:r>
          </a:p>
        </p:txBody>
      </p:sp>
      <p:sp>
        <p:nvSpPr>
          <p:cNvPr id="8" name="Chevron 7"/>
          <p:cNvSpPr/>
          <p:nvPr/>
        </p:nvSpPr>
        <p:spPr>
          <a:xfrm>
            <a:off x="6656832" y="1664208"/>
            <a:ext cx="1051560" cy="566928"/>
          </a:xfrm>
          <a:prstGeom prst="chevron">
            <a:avLst/>
          </a:prstGeom>
          <a:solidFill>
            <a:srgbClr val="DC74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Calibri"/>
              </a:rPr>
              <a:t>KL + CE</a:t>
            </a:r>
          </a:p>
        </p:txBody>
      </p:sp>
      <p:sp>
        <p:nvSpPr>
          <p:cNvPr id="9" name="Rounded Rectangle 8"/>
          <p:cNvSpPr/>
          <p:nvPr/>
        </p:nvSpPr>
        <p:spPr>
          <a:xfrm>
            <a:off x="7955279" y="1371600"/>
            <a:ext cx="2240280" cy="1417320"/>
          </a:xfrm>
          <a:prstGeom prst="roundRect">
            <a:avLst/>
          </a:prstGeom>
          <a:solidFill>
            <a:srgbClr val="FFFFFF"/>
          </a:solidFill>
          <a:ln w="17780">
            <a:solidFill>
              <a:srgbClr val="1C915D"/>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800" b="1">
                <a:solidFill>
                  <a:srgbClr val="1C915D"/>
                </a:solidFill>
                <a:latin typeface="Calibri"/>
              </a:rPr>
              <a:t>Student</a:t>
            </a:r>
          </a:p>
          <a:p>
            <a:pPr>
              <a:spcAft>
                <a:spcPts val="400"/>
              </a:spcAft>
            </a:pPr>
            <a:r>
              <a:rPr sz="1300" b="0">
                <a:solidFill>
                  <a:srgbClr val="5C5C5C"/>
                </a:solidFill>
                <a:latin typeface="Calibri"/>
              </a:rPr>
              <a:t>Qwen2.5-7B / 14B</a:t>
            </a:r>
          </a:p>
          <a:p>
            <a:pPr>
              <a:spcAft>
                <a:spcPts val="400"/>
              </a:spcAft>
            </a:pPr>
            <a:r>
              <a:rPr sz="1300" b="0">
                <a:solidFill>
                  <a:srgbClr val="5C5C5C"/>
                </a:solidFill>
                <a:latin typeface="Calibri"/>
              </a:rPr>
              <a:t>Learns the final choice boundary</a:t>
            </a:r>
          </a:p>
          <a:p>
            <a:pPr>
              <a:spcAft>
                <a:spcPts val="400"/>
              </a:spcAft>
            </a:pPr>
            <a:r>
              <a:rPr sz="1300" b="0">
                <a:solidFill>
                  <a:srgbClr val="5C5C5C"/>
                </a:solidFill>
                <a:latin typeface="Calibri"/>
              </a:rPr>
              <a:t>More deployable</a:t>
            </a:r>
          </a:p>
        </p:txBody>
      </p:sp>
      <p:sp>
        <p:nvSpPr>
          <p:cNvPr id="10" name="Rounded Rectangle 9"/>
          <p:cNvSpPr/>
          <p:nvPr/>
        </p:nvSpPr>
        <p:spPr>
          <a:xfrm>
            <a:off x="777240" y="3154680"/>
            <a:ext cx="5623560" cy="2057400"/>
          </a:xfrm>
          <a:prstGeom prst="roundRect">
            <a:avLst/>
          </a:prstGeom>
          <a:solidFill>
            <a:srgbClr val="F7F7F7"/>
          </a:solidFill>
          <a:ln w="17780">
            <a:solidFill>
              <a:srgbClr val="008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008A96"/>
                </a:solidFill>
                <a:latin typeface="Calibri"/>
              </a:rPr>
              <a:t>Stage 1 objective</a:t>
            </a:r>
          </a:p>
          <a:p>
            <a:pPr>
              <a:spcBef>
                <a:spcPts val="800"/>
              </a:spcBef>
            </a:pPr>
            <a:r>
              <a:rPr sz="2400" b="1">
                <a:solidFill>
                  <a:srgbClr val="303030"/>
                </a:solidFill>
                <a:latin typeface="Calibri"/>
              </a:rPr>
              <a:t>L = alpha * KL(p_T || p_S) + (1 - alpha) * CE</a:t>
            </a:r>
          </a:p>
          <a:p>
            <a:pPr>
              <a:spcBef>
                <a:spcPts val="600"/>
              </a:spcBef>
            </a:pPr>
            <a:r>
              <a:rPr sz="1500" b="0">
                <a:solidFill>
                  <a:srgbClr val="5C5C5C"/>
                </a:solidFill>
                <a:latin typeface="Calibri"/>
              </a:rPr>
              <a:t>The student learns relative preferences across the five answer options instead of the entire token vocabulary.</a:t>
            </a:r>
          </a:p>
          <a:p>
            <a:pPr>
              <a:spcBef>
                <a:spcPts val="300"/>
              </a:spcBef>
            </a:pPr>
            <a:r>
              <a:rPr sz="1400" b="0">
                <a:solidFill>
                  <a:srgbClr val="5C5C5C"/>
                </a:solidFill>
                <a:latin typeface="Calibri"/>
              </a:rPr>
              <a:t>Main setting: one Stage 1 epoch with alpha = 0.35 for the best 14B run.</a:t>
            </a:r>
          </a:p>
        </p:txBody>
      </p:sp>
      <p:sp>
        <p:nvSpPr>
          <p:cNvPr id="11" name="Rounded Rectangle 10"/>
          <p:cNvSpPr/>
          <p:nvPr/>
        </p:nvSpPr>
        <p:spPr>
          <a:xfrm>
            <a:off x="6629400" y="3154680"/>
            <a:ext cx="3657600" cy="2057400"/>
          </a:xfrm>
          <a:prstGeom prst="roundRect">
            <a:avLst/>
          </a:prstGeom>
          <a:solidFill>
            <a:srgbClr val="E7EFF8"/>
          </a:solidFill>
          <a:ln w="17780">
            <a:solidFill>
              <a:srgbClr val="1F609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1F609C"/>
                </a:solidFill>
                <a:latin typeface="Calibri"/>
              </a:rPr>
              <a:t>Design intuition</a:t>
            </a:r>
          </a:p>
          <a:p>
            <a:r>
              <a:rPr sz="1500" b="0">
                <a:solidFill>
                  <a:srgbClr val="5C5C5C"/>
                </a:solidFill>
                <a:latin typeface="Calibri"/>
              </a:rPr>
              <a:t>Keep the part of teacher uncertainty that directly affects the final option.</a:t>
            </a:r>
          </a:p>
          <a:p>
            <a:r>
              <a:rPr sz="1500" b="0">
                <a:solidFill>
                  <a:srgbClr val="5C5C5C"/>
                </a:solidFill>
                <a:latin typeface="Calibri"/>
              </a:rPr>
              <a:t>Drop supervision dimensions that do not matter for a five-choice decision.</a:t>
            </a:r>
          </a:p>
          <a:p>
            <a:pPr>
              <a:spcBef>
                <a:spcPts val="500"/>
              </a:spcBef>
            </a:pPr>
            <a:r>
              <a:rPr sz="1400" b="1">
                <a:solidFill>
                  <a:srgbClr val="1F609C"/>
                </a:solidFill>
                <a:latin typeface="Calibri"/>
              </a:rPr>
              <a:t>This is why the method stays lightweight while remaining competitive.</a:t>
            </a:r>
          </a:p>
        </p:txBody>
      </p:sp>
      <p:sp>
        <p:nvSpPr>
          <p:cNvPr id="12" name="Rectangle 11"/>
          <p:cNvSpPr/>
          <p:nvPr/>
        </p:nvSpPr>
        <p:spPr>
          <a:xfrm>
            <a:off x="0" y="6400800"/>
            <a:ext cx="12179300" cy="457200"/>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03320" y="6501384"/>
            <a:ext cx="4023360" cy="228600"/>
          </a:xfrm>
          <a:prstGeom prst="rect">
            <a:avLst/>
          </a:prstGeom>
          <a:noFill/>
        </p:spPr>
        <p:txBody>
          <a:bodyPr wrap="none" anchor="t">
            <a:spAutoFit/>
          </a:bodyPr>
          <a:lstStyle/>
          <a:p>
            <a:pPr algn="ctr"/>
            <a:r>
              <a:rPr sz="1500" b="0">
                <a:solidFill>
                  <a:srgbClr val="FFFFFF"/>
                </a:solidFill>
                <a:latin typeface="Calibri"/>
              </a:rPr>
              <a:t>AIEA 2026 Conference Presentation</a:t>
            </a:r>
          </a:p>
        </p:txBody>
      </p:sp>
      <p:sp>
        <p:nvSpPr>
          <p:cNvPr id="14" name="TextBox 13"/>
          <p:cNvSpPr txBox="1"/>
          <p:nvPr/>
        </p:nvSpPr>
        <p:spPr>
          <a:xfrm>
            <a:off x="11466068" y="6501384"/>
            <a:ext cx="457200" cy="228600"/>
          </a:xfrm>
          <a:prstGeom prst="rect">
            <a:avLst/>
          </a:prstGeom>
          <a:noFill/>
        </p:spPr>
        <p:txBody>
          <a:bodyPr wrap="none" anchor="t">
            <a:spAutoFit/>
          </a:bodyPr>
          <a:lstStyle/>
          <a:p>
            <a:pPr algn="r"/>
            <a:r>
              <a:rPr sz="1500" b="0">
                <a:solidFill>
                  <a:srgbClr val="FFFFFF"/>
                </a:solidFill>
                <a:latin typeface="Calibri"/>
              </a:rPr>
              <a:t>5/12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47472"/>
            <a:ext cx="731520" cy="457200"/>
          </a:xfrm>
          <a:prstGeom prst="rect">
            <a:avLst/>
          </a:prstGeom>
          <a:noFill/>
        </p:spPr>
        <p:txBody>
          <a:bodyPr wrap="none" anchor="t">
            <a:spAutoFit/>
          </a:bodyPr>
          <a:lstStyle/>
          <a:p>
            <a:pPr algn="l"/>
            <a:r>
              <a:rPr sz="3000" b="0">
                <a:solidFill>
                  <a:srgbClr val="9B1F23"/>
                </a:solidFill>
                <a:latin typeface="Calibri"/>
              </a:rPr>
              <a:t>04</a:t>
            </a:r>
          </a:p>
        </p:txBody>
      </p:sp>
      <p:sp>
        <p:nvSpPr>
          <p:cNvPr id="3" name="TextBox 2"/>
          <p:cNvSpPr txBox="1"/>
          <p:nvPr/>
        </p:nvSpPr>
        <p:spPr>
          <a:xfrm>
            <a:off x="1554480" y="310896"/>
            <a:ext cx="8046720" cy="548640"/>
          </a:xfrm>
          <a:prstGeom prst="rect">
            <a:avLst/>
          </a:prstGeom>
          <a:noFill/>
        </p:spPr>
        <p:txBody>
          <a:bodyPr wrap="none" anchor="t">
            <a:spAutoFit/>
          </a:bodyPr>
          <a:lstStyle/>
          <a:p>
            <a:pPr algn="l"/>
            <a:r>
              <a:rPr sz="2800" b="1">
                <a:solidFill>
                  <a:srgbClr val="303030"/>
                </a:solidFill>
                <a:latin typeface="Calibri"/>
              </a:rPr>
              <a:t>Why Choice-Head Matters</a:t>
            </a:r>
          </a:p>
        </p:txBody>
      </p:sp>
      <p:sp>
        <p:nvSpPr>
          <p:cNvPr id="4" name="Rectangle 3"/>
          <p:cNvSpPr/>
          <p:nvPr/>
        </p:nvSpPr>
        <p:spPr>
          <a:xfrm>
            <a:off x="749808" y="1042415"/>
            <a:ext cx="1874519" cy="36576"/>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463040"/>
            <a:ext cx="2194560" cy="1143000"/>
          </a:xfrm>
          <a:prstGeom prst="roundRect">
            <a:avLst/>
          </a:prstGeom>
          <a:solidFill>
            <a:srgbClr val="F7F7F7"/>
          </a:solidFill>
          <a:ln w="17780">
            <a:solidFill>
              <a:srgbClr val="008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08A96"/>
                </a:solidFill>
                <a:latin typeface="Calibri"/>
              </a:rPr>
              <a:t>Alignment</a:t>
            </a:r>
          </a:p>
          <a:p>
            <a:pPr>
              <a:spcBef>
                <a:spcPts val="500"/>
              </a:spcBef>
            </a:pPr>
            <a:r>
              <a:rPr sz="2400" b="1">
                <a:solidFill>
                  <a:srgbClr val="303030"/>
                </a:solidFill>
                <a:latin typeface="Calibri"/>
              </a:rPr>
              <a:t>Task-Specific</a:t>
            </a:r>
          </a:p>
          <a:p>
            <a:pPr>
              <a:spcBef>
                <a:spcPts val="200"/>
              </a:spcBef>
            </a:pPr>
            <a:r>
              <a:rPr sz="1100" b="0">
                <a:solidFill>
                  <a:srgbClr val="5C5C5C"/>
                </a:solidFill>
                <a:latin typeface="Calibri"/>
              </a:rPr>
              <a:t>Supervision follows the five-option structure</a:t>
            </a:r>
          </a:p>
        </p:txBody>
      </p:sp>
      <p:sp>
        <p:nvSpPr>
          <p:cNvPr id="6" name="Rounded Rectangle 5"/>
          <p:cNvSpPr/>
          <p:nvPr/>
        </p:nvSpPr>
        <p:spPr>
          <a:xfrm>
            <a:off x="3246120" y="1463040"/>
            <a:ext cx="2194560" cy="1143000"/>
          </a:xfrm>
          <a:prstGeom prst="roundRect">
            <a:avLst/>
          </a:prstGeom>
          <a:solidFill>
            <a:srgbClr val="F7F7F7"/>
          </a:solidFill>
          <a:ln w="17780">
            <a:solidFill>
              <a:srgbClr val="DC741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DC741A"/>
                </a:solidFill>
                <a:latin typeface="Calibri"/>
              </a:rPr>
              <a:t>Efficiency</a:t>
            </a:r>
          </a:p>
          <a:p>
            <a:pPr>
              <a:spcBef>
                <a:spcPts val="500"/>
              </a:spcBef>
            </a:pPr>
            <a:r>
              <a:rPr sz="2400" b="1">
                <a:solidFill>
                  <a:srgbClr val="303030"/>
                </a:solidFill>
                <a:latin typeface="Calibri"/>
              </a:rPr>
              <a:t>Lower Cost</a:t>
            </a:r>
          </a:p>
          <a:p>
            <a:pPr>
              <a:spcBef>
                <a:spcPts val="200"/>
              </a:spcBef>
            </a:pPr>
            <a:r>
              <a:rPr sz="1100" b="0">
                <a:solidFill>
                  <a:srgbClr val="5C5C5C"/>
                </a:solidFill>
                <a:latin typeface="Calibri"/>
              </a:rPr>
              <a:t>Less redundant training and memory usage</a:t>
            </a:r>
          </a:p>
        </p:txBody>
      </p:sp>
      <p:sp>
        <p:nvSpPr>
          <p:cNvPr id="7" name="Rounded Rectangle 6"/>
          <p:cNvSpPr/>
          <p:nvPr/>
        </p:nvSpPr>
        <p:spPr>
          <a:xfrm>
            <a:off x="5715000" y="1463040"/>
            <a:ext cx="2194560" cy="1143000"/>
          </a:xfrm>
          <a:prstGeom prst="roundRect">
            <a:avLst/>
          </a:prstGeom>
          <a:solidFill>
            <a:srgbClr val="F7F7F7"/>
          </a:solidFill>
          <a:ln w="17780">
            <a:solidFill>
              <a:srgbClr val="1F609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F609C"/>
                </a:solidFill>
                <a:latin typeface="Calibri"/>
              </a:rPr>
              <a:t>Teacher Access</a:t>
            </a:r>
          </a:p>
          <a:p>
            <a:pPr>
              <a:spcBef>
                <a:spcPts val="500"/>
              </a:spcBef>
            </a:pPr>
            <a:r>
              <a:rPr sz="2400" b="1">
                <a:solidFill>
                  <a:srgbClr val="303030"/>
                </a:solidFill>
                <a:latin typeface="Calibri"/>
              </a:rPr>
              <a:t>Black-Box Friendly</a:t>
            </a:r>
          </a:p>
          <a:p>
            <a:pPr>
              <a:spcBef>
                <a:spcPts val="200"/>
              </a:spcBef>
            </a:pPr>
            <a:r>
              <a:rPr sz="1100" b="0">
                <a:solidFill>
                  <a:srgbClr val="5C5C5C"/>
                </a:solidFill>
                <a:latin typeface="Calibri"/>
              </a:rPr>
              <a:t>Works with API-only teachers</a:t>
            </a:r>
          </a:p>
        </p:txBody>
      </p:sp>
      <p:sp>
        <p:nvSpPr>
          <p:cNvPr id="8" name="Rounded Rectangle 7"/>
          <p:cNvSpPr/>
          <p:nvPr/>
        </p:nvSpPr>
        <p:spPr>
          <a:xfrm>
            <a:off x="8183879" y="1463040"/>
            <a:ext cx="2194560" cy="1143000"/>
          </a:xfrm>
          <a:prstGeom prst="roundRect">
            <a:avLst/>
          </a:prstGeom>
          <a:solidFill>
            <a:srgbClr val="F7F7F7"/>
          </a:solidFill>
          <a:ln w="17780">
            <a:solidFill>
              <a:srgbClr val="1C915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C915D"/>
                </a:solidFill>
                <a:latin typeface="Calibri"/>
              </a:rPr>
              <a:t>Transfer Signal</a:t>
            </a:r>
          </a:p>
          <a:p>
            <a:pPr>
              <a:spcBef>
                <a:spcPts val="500"/>
              </a:spcBef>
            </a:pPr>
            <a:r>
              <a:rPr sz="2400" b="1">
                <a:solidFill>
                  <a:srgbClr val="303030"/>
                </a:solidFill>
                <a:latin typeface="Calibri"/>
              </a:rPr>
              <a:t>Useful Uncertainty</a:t>
            </a:r>
          </a:p>
          <a:p>
            <a:pPr>
              <a:spcBef>
                <a:spcPts val="200"/>
              </a:spcBef>
            </a:pPr>
            <a:r>
              <a:rPr sz="1100" b="0">
                <a:solidFill>
                  <a:srgbClr val="5C5C5C"/>
                </a:solidFill>
                <a:latin typeface="Calibri"/>
              </a:rPr>
              <a:t>Preserves option-level confusion structure</a:t>
            </a:r>
          </a:p>
        </p:txBody>
      </p:sp>
      <p:sp>
        <p:nvSpPr>
          <p:cNvPr id="9" name="Rounded Rectangle 8"/>
          <p:cNvSpPr/>
          <p:nvPr/>
        </p:nvSpPr>
        <p:spPr>
          <a:xfrm>
            <a:off x="960120" y="3063240"/>
            <a:ext cx="9144000" cy="1005840"/>
          </a:xfrm>
          <a:prstGeom prst="roundRect">
            <a:avLst/>
          </a:prstGeom>
          <a:solidFill>
            <a:srgbClr val="E7EFF8"/>
          </a:solidFill>
          <a:ln w="17780">
            <a:solidFill>
              <a:srgbClr val="008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1F609C"/>
                </a:solidFill>
                <a:latin typeface="Calibri"/>
              </a:rPr>
              <a:t>The method changes distillation from a generic language-model compression problem into a task-specific decision transfer problem.</a:t>
            </a:r>
          </a:p>
        </p:txBody>
      </p:sp>
      <p:sp>
        <p:nvSpPr>
          <p:cNvPr id="10" name="TextBox 9"/>
          <p:cNvSpPr txBox="1"/>
          <p:nvPr/>
        </p:nvSpPr>
        <p:spPr>
          <a:xfrm>
            <a:off x="1097280" y="4389120"/>
            <a:ext cx="8778240" cy="1280160"/>
          </a:xfrm>
          <a:prstGeom prst="rect">
            <a:avLst/>
          </a:prstGeom>
          <a:noFill/>
        </p:spPr>
        <p:txBody>
          <a:bodyPr wrap="none">
            <a:spAutoFit/>
          </a:bodyPr>
          <a:lstStyle/>
          <a:p>
            <a:pPr algn="l">
              <a:spcAft>
                <a:spcPts val="800"/>
              </a:spcAft>
            </a:pPr>
            <a:r>
              <a:rPr sz="1800" b="0">
                <a:solidFill>
                  <a:srgbClr val="303030"/>
                </a:solidFill>
                <a:latin typeface="Calibri"/>
              </a:rPr>
              <a:t>Better aligned supervision often matters more than a more complicated pipeline.</a:t>
            </a:r>
          </a:p>
          <a:p>
            <a:pPr algn="l">
              <a:spcAft>
                <a:spcPts val="800"/>
              </a:spcAft>
            </a:pPr>
            <a:r>
              <a:rPr sz="1800" b="0">
                <a:solidFill>
                  <a:srgbClr val="303030"/>
                </a:solidFill>
                <a:latin typeface="Calibri"/>
              </a:rPr>
              <a:t>For structured MCQs, the decision-space target is a cleaner and more deployable abstraction.</a:t>
            </a:r>
          </a:p>
        </p:txBody>
      </p:sp>
      <p:sp>
        <p:nvSpPr>
          <p:cNvPr id="11" name="Rectangle 10"/>
          <p:cNvSpPr/>
          <p:nvPr/>
        </p:nvSpPr>
        <p:spPr>
          <a:xfrm>
            <a:off x="0" y="6400800"/>
            <a:ext cx="12179300" cy="457200"/>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501384"/>
            <a:ext cx="4023360" cy="228600"/>
          </a:xfrm>
          <a:prstGeom prst="rect">
            <a:avLst/>
          </a:prstGeom>
          <a:noFill/>
        </p:spPr>
        <p:txBody>
          <a:bodyPr wrap="none" anchor="t">
            <a:spAutoFit/>
          </a:bodyPr>
          <a:lstStyle/>
          <a:p>
            <a:pPr algn="ctr"/>
            <a:r>
              <a:rPr sz="1500" b="0">
                <a:solidFill>
                  <a:srgbClr val="FFFFFF"/>
                </a:solidFill>
                <a:latin typeface="Calibri"/>
              </a:rPr>
              <a:t>AIEA 2026 Conference Presentation</a:t>
            </a:r>
          </a:p>
        </p:txBody>
      </p:sp>
      <p:sp>
        <p:nvSpPr>
          <p:cNvPr id="13" name="TextBox 12"/>
          <p:cNvSpPr txBox="1"/>
          <p:nvPr/>
        </p:nvSpPr>
        <p:spPr>
          <a:xfrm>
            <a:off x="11466068" y="6501384"/>
            <a:ext cx="457200" cy="228600"/>
          </a:xfrm>
          <a:prstGeom prst="rect">
            <a:avLst/>
          </a:prstGeom>
          <a:noFill/>
        </p:spPr>
        <p:txBody>
          <a:bodyPr wrap="none" anchor="t">
            <a:spAutoFit/>
          </a:bodyPr>
          <a:lstStyle/>
          <a:p>
            <a:pPr algn="r"/>
            <a:r>
              <a:rPr sz="1500" b="0">
                <a:solidFill>
                  <a:srgbClr val="FFFFFF"/>
                </a:solidFill>
                <a:latin typeface="Calibri"/>
              </a:rPr>
              <a:t>6/12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47472"/>
            <a:ext cx="731520" cy="457200"/>
          </a:xfrm>
          <a:prstGeom prst="rect">
            <a:avLst/>
          </a:prstGeom>
          <a:noFill/>
        </p:spPr>
        <p:txBody>
          <a:bodyPr wrap="none" anchor="t">
            <a:spAutoFit/>
          </a:bodyPr>
          <a:lstStyle/>
          <a:p>
            <a:pPr algn="l"/>
            <a:r>
              <a:rPr sz="3000" b="0">
                <a:solidFill>
                  <a:srgbClr val="9B1F23"/>
                </a:solidFill>
                <a:latin typeface="Calibri"/>
              </a:rPr>
              <a:t>05</a:t>
            </a:r>
          </a:p>
        </p:txBody>
      </p:sp>
      <p:sp>
        <p:nvSpPr>
          <p:cNvPr id="3" name="TextBox 2"/>
          <p:cNvSpPr txBox="1"/>
          <p:nvPr/>
        </p:nvSpPr>
        <p:spPr>
          <a:xfrm>
            <a:off x="1554480" y="310896"/>
            <a:ext cx="8046720" cy="548640"/>
          </a:xfrm>
          <a:prstGeom prst="rect">
            <a:avLst/>
          </a:prstGeom>
          <a:noFill/>
        </p:spPr>
        <p:txBody>
          <a:bodyPr wrap="none" anchor="t">
            <a:spAutoFit/>
          </a:bodyPr>
          <a:lstStyle/>
          <a:p>
            <a:pPr algn="l"/>
            <a:r>
              <a:rPr sz="2800" b="1">
                <a:solidFill>
                  <a:srgbClr val="303030"/>
                </a:solidFill>
                <a:latin typeface="Calibri"/>
              </a:rPr>
              <a:t>Experimental Setup</a:t>
            </a:r>
          </a:p>
        </p:txBody>
      </p:sp>
      <p:sp>
        <p:nvSpPr>
          <p:cNvPr id="4" name="Rectangle 3"/>
          <p:cNvSpPr/>
          <p:nvPr/>
        </p:nvSpPr>
        <p:spPr>
          <a:xfrm>
            <a:off x="749808" y="1042415"/>
            <a:ext cx="1874519" cy="36576"/>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417320"/>
            <a:ext cx="2240280" cy="1097280"/>
          </a:xfrm>
          <a:prstGeom prst="roundRect">
            <a:avLst/>
          </a:prstGeom>
          <a:solidFill>
            <a:srgbClr val="F7F7F7"/>
          </a:solidFill>
          <a:ln w="17780">
            <a:solidFill>
              <a:srgbClr val="008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08A96"/>
                </a:solidFill>
                <a:latin typeface="Calibri"/>
              </a:rPr>
              <a:t>Dataset</a:t>
            </a:r>
          </a:p>
          <a:p>
            <a:pPr>
              <a:spcBef>
                <a:spcPts val="500"/>
              </a:spcBef>
            </a:pPr>
            <a:r>
              <a:rPr sz="2400" b="1">
                <a:solidFill>
                  <a:srgbClr val="303030"/>
                </a:solidFill>
                <a:latin typeface="Calibri"/>
              </a:rPr>
              <a:t>6,591 Questions</a:t>
            </a:r>
          </a:p>
          <a:p>
            <a:pPr>
              <a:spcBef>
                <a:spcPts val="200"/>
              </a:spcBef>
            </a:pPr>
            <a:r>
              <a:rPr sz="1100" b="0">
                <a:solidFill>
                  <a:srgbClr val="5C5C5C"/>
                </a:solidFill>
                <a:latin typeface="Calibri"/>
              </a:rPr>
              <a:t>CMExam-based single-choice resplit</a:t>
            </a:r>
          </a:p>
        </p:txBody>
      </p:sp>
      <p:sp>
        <p:nvSpPr>
          <p:cNvPr id="6" name="Rounded Rectangle 5"/>
          <p:cNvSpPr/>
          <p:nvPr/>
        </p:nvSpPr>
        <p:spPr>
          <a:xfrm>
            <a:off x="3200400" y="1417320"/>
            <a:ext cx="2240280" cy="1097280"/>
          </a:xfrm>
          <a:prstGeom prst="roundRect">
            <a:avLst/>
          </a:prstGeom>
          <a:solidFill>
            <a:srgbClr val="F7F7F7"/>
          </a:solidFill>
          <a:ln w="17780">
            <a:solidFill>
              <a:srgbClr val="DC741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DC741A"/>
                </a:solidFill>
                <a:latin typeface="Calibri"/>
              </a:rPr>
              <a:t>Splits</a:t>
            </a:r>
          </a:p>
          <a:p>
            <a:pPr>
              <a:spcBef>
                <a:spcPts val="500"/>
              </a:spcBef>
            </a:pPr>
            <a:r>
              <a:rPr sz="2400" b="1">
                <a:solidFill>
                  <a:srgbClr val="303030"/>
                </a:solidFill>
                <a:latin typeface="Calibri"/>
              </a:rPr>
              <a:t>4608 / 991 / 991</a:t>
            </a:r>
          </a:p>
          <a:p>
            <a:pPr>
              <a:spcBef>
                <a:spcPts val="200"/>
              </a:spcBef>
            </a:pPr>
            <a:r>
              <a:rPr sz="1100" b="0">
                <a:solidFill>
                  <a:srgbClr val="5C5C5C"/>
                </a:solidFill>
                <a:latin typeface="Calibri"/>
              </a:rPr>
              <a:t>Train / Val / Test</a:t>
            </a:r>
          </a:p>
        </p:txBody>
      </p:sp>
      <p:sp>
        <p:nvSpPr>
          <p:cNvPr id="7" name="Rounded Rectangle 6"/>
          <p:cNvSpPr/>
          <p:nvPr/>
        </p:nvSpPr>
        <p:spPr>
          <a:xfrm>
            <a:off x="5623560" y="1417320"/>
            <a:ext cx="2240280" cy="1097280"/>
          </a:xfrm>
          <a:prstGeom prst="roundRect">
            <a:avLst/>
          </a:prstGeom>
          <a:solidFill>
            <a:srgbClr val="F7F7F7"/>
          </a:solidFill>
          <a:ln w="17780">
            <a:solidFill>
              <a:srgbClr val="1C915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C915D"/>
                </a:solidFill>
                <a:latin typeface="Calibri"/>
              </a:rPr>
              <a:t>Students</a:t>
            </a:r>
          </a:p>
          <a:p>
            <a:pPr>
              <a:spcBef>
                <a:spcPts val="500"/>
              </a:spcBef>
            </a:pPr>
            <a:r>
              <a:rPr sz="2400" b="1">
                <a:solidFill>
                  <a:srgbClr val="303030"/>
                </a:solidFill>
                <a:latin typeface="Calibri"/>
              </a:rPr>
              <a:t>Qwen2.5 7B / 14B</a:t>
            </a:r>
          </a:p>
          <a:p>
            <a:pPr>
              <a:spcBef>
                <a:spcPts val="200"/>
              </a:spcBef>
            </a:pPr>
            <a:r>
              <a:rPr sz="1100" b="0">
                <a:solidFill>
                  <a:srgbClr val="5C5C5C"/>
                </a:solidFill>
                <a:latin typeface="Calibri"/>
              </a:rPr>
              <a:t>LoRA fine-tuning</a:t>
            </a:r>
          </a:p>
        </p:txBody>
      </p:sp>
      <p:sp>
        <p:nvSpPr>
          <p:cNvPr id="8" name="Rounded Rectangle 7"/>
          <p:cNvSpPr/>
          <p:nvPr/>
        </p:nvSpPr>
        <p:spPr>
          <a:xfrm>
            <a:off x="8046720" y="1417320"/>
            <a:ext cx="2240280" cy="1097280"/>
          </a:xfrm>
          <a:prstGeom prst="roundRect">
            <a:avLst/>
          </a:prstGeom>
          <a:solidFill>
            <a:srgbClr val="F7F7F7"/>
          </a:solidFill>
          <a:ln w="17780">
            <a:solidFill>
              <a:srgbClr val="1F609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F609C"/>
                </a:solidFill>
                <a:latin typeface="Calibri"/>
              </a:rPr>
              <a:t>Teacher</a:t>
            </a:r>
          </a:p>
          <a:p>
            <a:pPr>
              <a:spcBef>
                <a:spcPts val="500"/>
              </a:spcBef>
            </a:pPr>
            <a:r>
              <a:rPr sz="2400" b="1">
                <a:solidFill>
                  <a:srgbClr val="303030"/>
                </a:solidFill>
                <a:latin typeface="Calibri"/>
              </a:rPr>
              <a:t>DeepSeek-V3</a:t>
            </a:r>
          </a:p>
          <a:p>
            <a:pPr>
              <a:spcBef>
                <a:spcPts val="200"/>
              </a:spcBef>
            </a:pPr>
            <a:r>
              <a:rPr sz="1100" b="0">
                <a:solidFill>
                  <a:srgbClr val="5C5C5C"/>
                </a:solidFill>
                <a:latin typeface="Calibri"/>
              </a:rPr>
              <a:t>87.18% on the 991-question test</a:t>
            </a:r>
          </a:p>
        </p:txBody>
      </p:sp>
      <p:sp>
        <p:nvSpPr>
          <p:cNvPr id="9" name="Rounded Rectangle 8"/>
          <p:cNvSpPr/>
          <p:nvPr/>
        </p:nvSpPr>
        <p:spPr>
          <a:xfrm>
            <a:off x="777240" y="2788920"/>
            <a:ext cx="4754880" cy="2377440"/>
          </a:xfrm>
          <a:prstGeom prst="roundRect">
            <a:avLst/>
          </a:prstGeom>
          <a:solidFill>
            <a:srgbClr val="FFFFFF"/>
          </a:solidFill>
          <a:ln w="17780">
            <a:solidFill>
              <a:srgbClr val="008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008A96"/>
                </a:solidFill>
                <a:latin typeface="Calibri"/>
              </a:rPr>
              <a:t>Evaluation scope</a:t>
            </a:r>
          </a:p>
          <a:p>
            <a:r>
              <a:rPr sz="1600" b="0">
                <a:solidFill>
                  <a:srgbClr val="5C5C5C"/>
                </a:solidFill>
                <a:latin typeface="Calibri"/>
              </a:rPr>
              <a:t>Main benchmark: 991-question full-data test set</a:t>
            </a:r>
          </a:p>
          <a:p>
            <a:r>
              <a:rPr sz="1600" b="0">
                <a:solidFill>
                  <a:srgbClr val="5C5C5C"/>
                </a:solidFill>
                <a:latin typeface="Calibri"/>
              </a:rPr>
              <a:t>Dental subset retained for specialty-focused validation</a:t>
            </a:r>
          </a:p>
          <a:p>
            <a:r>
              <a:rPr sz="1600" b="0">
                <a:solidFill>
                  <a:srgbClr val="5C5C5C"/>
                </a:solidFill>
                <a:latin typeface="Calibri"/>
              </a:rPr>
              <a:t>Large-scale resplit makes the main conclusion more stable</a:t>
            </a:r>
          </a:p>
        </p:txBody>
      </p:sp>
      <p:sp>
        <p:nvSpPr>
          <p:cNvPr id="10" name="Rounded Rectangle 9"/>
          <p:cNvSpPr/>
          <p:nvPr/>
        </p:nvSpPr>
        <p:spPr>
          <a:xfrm>
            <a:off x="5760720" y="2788920"/>
            <a:ext cx="4572000" cy="2377440"/>
          </a:xfrm>
          <a:prstGeom prst="roundRect">
            <a:avLst/>
          </a:prstGeom>
          <a:solidFill>
            <a:srgbClr val="FFFFFF"/>
          </a:solidFill>
          <a:ln w="17780">
            <a:solidFill>
              <a:srgbClr val="DC741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DC741A"/>
                </a:solidFill>
                <a:latin typeface="Calibri"/>
              </a:rPr>
              <a:t>Training setup</a:t>
            </a:r>
          </a:p>
          <a:p>
            <a:r>
              <a:rPr sz="1600" b="0">
                <a:solidFill>
                  <a:srgbClr val="5C5C5C"/>
                </a:solidFill>
                <a:latin typeface="Calibri"/>
              </a:rPr>
              <a:t>LoRA rank = 16, LoRA alpha = 32</a:t>
            </a:r>
          </a:p>
          <a:p>
            <a:r>
              <a:rPr sz="1600" b="0">
                <a:solidFill>
                  <a:srgbClr val="5C5C5C"/>
                </a:solidFill>
                <a:latin typeface="Calibri"/>
              </a:rPr>
              <a:t>Best 14B setting uses one Stage 1 epoch</a:t>
            </a:r>
          </a:p>
          <a:p>
            <a:r>
              <a:rPr sz="1600" b="0">
                <a:solidFill>
                  <a:srgbClr val="5C5C5C"/>
                </a:solidFill>
                <a:latin typeface="Calibri"/>
              </a:rPr>
              <a:t>Main learning rate: 1e-4</a:t>
            </a:r>
          </a:p>
          <a:p>
            <a:r>
              <a:rPr sz="1600" b="0">
                <a:solidFill>
                  <a:srgbClr val="5C5C5C"/>
                </a:solidFill>
                <a:latin typeface="Calibri"/>
              </a:rPr>
              <a:t>Stage 2 is tested but not required for the best 14B result</a:t>
            </a:r>
          </a:p>
        </p:txBody>
      </p:sp>
      <p:sp>
        <p:nvSpPr>
          <p:cNvPr id="11" name="Rectangle 10"/>
          <p:cNvSpPr/>
          <p:nvPr/>
        </p:nvSpPr>
        <p:spPr>
          <a:xfrm>
            <a:off x="0" y="6400800"/>
            <a:ext cx="12179300" cy="457200"/>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6501384"/>
            <a:ext cx="4023360" cy="228600"/>
          </a:xfrm>
          <a:prstGeom prst="rect">
            <a:avLst/>
          </a:prstGeom>
          <a:noFill/>
        </p:spPr>
        <p:txBody>
          <a:bodyPr wrap="none" anchor="t">
            <a:spAutoFit/>
          </a:bodyPr>
          <a:lstStyle/>
          <a:p>
            <a:pPr algn="ctr"/>
            <a:r>
              <a:rPr sz="1500" b="0">
                <a:solidFill>
                  <a:srgbClr val="FFFFFF"/>
                </a:solidFill>
                <a:latin typeface="Calibri"/>
              </a:rPr>
              <a:t>AIEA 2026 Conference Presentation</a:t>
            </a:r>
          </a:p>
        </p:txBody>
      </p:sp>
      <p:sp>
        <p:nvSpPr>
          <p:cNvPr id="13" name="TextBox 12"/>
          <p:cNvSpPr txBox="1"/>
          <p:nvPr/>
        </p:nvSpPr>
        <p:spPr>
          <a:xfrm>
            <a:off x="11466068" y="6501384"/>
            <a:ext cx="457200" cy="228600"/>
          </a:xfrm>
          <a:prstGeom prst="rect">
            <a:avLst/>
          </a:prstGeom>
          <a:noFill/>
        </p:spPr>
        <p:txBody>
          <a:bodyPr wrap="none" anchor="t">
            <a:spAutoFit/>
          </a:bodyPr>
          <a:lstStyle/>
          <a:p>
            <a:pPr algn="r"/>
            <a:r>
              <a:rPr sz="1500" b="0">
                <a:solidFill>
                  <a:srgbClr val="FFFFFF"/>
                </a:solidFill>
                <a:latin typeface="Calibri"/>
              </a:rPr>
              <a:t>7/12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47472"/>
            <a:ext cx="731520" cy="457200"/>
          </a:xfrm>
          <a:prstGeom prst="rect">
            <a:avLst/>
          </a:prstGeom>
          <a:noFill/>
        </p:spPr>
        <p:txBody>
          <a:bodyPr wrap="none" anchor="t">
            <a:spAutoFit/>
          </a:bodyPr>
          <a:lstStyle/>
          <a:p>
            <a:pPr algn="l"/>
            <a:r>
              <a:rPr sz="3000" b="0">
                <a:solidFill>
                  <a:srgbClr val="9B1F23"/>
                </a:solidFill>
                <a:latin typeface="Calibri"/>
              </a:rPr>
              <a:t>06</a:t>
            </a:r>
          </a:p>
        </p:txBody>
      </p:sp>
      <p:sp>
        <p:nvSpPr>
          <p:cNvPr id="3" name="TextBox 2"/>
          <p:cNvSpPr txBox="1"/>
          <p:nvPr/>
        </p:nvSpPr>
        <p:spPr>
          <a:xfrm>
            <a:off x="1554480" y="310896"/>
            <a:ext cx="8046720" cy="548640"/>
          </a:xfrm>
          <a:prstGeom prst="rect">
            <a:avLst/>
          </a:prstGeom>
          <a:noFill/>
        </p:spPr>
        <p:txBody>
          <a:bodyPr wrap="none" anchor="t">
            <a:spAutoFit/>
          </a:bodyPr>
          <a:lstStyle/>
          <a:p>
            <a:pPr algn="l"/>
            <a:r>
              <a:rPr sz="2800" b="1">
                <a:solidFill>
                  <a:srgbClr val="303030"/>
                </a:solidFill>
                <a:latin typeface="Calibri"/>
              </a:rPr>
              <a:t>Main Results</a:t>
            </a:r>
          </a:p>
        </p:txBody>
      </p:sp>
      <p:sp>
        <p:nvSpPr>
          <p:cNvPr id="4" name="Rectangle 3"/>
          <p:cNvSpPr/>
          <p:nvPr/>
        </p:nvSpPr>
        <p:spPr>
          <a:xfrm>
            <a:off x="749808" y="1042415"/>
            <a:ext cx="1874519" cy="36576"/>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417320"/>
            <a:ext cx="2240280" cy="1143000"/>
          </a:xfrm>
          <a:prstGeom prst="roundRect">
            <a:avLst/>
          </a:prstGeom>
          <a:solidFill>
            <a:srgbClr val="F7F7F7"/>
          </a:solidFill>
          <a:ln w="17780">
            <a:solidFill>
              <a:srgbClr val="9B1F2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9B1F23"/>
                </a:solidFill>
                <a:latin typeface="Calibri"/>
              </a:rPr>
              <a:t>Teacher</a:t>
            </a:r>
          </a:p>
          <a:p>
            <a:pPr>
              <a:spcBef>
                <a:spcPts val="500"/>
              </a:spcBef>
            </a:pPr>
            <a:r>
              <a:rPr sz="2400" b="1">
                <a:solidFill>
                  <a:srgbClr val="303030"/>
                </a:solidFill>
                <a:latin typeface="Calibri"/>
              </a:rPr>
              <a:t>87.18%</a:t>
            </a:r>
          </a:p>
          <a:p>
            <a:pPr>
              <a:spcBef>
                <a:spcPts val="200"/>
              </a:spcBef>
            </a:pPr>
            <a:r>
              <a:rPr sz="1100" b="0">
                <a:solidFill>
                  <a:srgbClr val="5C5C5C"/>
                </a:solidFill>
                <a:latin typeface="Calibri"/>
              </a:rPr>
              <a:t>DeepSeek-V3 on full-data test</a:t>
            </a:r>
          </a:p>
        </p:txBody>
      </p:sp>
      <p:sp>
        <p:nvSpPr>
          <p:cNvPr id="6" name="Rounded Rectangle 5"/>
          <p:cNvSpPr/>
          <p:nvPr/>
        </p:nvSpPr>
        <p:spPr>
          <a:xfrm>
            <a:off x="3246120" y="1417320"/>
            <a:ext cx="2240280" cy="1143000"/>
          </a:xfrm>
          <a:prstGeom prst="roundRect">
            <a:avLst/>
          </a:prstGeom>
          <a:solidFill>
            <a:srgbClr val="F7F7F7"/>
          </a:solidFill>
          <a:ln w="17780">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808080"/>
                </a:solidFill>
                <a:latin typeface="Calibri"/>
              </a:rPr>
              <a:t>14B Zero-Shot</a:t>
            </a:r>
          </a:p>
          <a:p>
            <a:pPr>
              <a:spcBef>
                <a:spcPts val="500"/>
              </a:spcBef>
            </a:pPr>
            <a:r>
              <a:rPr sz="2400" b="1">
                <a:solidFill>
                  <a:srgbClr val="303030"/>
                </a:solidFill>
                <a:latin typeface="Calibri"/>
              </a:rPr>
              <a:t>83.55%</a:t>
            </a:r>
          </a:p>
          <a:p>
            <a:pPr>
              <a:spcBef>
                <a:spcPts val="200"/>
              </a:spcBef>
            </a:pPr>
            <a:r>
              <a:rPr sz="1100" b="0">
                <a:solidFill>
                  <a:srgbClr val="5C5C5C"/>
                </a:solidFill>
                <a:latin typeface="Calibri"/>
              </a:rPr>
              <a:t>Base student without distillation</a:t>
            </a:r>
          </a:p>
        </p:txBody>
      </p:sp>
      <p:sp>
        <p:nvSpPr>
          <p:cNvPr id="7" name="Rounded Rectangle 6"/>
          <p:cNvSpPr/>
          <p:nvPr/>
        </p:nvSpPr>
        <p:spPr>
          <a:xfrm>
            <a:off x="5715000" y="1417320"/>
            <a:ext cx="2240280" cy="1143000"/>
          </a:xfrm>
          <a:prstGeom prst="roundRect">
            <a:avLst/>
          </a:prstGeom>
          <a:solidFill>
            <a:srgbClr val="F7F7F7"/>
          </a:solidFill>
          <a:ln w="17780">
            <a:solidFill>
              <a:srgbClr val="1F609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F609C"/>
                </a:solidFill>
                <a:latin typeface="Calibri"/>
              </a:rPr>
              <a:t>14B Distilled Mean</a:t>
            </a:r>
          </a:p>
          <a:p>
            <a:pPr>
              <a:spcBef>
                <a:spcPts val="500"/>
              </a:spcBef>
            </a:pPr>
            <a:r>
              <a:rPr sz="2400" b="1">
                <a:solidFill>
                  <a:srgbClr val="303030"/>
                </a:solidFill>
                <a:latin typeface="Calibri"/>
              </a:rPr>
              <a:t>88.67%</a:t>
            </a:r>
          </a:p>
          <a:p>
            <a:pPr>
              <a:spcBef>
                <a:spcPts val="200"/>
              </a:spcBef>
            </a:pPr>
            <a:r>
              <a:rPr sz="1100" b="0">
                <a:solidFill>
                  <a:srgbClr val="5C5C5C"/>
                </a:solidFill>
                <a:latin typeface="Calibri"/>
              </a:rPr>
              <a:t>Three-seed average</a:t>
            </a:r>
          </a:p>
        </p:txBody>
      </p:sp>
      <p:sp>
        <p:nvSpPr>
          <p:cNvPr id="8" name="Rounded Rectangle 7"/>
          <p:cNvSpPr/>
          <p:nvPr/>
        </p:nvSpPr>
        <p:spPr>
          <a:xfrm>
            <a:off x="8183879" y="1417320"/>
            <a:ext cx="2240280" cy="1143000"/>
          </a:xfrm>
          <a:prstGeom prst="roundRect">
            <a:avLst/>
          </a:prstGeom>
          <a:solidFill>
            <a:srgbClr val="F7F7F7"/>
          </a:solidFill>
          <a:ln w="17780">
            <a:solidFill>
              <a:srgbClr val="1C915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C915D"/>
                </a:solidFill>
                <a:latin typeface="Calibri"/>
              </a:rPr>
              <a:t>14B Distilled Best</a:t>
            </a:r>
          </a:p>
          <a:p>
            <a:pPr>
              <a:spcBef>
                <a:spcPts val="500"/>
              </a:spcBef>
            </a:pPr>
            <a:r>
              <a:rPr sz="2400" b="1">
                <a:solidFill>
                  <a:srgbClr val="303030"/>
                </a:solidFill>
                <a:latin typeface="Calibri"/>
              </a:rPr>
              <a:t>89.10%</a:t>
            </a:r>
          </a:p>
          <a:p>
            <a:pPr>
              <a:spcBef>
                <a:spcPts val="200"/>
              </a:spcBef>
            </a:pPr>
            <a:r>
              <a:rPr sz="1100" b="0">
                <a:solidFill>
                  <a:srgbClr val="5C5C5C"/>
                </a:solidFill>
                <a:latin typeface="Calibri"/>
              </a:rPr>
              <a:t>Best single run</a:t>
            </a:r>
          </a:p>
        </p:txBody>
      </p:sp>
      <p:sp>
        <p:nvSpPr>
          <p:cNvPr id="9" name="Rounded Rectangle 8"/>
          <p:cNvSpPr/>
          <p:nvPr/>
        </p:nvSpPr>
        <p:spPr>
          <a:xfrm>
            <a:off x="822960" y="2834640"/>
            <a:ext cx="5669280" cy="2423160"/>
          </a:xfrm>
          <a:prstGeom prst="roundRect">
            <a:avLst/>
          </a:prstGeom>
          <a:solidFill>
            <a:srgbClr val="FFFFFF"/>
          </a:solidFill>
          <a:ln w="17780">
            <a:solidFill>
              <a:srgbClr val="1F60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3163824"/>
            <a:ext cx="1508760" cy="228600"/>
          </a:xfrm>
          <a:prstGeom prst="rect">
            <a:avLst/>
          </a:prstGeom>
          <a:noFill/>
        </p:spPr>
        <p:txBody>
          <a:bodyPr wrap="none" anchor="t">
            <a:spAutoFit/>
          </a:bodyPr>
          <a:lstStyle/>
          <a:p>
            <a:pPr algn="l"/>
            <a:r>
              <a:rPr sz="1300" b="0">
                <a:solidFill>
                  <a:srgbClr val="303030"/>
                </a:solidFill>
                <a:latin typeface="Calibri"/>
              </a:rPr>
              <a:t>Teacher</a:t>
            </a:r>
          </a:p>
        </p:txBody>
      </p:sp>
      <p:sp>
        <p:nvSpPr>
          <p:cNvPr id="11" name="Rounded Rectangle 10"/>
          <p:cNvSpPr/>
          <p:nvPr/>
        </p:nvSpPr>
        <p:spPr>
          <a:xfrm>
            <a:off x="2788920" y="3182112"/>
            <a:ext cx="3703320" cy="301752"/>
          </a:xfrm>
          <a:prstGeom prst="roundRect">
            <a:avLst/>
          </a:prstGeom>
          <a:solidFill>
            <a:srgbClr val="E7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788920" y="3182112"/>
            <a:ext cx="2960253" cy="301752"/>
          </a:xfrm>
          <a:prstGeom prst="round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5392" y="3163824"/>
            <a:ext cx="685800" cy="228600"/>
          </a:xfrm>
          <a:prstGeom prst="rect">
            <a:avLst/>
          </a:prstGeom>
          <a:noFill/>
        </p:spPr>
        <p:txBody>
          <a:bodyPr wrap="none" anchor="t">
            <a:spAutoFit/>
          </a:bodyPr>
          <a:lstStyle/>
          <a:p>
            <a:pPr algn="l"/>
            <a:r>
              <a:rPr sz="1300" b="1">
                <a:solidFill>
                  <a:srgbClr val="9B1F23"/>
                </a:solidFill>
                <a:latin typeface="Calibri"/>
              </a:rPr>
              <a:t>87.18%</a:t>
            </a:r>
          </a:p>
        </p:txBody>
      </p:sp>
      <p:sp>
        <p:nvSpPr>
          <p:cNvPr id="14" name="TextBox 13"/>
          <p:cNvSpPr txBox="1"/>
          <p:nvPr/>
        </p:nvSpPr>
        <p:spPr>
          <a:xfrm>
            <a:off x="1143000" y="3657600"/>
            <a:ext cx="1508760" cy="228600"/>
          </a:xfrm>
          <a:prstGeom prst="rect">
            <a:avLst/>
          </a:prstGeom>
          <a:noFill/>
        </p:spPr>
        <p:txBody>
          <a:bodyPr wrap="none" anchor="t">
            <a:spAutoFit/>
          </a:bodyPr>
          <a:lstStyle/>
          <a:p>
            <a:pPr algn="l"/>
            <a:r>
              <a:rPr sz="1300" b="0">
                <a:solidFill>
                  <a:srgbClr val="303030"/>
                </a:solidFill>
                <a:latin typeface="Calibri"/>
              </a:rPr>
              <a:t>14B Zero-shot</a:t>
            </a:r>
          </a:p>
        </p:txBody>
      </p:sp>
      <p:sp>
        <p:nvSpPr>
          <p:cNvPr id="15" name="Rounded Rectangle 14"/>
          <p:cNvSpPr/>
          <p:nvPr/>
        </p:nvSpPr>
        <p:spPr>
          <a:xfrm>
            <a:off x="2788920" y="3675888"/>
            <a:ext cx="3703320" cy="301752"/>
          </a:xfrm>
          <a:prstGeom prst="roundRect">
            <a:avLst/>
          </a:prstGeom>
          <a:solidFill>
            <a:srgbClr val="E7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788920" y="3675888"/>
            <a:ext cx="1555394" cy="301752"/>
          </a:xfrm>
          <a:prstGeom prst="roundRect">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65392" y="3657600"/>
            <a:ext cx="685800" cy="228600"/>
          </a:xfrm>
          <a:prstGeom prst="rect">
            <a:avLst/>
          </a:prstGeom>
          <a:noFill/>
        </p:spPr>
        <p:txBody>
          <a:bodyPr wrap="none" anchor="t">
            <a:spAutoFit/>
          </a:bodyPr>
          <a:lstStyle/>
          <a:p>
            <a:pPr algn="l"/>
            <a:r>
              <a:rPr sz="1300" b="1">
                <a:solidFill>
                  <a:srgbClr val="808080"/>
                </a:solidFill>
                <a:latin typeface="Calibri"/>
              </a:rPr>
              <a:t>83.55%</a:t>
            </a:r>
          </a:p>
        </p:txBody>
      </p:sp>
      <p:sp>
        <p:nvSpPr>
          <p:cNvPr id="18" name="TextBox 17"/>
          <p:cNvSpPr txBox="1"/>
          <p:nvPr/>
        </p:nvSpPr>
        <p:spPr>
          <a:xfrm>
            <a:off x="1143000" y="4151376"/>
            <a:ext cx="1508760" cy="228600"/>
          </a:xfrm>
          <a:prstGeom prst="rect">
            <a:avLst/>
          </a:prstGeom>
          <a:noFill/>
        </p:spPr>
        <p:txBody>
          <a:bodyPr wrap="none" anchor="t">
            <a:spAutoFit/>
          </a:bodyPr>
          <a:lstStyle/>
          <a:p>
            <a:pPr algn="l"/>
            <a:r>
              <a:rPr sz="1300" b="0">
                <a:solidFill>
                  <a:srgbClr val="303030"/>
                </a:solidFill>
                <a:latin typeface="Calibri"/>
              </a:rPr>
              <a:t>14B Mean</a:t>
            </a:r>
          </a:p>
        </p:txBody>
      </p:sp>
      <p:sp>
        <p:nvSpPr>
          <p:cNvPr id="19" name="Rounded Rectangle 18"/>
          <p:cNvSpPr/>
          <p:nvPr/>
        </p:nvSpPr>
        <p:spPr>
          <a:xfrm>
            <a:off x="2788920" y="4169664"/>
            <a:ext cx="3703320" cy="301752"/>
          </a:xfrm>
          <a:prstGeom prst="roundRect">
            <a:avLst/>
          </a:prstGeom>
          <a:solidFill>
            <a:srgbClr val="E7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788920" y="4169664"/>
            <a:ext cx="3536904" cy="301752"/>
          </a:xfrm>
          <a:prstGeom prst="roundRect">
            <a:avLst/>
          </a:prstGeom>
          <a:solidFill>
            <a:srgbClr val="1F60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392" y="4151376"/>
            <a:ext cx="685800" cy="228600"/>
          </a:xfrm>
          <a:prstGeom prst="rect">
            <a:avLst/>
          </a:prstGeom>
          <a:noFill/>
        </p:spPr>
        <p:txBody>
          <a:bodyPr wrap="none" anchor="t">
            <a:spAutoFit/>
          </a:bodyPr>
          <a:lstStyle/>
          <a:p>
            <a:pPr algn="l"/>
            <a:r>
              <a:rPr sz="1300" b="1">
                <a:solidFill>
                  <a:srgbClr val="1F609C"/>
                </a:solidFill>
                <a:latin typeface="Calibri"/>
              </a:rPr>
              <a:t>88.67%</a:t>
            </a:r>
          </a:p>
        </p:txBody>
      </p:sp>
      <p:sp>
        <p:nvSpPr>
          <p:cNvPr id="22" name="TextBox 21"/>
          <p:cNvSpPr txBox="1"/>
          <p:nvPr/>
        </p:nvSpPr>
        <p:spPr>
          <a:xfrm>
            <a:off x="1143000" y="4645152"/>
            <a:ext cx="1508760" cy="228600"/>
          </a:xfrm>
          <a:prstGeom prst="rect">
            <a:avLst/>
          </a:prstGeom>
          <a:noFill/>
        </p:spPr>
        <p:txBody>
          <a:bodyPr wrap="none" anchor="t">
            <a:spAutoFit/>
          </a:bodyPr>
          <a:lstStyle/>
          <a:p>
            <a:pPr algn="l"/>
            <a:r>
              <a:rPr sz="1300" b="0">
                <a:solidFill>
                  <a:srgbClr val="303030"/>
                </a:solidFill>
                <a:latin typeface="Calibri"/>
              </a:rPr>
              <a:t>14B Best</a:t>
            </a:r>
          </a:p>
        </p:txBody>
      </p:sp>
      <p:sp>
        <p:nvSpPr>
          <p:cNvPr id="23" name="Rounded Rectangle 22"/>
          <p:cNvSpPr/>
          <p:nvPr/>
        </p:nvSpPr>
        <p:spPr>
          <a:xfrm>
            <a:off x="2788920" y="4663440"/>
            <a:ext cx="3703320" cy="301752"/>
          </a:xfrm>
          <a:prstGeom prst="roundRect">
            <a:avLst/>
          </a:prstGeom>
          <a:solidFill>
            <a:srgbClr val="E7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788920" y="4663440"/>
            <a:ext cx="3703320" cy="301752"/>
          </a:xfrm>
          <a:prstGeom prst="roundRect">
            <a:avLst/>
          </a:prstGeom>
          <a:solidFill>
            <a:srgbClr val="1C91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65392" y="4645152"/>
            <a:ext cx="685800" cy="228600"/>
          </a:xfrm>
          <a:prstGeom prst="rect">
            <a:avLst/>
          </a:prstGeom>
          <a:noFill/>
        </p:spPr>
        <p:txBody>
          <a:bodyPr wrap="none" anchor="t">
            <a:spAutoFit/>
          </a:bodyPr>
          <a:lstStyle/>
          <a:p>
            <a:pPr algn="l"/>
            <a:r>
              <a:rPr sz="1300" b="1">
                <a:solidFill>
                  <a:srgbClr val="1C915D"/>
                </a:solidFill>
                <a:latin typeface="Calibri"/>
              </a:rPr>
              <a:t>89.10%</a:t>
            </a:r>
          </a:p>
        </p:txBody>
      </p:sp>
      <p:sp>
        <p:nvSpPr>
          <p:cNvPr id="26" name="Rounded Rectangle 25"/>
          <p:cNvSpPr/>
          <p:nvPr/>
        </p:nvSpPr>
        <p:spPr>
          <a:xfrm>
            <a:off x="6720840" y="2834640"/>
            <a:ext cx="3657600" cy="1554480"/>
          </a:xfrm>
          <a:prstGeom prst="roundRect">
            <a:avLst/>
          </a:prstGeom>
          <a:solidFill>
            <a:srgbClr val="E7EFF8"/>
          </a:solidFill>
          <a:ln w="17780">
            <a:solidFill>
              <a:srgbClr val="1C915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1C915D"/>
                </a:solidFill>
                <a:latin typeface="Calibri"/>
              </a:rPr>
              <a:t>Takeaway</a:t>
            </a:r>
          </a:p>
          <a:p>
            <a:r>
              <a:rPr sz="1300" b="0">
                <a:solidFill>
                  <a:srgbClr val="5C5C5C"/>
                </a:solidFill>
                <a:latin typeface="Calibri"/>
              </a:rPr>
              <a:t>The distilled student gains 5.12 percentage points over the 14B zero-shot baseline on average.</a:t>
            </a:r>
          </a:p>
          <a:p>
            <a:r>
              <a:rPr sz="1300" b="0">
                <a:solidFill>
                  <a:srgbClr val="5C5C5C"/>
                </a:solidFill>
                <a:latin typeface="Calibri"/>
              </a:rPr>
              <a:t>The best 14B student exceeds the teacher on the same 991-question benchmark.</a:t>
            </a:r>
          </a:p>
          <a:p>
            <a:r>
              <a:rPr sz="1300" b="0">
                <a:solidFill>
                  <a:srgbClr val="5C5C5C"/>
                </a:solidFill>
                <a:latin typeface="Calibri"/>
              </a:rPr>
              <a:t>The 7B student also improves strongly, so the method is not tied to one model size.</a:t>
            </a:r>
          </a:p>
        </p:txBody>
      </p:sp>
      <p:sp>
        <p:nvSpPr>
          <p:cNvPr id="27" name="Rounded Rectangle 26"/>
          <p:cNvSpPr/>
          <p:nvPr/>
        </p:nvSpPr>
        <p:spPr>
          <a:xfrm>
            <a:off x="6720840" y="4553712"/>
            <a:ext cx="3657600" cy="868680"/>
          </a:xfrm>
          <a:prstGeom prst="roundRect">
            <a:avLst/>
          </a:prstGeom>
          <a:solidFill>
            <a:srgbClr val="FFFFFF"/>
          </a:solidFill>
          <a:ln w="17780">
            <a:solidFill>
              <a:srgbClr val="DC741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DC741A"/>
                </a:solidFill>
                <a:latin typeface="Calibri"/>
              </a:rPr>
              <a:t>How to read Table 1</a:t>
            </a:r>
          </a:p>
          <a:p>
            <a:r>
              <a:rPr sz="1100" b="0">
                <a:solidFill>
                  <a:srgbClr val="5C5C5C"/>
                </a:solidFill>
                <a:latin typeface="Calibri"/>
              </a:rPr>
              <a:t>Full Test = 991-question main benchmark; Dental Test = 125-question subset.</a:t>
            </a:r>
          </a:p>
          <a:p>
            <a:r>
              <a:rPr sz="1100" b="0">
                <a:solidFill>
                  <a:srgbClr val="5C5C5C"/>
                </a:solidFill>
                <a:latin typeface="Calibri"/>
              </a:rPr>
              <a:t>Zero-shot = no distillation; Mean = average runs; Best = strongest single run.</a:t>
            </a:r>
          </a:p>
        </p:txBody>
      </p:sp>
      <p:sp>
        <p:nvSpPr>
          <p:cNvPr id="28" name="Rounded Rectangle 27"/>
          <p:cNvSpPr/>
          <p:nvPr/>
        </p:nvSpPr>
        <p:spPr>
          <a:xfrm>
            <a:off x="7150608" y="5468112"/>
            <a:ext cx="2743200" cy="402336"/>
          </a:xfrm>
          <a:prstGeom prst="roundRect">
            <a:avLst/>
          </a:prstGeom>
          <a:solidFill>
            <a:srgbClr val="1C915D"/>
          </a:solidFill>
          <a:ln w="17780">
            <a:solidFill>
              <a:srgbClr val="1C915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+1.92 points vs teacher</a:t>
            </a:r>
          </a:p>
        </p:txBody>
      </p:sp>
      <p:sp>
        <p:nvSpPr>
          <p:cNvPr id="29" name="Rectangle 28"/>
          <p:cNvSpPr/>
          <p:nvPr/>
        </p:nvSpPr>
        <p:spPr>
          <a:xfrm>
            <a:off x="0" y="6400800"/>
            <a:ext cx="12179300" cy="457200"/>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03320" y="6501384"/>
            <a:ext cx="4023360" cy="228600"/>
          </a:xfrm>
          <a:prstGeom prst="rect">
            <a:avLst/>
          </a:prstGeom>
          <a:noFill/>
        </p:spPr>
        <p:txBody>
          <a:bodyPr wrap="none" anchor="t">
            <a:spAutoFit/>
          </a:bodyPr>
          <a:lstStyle/>
          <a:p>
            <a:pPr algn="ctr"/>
            <a:r>
              <a:rPr sz="1500" b="0">
                <a:solidFill>
                  <a:srgbClr val="FFFFFF"/>
                </a:solidFill>
                <a:latin typeface="Calibri"/>
              </a:rPr>
              <a:t>AIEA 2026 Conference Presentation</a:t>
            </a:r>
          </a:p>
        </p:txBody>
      </p:sp>
      <p:sp>
        <p:nvSpPr>
          <p:cNvPr id="31" name="TextBox 30"/>
          <p:cNvSpPr txBox="1"/>
          <p:nvPr/>
        </p:nvSpPr>
        <p:spPr>
          <a:xfrm>
            <a:off x="11466068" y="6501384"/>
            <a:ext cx="457200" cy="228600"/>
          </a:xfrm>
          <a:prstGeom prst="rect">
            <a:avLst/>
          </a:prstGeom>
          <a:noFill/>
        </p:spPr>
        <p:txBody>
          <a:bodyPr wrap="none" anchor="t">
            <a:spAutoFit/>
          </a:bodyPr>
          <a:lstStyle/>
          <a:p>
            <a:pPr algn="r"/>
            <a:r>
              <a:rPr sz="1500" b="0">
                <a:solidFill>
                  <a:srgbClr val="FFFFFF"/>
                </a:solidFill>
                <a:latin typeface="Calibri"/>
              </a:rPr>
              <a:t>8/12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47472"/>
            <a:ext cx="731520" cy="457200"/>
          </a:xfrm>
          <a:prstGeom prst="rect">
            <a:avLst/>
          </a:prstGeom>
          <a:noFill/>
        </p:spPr>
        <p:txBody>
          <a:bodyPr wrap="none" anchor="t">
            <a:spAutoFit/>
          </a:bodyPr>
          <a:lstStyle/>
          <a:p>
            <a:pPr algn="l"/>
            <a:r>
              <a:rPr sz="3000" b="0">
                <a:solidFill>
                  <a:srgbClr val="9B1F23"/>
                </a:solidFill>
                <a:latin typeface="Calibri"/>
              </a:rPr>
              <a:t>07</a:t>
            </a:r>
          </a:p>
        </p:txBody>
      </p:sp>
      <p:sp>
        <p:nvSpPr>
          <p:cNvPr id="3" name="TextBox 2"/>
          <p:cNvSpPr txBox="1"/>
          <p:nvPr/>
        </p:nvSpPr>
        <p:spPr>
          <a:xfrm>
            <a:off x="1554480" y="310896"/>
            <a:ext cx="8046720" cy="548640"/>
          </a:xfrm>
          <a:prstGeom prst="rect">
            <a:avLst/>
          </a:prstGeom>
          <a:noFill/>
        </p:spPr>
        <p:txBody>
          <a:bodyPr wrap="none" anchor="t">
            <a:spAutoFit/>
          </a:bodyPr>
          <a:lstStyle/>
          <a:p>
            <a:pPr algn="l"/>
            <a:r>
              <a:rPr sz="2800" b="1">
                <a:solidFill>
                  <a:srgbClr val="303030"/>
                </a:solidFill>
                <a:latin typeface="Calibri"/>
              </a:rPr>
              <a:t>Two Main Contributions</a:t>
            </a:r>
          </a:p>
        </p:txBody>
      </p:sp>
      <p:sp>
        <p:nvSpPr>
          <p:cNvPr id="4" name="Rectangle 3"/>
          <p:cNvSpPr/>
          <p:nvPr/>
        </p:nvSpPr>
        <p:spPr>
          <a:xfrm>
            <a:off x="749808" y="1042415"/>
            <a:ext cx="1874519" cy="36576"/>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600200"/>
            <a:ext cx="4526280" cy="3108960"/>
          </a:xfrm>
          <a:prstGeom prst="roundRect">
            <a:avLst/>
          </a:prstGeom>
          <a:solidFill>
            <a:srgbClr val="FFFFFF"/>
          </a:solidFill>
          <a:ln w="17780">
            <a:solidFill>
              <a:srgbClr val="008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300" b="1">
                <a:solidFill>
                  <a:srgbClr val="008A96"/>
                </a:solidFill>
                <a:latin typeface="Calibri"/>
              </a:rPr>
              <a:t>Contribution 1: Method</a:t>
            </a:r>
          </a:p>
          <a:p>
            <a:r>
              <a:rPr sz="1600" b="0">
                <a:solidFill>
                  <a:srgbClr val="5C5C5C"/>
                </a:solidFill>
                <a:latin typeface="Calibri"/>
              </a:rPr>
              <a:t>Introduces a task-aligned decision-space distillation framework for five-option medical MCQs.</a:t>
            </a:r>
          </a:p>
          <a:p>
            <a:r>
              <a:rPr sz="1600" b="0">
                <a:solidFill>
                  <a:srgbClr val="5C5C5C"/>
                </a:solidFill>
                <a:latin typeface="Calibri"/>
              </a:rPr>
              <a:t>Replaces generic vocabulary-space supervision with a cleaner option-level target.</a:t>
            </a:r>
          </a:p>
          <a:p>
            <a:r>
              <a:rPr sz="1600" b="0">
                <a:solidFill>
                  <a:srgbClr val="5C5C5C"/>
                </a:solidFill>
                <a:latin typeface="Calibri"/>
              </a:rPr>
              <a:t>Keeps the framework practical for both local and API teachers.</a:t>
            </a:r>
          </a:p>
        </p:txBody>
      </p:sp>
      <p:sp>
        <p:nvSpPr>
          <p:cNvPr id="6" name="Rounded Rectangle 5"/>
          <p:cNvSpPr/>
          <p:nvPr/>
        </p:nvSpPr>
        <p:spPr>
          <a:xfrm>
            <a:off x="5577840" y="1600200"/>
            <a:ext cx="4572000" cy="3108960"/>
          </a:xfrm>
          <a:prstGeom prst="roundRect">
            <a:avLst/>
          </a:prstGeom>
          <a:solidFill>
            <a:srgbClr val="FFFFFF"/>
          </a:solidFill>
          <a:ln w="17780">
            <a:solidFill>
              <a:srgbClr val="1C915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300" b="1">
                <a:solidFill>
                  <a:srgbClr val="1C915D"/>
                </a:solidFill>
                <a:latin typeface="Calibri"/>
              </a:rPr>
              <a:t>Contribution 2: Empirical Finding</a:t>
            </a:r>
          </a:p>
          <a:p>
            <a:r>
              <a:rPr sz="1600" b="0">
                <a:solidFill>
                  <a:srgbClr val="5C5C5C"/>
                </a:solidFill>
                <a:latin typeface="Calibri"/>
              </a:rPr>
              <a:t>Shows that a smaller student can outperform a stronger teacher under the task-aligned formulation.</a:t>
            </a:r>
          </a:p>
          <a:p>
            <a:r>
              <a:rPr sz="1600" b="0">
                <a:solidFill>
                  <a:srgbClr val="5C5C5C"/>
                </a:solidFill>
                <a:latin typeface="Calibri"/>
              </a:rPr>
              <a:t>Validates the result on a 991-question test set rather than only a tiny benchmark slice.</a:t>
            </a:r>
          </a:p>
          <a:p>
            <a:r>
              <a:rPr sz="1600" b="0">
                <a:solidFill>
                  <a:srgbClr val="5C5C5C"/>
                </a:solidFill>
                <a:latin typeface="Calibri"/>
              </a:rPr>
              <a:t>Frames the student-over-teacher effect as a consequence of better task alignment, not a distillation failure.</a:t>
            </a:r>
          </a:p>
        </p:txBody>
      </p:sp>
      <p:sp>
        <p:nvSpPr>
          <p:cNvPr id="7" name="Rectangle 6"/>
          <p:cNvSpPr/>
          <p:nvPr/>
        </p:nvSpPr>
        <p:spPr>
          <a:xfrm>
            <a:off x="0" y="6400800"/>
            <a:ext cx="12179300" cy="457200"/>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03320" y="6501384"/>
            <a:ext cx="4023360" cy="228600"/>
          </a:xfrm>
          <a:prstGeom prst="rect">
            <a:avLst/>
          </a:prstGeom>
          <a:noFill/>
        </p:spPr>
        <p:txBody>
          <a:bodyPr wrap="none" anchor="t">
            <a:spAutoFit/>
          </a:bodyPr>
          <a:lstStyle/>
          <a:p>
            <a:pPr algn="ctr"/>
            <a:r>
              <a:rPr sz="1500" b="0">
                <a:solidFill>
                  <a:srgbClr val="FFFFFF"/>
                </a:solidFill>
                <a:latin typeface="Calibri"/>
              </a:rPr>
              <a:t>AIEA 2026 Conference Presentation</a:t>
            </a:r>
          </a:p>
        </p:txBody>
      </p:sp>
      <p:sp>
        <p:nvSpPr>
          <p:cNvPr id="9" name="TextBox 8"/>
          <p:cNvSpPr txBox="1"/>
          <p:nvPr/>
        </p:nvSpPr>
        <p:spPr>
          <a:xfrm>
            <a:off x="11466068" y="6501384"/>
            <a:ext cx="457200" cy="228600"/>
          </a:xfrm>
          <a:prstGeom prst="rect">
            <a:avLst/>
          </a:prstGeom>
          <a:noFill/>
        </p:spPr>
        <p:txBody>
          <a:bodyPr wrap="none" anchor="t">
            <a:spAutoFit/>
          </a:bodyPr>
          <a:lstStyle/>
          <a:p>
            <a:pPr algn="r"/>
            <a:r>
              <a:rPr sz="1500" b="0">
                <a:solidFill>
                  <a:srgbClr val="FFFFFF"/>
                </a:solidFill>
                <a:latin typeface="Calibri"/>
              </a:rPr>
              <a:t>9/12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47472"/>
            <a:ext cx="731520" cy="457200"/>
          </a:xfrm>
          <a:prstGeom prst="rect">
            <a:avLst/>
          </a:prstGeom>
          <a:noFill/>
        </p:spPr>
        <p:txBody>
          <a:bodyPr wrap="none" anchor="t">
            <a:spAutoFit/>
          </a:bodyPr>
          <a:lstStyle/>
          <a:p>
            <a:pPr algn="l"/>
            <a:r>
              <a:rPr sz="3000" b="0">
                <a:solidFill>
                  <a:srgbClr val="9B1F23"/>
                </a:solidFill>
                <a:latin typeface="Calibri"/>
              </a:rPr>
              <a:t>08</a:t>
            </a:r>
          </a:p>
        </p:txBody>
      </p:sp>
      <p:sp>
        <p:nvSpPr>
          <p:cNvPr id="3" name="TextBox 2"/>
          <p:cNvSpPr txBox="1"/>
          <p:nvPr/>
        </p:nvSpPr>
        <p:spPr>
          <a:xfrm>
            <a:off x="1554480" y="310896"/>
            <a:ext cx="8046720" cy="548640"/>
          </a:xfrm>
          <a:prstGeom prst="rect">
            <a:avLst/>
          </a:prstGeom>
          <a:noFill/>
        </p:spPr>
        <p:txBody>
          <a:bodyPr wrap="none" anchor="t">
            <a:spAutoFit/>
          </a:bodyPr>
          <a:lstStyle/>
          <a:p>
            <a:pPr algn="l"/>
            <a:r>
              <a:rPr sz="2800" b="1">
                <a:solidFill>
                  <a:srgbClr val="303030"/>
                </a:solidFill>
                <a:latin typeface="Calibri"/>
              </a:rPr>
              <a:t>Discussion and Interpretation</a:t>
            </a:r>
          </a:p>
        </p:txBody>
      </p:sp>
      <p:sp>
        <p:nvSpPr>
          <p:cNvPr id="4" name="Rectangle 3"/>
          <p:cNvSpPr/>
          <p:nvPr/>
        </p:nvSpPr>
        <p:spPr>
          <a:xfrm>
            <a:off x="749808" y="1042415"/>
            <a:ext cx="1874519" cy="36576"/>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3063240" cy="1874519"/>
          </a:xfrm>
          <a:prstGeom prst="roundRect">
            <a:avLst/>
          </a:prstGeom>
          <a:solidFill>
            <a:srgbClr val="FFFFFF"/>
          </a:solidFill>
          <a:ln w="17780">
            <a:solidFill>
              <a:srgbClr val="DC741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800" b="1">
                <a:solidFill>
                  <a:srgbClr val="DC741A"/>
                </a:solidFill>
                <a:latin typeface="Calibri"/>
              </a:rPr>
              <a:t>Stage 2 is Not Always Better</a:t>
            </a:r>
          </a:p>
          <a:p>
            <a:pPr>
              <a:spcAft>
                <a:spcPts val="400"/>
              </a:spcAft>
            </a:pPr>
            <a:r>
              <a:rPr sz="1300" b="0">
                <a:solidFill>
                  <a:srgbClr val="5C5C5C"/>
                </a:solidFill>
                <a:latin typeface="Calibri"/>
              </a:rPr>
              <a:t>Helpful for some smaller students</a:t>
            </a:r>
          </a:p>
          <a:p>
            <a:pPr>
              <a:spcAft>
                <a:spcPts val="400"/>
              </a:spcAft>
            </a:pPr>
            <a:r>
              <a:rPr sz="1300" b="0">
                <a:solidFill>
                  <a:srgbClr val="5C5C5C"/>
                </a:solidFill>
                <a:latin typeface="Calibri"/>
              </a:rPr>
              <a:t>Can mildly hurt a strong 14B student</a:t>
            </a:r>
          </a:p>
          <a:p>
            <a:pPr>
              <a:spcAft>
                <a:spcPts val="400"/>
              </a:spcAft>
            </a:pPr>
            <a:r>
              <a:rPr sz="1300" b="0">
                <a:solidFill>
                  <a:srgbClr val="5C5C5C"/>
                </a:solidFill>
                <a:latin typeface="Calibri"/>
              </a:rPr>
              <a:t>Extra GT fine-tuning may erase soft-label structure</a:t>
            </a:r>
          </a:p>
        </p:txBody>
      </p:sp>
      <p:sp>
        <p:nvSpPr>
          <p:cNvPr id="6" name="Rounded Rectangle 5"/>
          <p:cNvSpPr/>
          <p:nvPr/>
        </p:nvSpPr>
        <p:spPr>
          <a:xfrm>
            <a:off x="3977639" y="1463040"/>
            <a:ext cx="3063240" cy="1874519"/>
          </a:xfrm>
          <a:prstGeom prst="roundRect">
            <a:avLst/>
          </a:prstGeom>
          <a:solidFill>
            <a:srgbClr val="FFFFFF"/>
          </a:solidFill>
          <a:ln w="17780">
            <a:solidFill>
              <a:srgbClr val="1C915D"/>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800" b="1">
                <a:solidFill>
                  <a:srgbClr val="1C915D"/>
                </a:solidFill>
                <a:latin typeface="Calibri"/>
              </a:rPr>
              <a:t>Why the Student Can Win</a:t>
            </a:r>
          </a:p>
          <a:p>
            <a:pPr>
              <a:spcAft>
                <a:spcPts val="400"/>
              </a:spcAft>
            </a:pPr>
            <a:r>
              <a:rPr sz="1300" b="0">
                <a:solidFill>
                  <a:srgbClr val="5C5C5C"/>
                </a:solidFill>
                <a:latin typeface="Calibri"/>
              </a:rPr>
              <a:t>Teacher soft labels provide structure</a:t>
            </a:r>
          </a:p>
          <a:p>
            <a:pPr>
              <a:spcAft>
                <a:spcPts val="400"/>
              </a:spcAft>
            </a:pPr>
            <a:r>
              <a:rPr sz="1300" b="0">
                <a:solidFill>
                  <a:srgbClr val="5C5C5C"/>
                </a:solidFill>
                <a:latin typeface="Calibri"/>
              </a:rPr>
              <a:t>Student is still optimized for the benchmark</a:t>
            </a:r>
          </a:p>
          <a:p>
            <a:pPr>
              <a:spcAft>
                <a:spcPts val="400"/>
              </a:spcAft>
            </a:pPr>
            <a:r>
              <a:rPr sz="1300" b="0">
                <a:solidFill>
                  <a:srgbClr val="5C5C5C"/>
                </a:solidFill>
                <a:latin typeface="Calibri"/>
              </a:rPr>
              <a:t>Task-aligned supervision sharpens the decision boundary</a:t>
            </a:r>
          </a:p>
        </p:txBody>
      </p:sp>
      <p:sp>
        <p:nvSpPr>
          <p:cNvPr id="7" name="Rounded Rectangle 6"/>
          <p:cNvSpPr/>
          <p:nvPr/>
        </p:nvSpPr>
        <p:spPr>
          <a:xfrm>
            <a:off x="7223760" y="1463040"/>
            <a:ext cx="3063240" cy="1874519"/>
          </a:xfrm>
          <a:prstGeom prst="roundRect">
            <a:avLst/>
          </a:prstGeom>
          <a:solidFill>
            <a:srgbClr val="FFFFFF"/>
          </a:solidFill>
          <a:ln w="17780">
            <a:solidFill>
              <a:srgbClr val="1F609C"/>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800" b="1">
                <a:solidFill>
                  <a:srgbClr val="1F609C"/>
                </a:solidFill>
                <a:latin typeface="Calibri"/>
              </a:rPr>
              <a:t>Broader Message</a:t>
            </a:r>
          </a:p>
          <a:p>
            <a:pPr>
              <a:spcAft>
                <a:spcPts val="400"/>
              </a:spcAft>
            </a:pPr>
            <a:r>
              <a:rPr sz="1300" b="0">
                <a:solidFill>
                  <a:srgbClr val="5C5C5C"/>
                </a:solidFill>
                <a:latin typeface="Calibri"/>
              </a:rPr>
              <a:t>More complexity is not the point</a:t>
            </a:r>
          </a:p>
          <a:p>
            <a:pPr>
              <a:spcAft>
                <a:spcPts val="400"/>
              </a:spcAft>
            </a:pPr>
            <a:r>
              <a:rPr sz="1300" b="0">
                <a:solidFill>
                  <a:srgbClr val="5C5C5C"/>
                </a:solidFill>
                <a:latin typeface="Calibri"/>
              </a:rPr>
              <a:t>The supervision target must fit the task</a:t>
            </a:r>
          </a:p>
          <a:p>
            <a:pPr>
              <a:spcAft>
                <a:spcPts val="400"/>
              </a:spcAft>
            </a:pPr>
            <a:r>
              <a:rPr sz="1300" b="0">
                <a:solidFill>
                  <a:srgbClr val="5C5C5C"/>
                </a:solidFill>
                <a:latin typeface="Calibri"/>
              </a:rPr>
              <a:t>Decision-space transfer can be a practical design rule</a:t>
            </a:r>
          </a:p>
        </p:txBody>
      </p:sp>
      <p:sp>
        <p:nvSpPr>
          <p:cNvPr id="8" name="Rounded Rectangle 7"/>
          <p:cNvSpPr/>
          <p:nvPr/>
        </p:nvSpPr>
        <p:spPr>
          <a:xfrm>
            <a:off x="868680" y="3794760"/>
            <a:ext cx="9418320" cy="1325880"/>
          </a:xfrm>
          <a:prstGeom prst="roundRect">
            <a:avLst/>
          </a:prstGeom>
          <a:solidFill>
            <a:srgbClr val="E7EFF8"/>
          </a:solidFill>
          <a:ln w="17780">
            <a:solidFill>
              <a:srgbClr val="008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1F609C"/>
                </a:solidFill>
                <a:latin typeface="Calibri"/>
              </a:rPr>
              <a:t>For structured medical multiple-choice tasks, the critical design choice is not how much of the teacher to copy, but which part of the teacher signal actually matters.</a:t>
            </a:r>
          </a:p>
        </p:txBody>
      </p:sp>
      <p:sp>
        <p:nvSpPr>
          <p:cNvPr id="9" name="Rectangle 8"/>
          <p:cNvSpPr/>
          <p:nvPr/>
        </p:nvSpPr>
        <p:spPr>
          <a:xfrm>
            <a:off x="0" y="6400800"/>
            <a:ext cx="12179300" cy="457200"/>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6501384"/>
            <a:ext cx="4023360" cy="228600"/>
          </a:xfrm>
          <a:prstGeom prst="rect">
            <a:avLst/>
          </a:prstGeom>
          <a:noFill/>
        </p:spPr>
        <p:txBody>
          <a:bodyPr wrap="none" anchor="t">
            <a:spAutoFit/>
          </a:bodyPr>
          <a:lstStyle/>
          <a:p>
            <a:pPr algn="ctr"/>
            <a:r>
              <a:rPr sz="1500" b="0">
                <a:solidFill>
                  <a:srgbClr val="FFFFFF"/>
                </a:solidFill>
                <a:latin typeface="Calibri"/>
              </a:rPr>
              <a:t>AIEA 2026 Conference Presentation</a:t>
            </a:r>
          </a:p>
        </p:txBody>
      </p:sp>
      <p:sp>
        <p:nvSpPr>
          <p:cNvPr id="11" name="TextBox 10"/>
          <p:cNvSpPr txBox="1"/>
          <p:nvPr/>
        </p:nvSpPr>
        <p:spPr>
          <a:xfrm>
            <a:off x="11466068" y="6501384"/>
            <a:ext cx="457200" cy="228600"/>
          </a:xfrm>
          <a:prstGeom prst="rect">
            <a:avLst/>
          </a:prstGeom>
          <a:noFill/>
        </p:spPr>
        <p:txBody>
          <a:bodyPr wrap="none" anchor="t">
            <a:spAutoFit/>
          </a:bodyPr>
          <a:lstStyle/>
          <a:p>
            <a:pPr algn="r"/>
            <a:r>
              <a:rPr sz="1500" b="0">
                <a:solidFill>
                  <a:srgbClr val="FFFFFF"/>
                </a:solidFill>
                <a:latin typeface="Calibri"/>
              </a:rPr>
              <a:t>10/12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47472"/>
            <a:ext cx="731520" cy="457200"/>
          </a:xfrm>
          <a:prstGeom prst="rect">
            <a:avLst/>
          </a:prstGeom>
          <a:noFill/>
        </p:spPr>
        <p:txBody>
          <a:bodyPr wrap="none" anchor="t">
            <a:spAutoFit/>
          </a:bodyPr>
          <a:lstStyle/>
          <a:p>
            <a:pPr algn="l"/>
            <a:r>
              <a:rPr sz="3000" b="0">
                <a:solidFill>
                  <a:srgbClr val="9B1F23"/>
                </a:solidFill>
                <a:latin typeface="Calibri"/>
              </a:rPr>
              <a:t>09</a:t>
            </a:r>
          </a:p>
        </p:txBody>
      </p:sp>
      <p:sp>
        <p:nvSpPr>
          <p:cNvPr id="3" name="TextBox 2"/>
          <p:cNvSpPr txBox="1"/>
          <p:nvPr/>
        </p:nvSpPr>
        <p:spPr>
          <a:xfrm>
            <a:off x="1554480" y="310896"/>
            <a:ext cx="8046720" cy="548640"/>
          </a:xfrm>
          <a:prstGeom prst="rect">
            <a:avLst/>
          </a:prstGeom>
          <a:noFill/>
        </p:spPr>
        <p:txBody>
          <a:bodyPr wrap="none" anchor="t">
            <a:spAutoFit/>
          </a:bodyPr>
          <a:lstStyle/>
          <a:p>
            <a:pPr algn="l"/>
            <a:r>
              <a:rPr sz="2800" b="1">
                <a:solidFill>
                  <a:srgbClr val="303030"/>
                </a:solidFill>
                <a:latin typeface="Calibri"/>
              </a:rPr>
              <a:t>Conclusion</a:t>
            </a:r>
          </a:p>
        </p:txBody>
      </p:sp>
      <p:sp>
        <p:nvSpPr>
          <p:cNvPr id="4" name="Rectangle 3"/>
          <p:cNvSpPr/>
          <p:nvPr/>
        </p:nvSpPr>
        <p:spPr>
          <a:xfrm>
            <a:off x="749808" y="1042415"/>
            <a:ext cx="1874519" cy="36576"/>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60120" y="1508760"/>
            <a:ext cx="9144000" cy="1097280"/>
          </a:xfrm>
          <a:prstGeom prst="roundRect">
            <a:avLst/>
          </a:prstGeom>
          <a:solidFill>
            <a:srgbClr val="E7EFF8"/>
          </a:solidFill>
          <a:ln w="17780">
            <a:solidFill>
              <a:srgbClr val="008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1F609C"/>
                </a:solidFill>
                <a:latin typeface="Calibri"/>
              </a:rPr>
              <a:t>Choice-Head distillation makes smaller dental MCQ models both practical and highly competitive.</a:t>
            </a:r>
          </a:p>
        </p:txBody>
      </p:sp>
      <p:sp>
        <p:nvSpPr>
          <p:cNvPr id="6" name="TextBox 5"/>
          <p:cNvSpPr txBox="1"/>
          <p:nvPr/>
        </p:nvSpPr>
        <p:spPr>
          <a:xfrm>
            <a:off x="1188720" y="2971800"/>
            <a:ext cx="8412480" cy="1920240"/>
          </a:xfrm>
          <a:prstGeom prst="rect">
            <a:avLst/>
          </a:prstGeom>
          <a:noFill/>
        </p:spPr>
        <p:txBody>
          <a:bodyPr wrap="none">
            <a:spAutoFit/>
          </a:bodyPr>
          <a:lstStyle/>
          <a:p>
            <a:pPr algn="l">
              <a:spcAft>
                <a:spcPts val="800"/>
              </a:spcAft>
            </a:pPr>
            <a:r>
              <a:rPr sz="1900" b="0">
                <a:solidFill>
                  <a:srgbClr val="303030"/>
                </a:solidFill>
                <a:latin typeface="Calibri"/>
              </a:rPr>
              <a:t>Decision-space supervision is an effective alternative to full-vocabulary distillation for structured MCQs.</a:t>
            </a:r>
          </a:p>
          <a:p>
            <a:pPr algn="l">
              <a:spcAft>
                <a:spcPts val="800"/>
              </a:spcAft>
            </a:pPr>
            <a:r>
              <a:rPr sz="1900" b="0">
                <a:solidFill>
                  <a:srgbClr val="303030"/>
                </a:solidFill>
                <a:latin typeface="Calibri"/>
              </a:rPr>
              <a:t>The best 14B student reaches 89.10% and surpasses the 87.18% DeepSeek-V3 teacher on the 991-question test set.</a:t>
            </a:r>
          </a:p>
          <a:p>
            <a:pPr algn="l">
              <a:spcAft>
                <a:spcPts val="800"/>
              </a:spcAft>
            </a:pPr>
            <a:r>
              <a:rPr sz="1900" b="0">
                <a:solidFill>
                  <a:srgbClr val="303030"/>
                </a:solidFill>
                <a:latin typeface="Calibri"/>
              </a:rPr>
              <a:t>The framework stays lightweight, deployment-oriented, and compatible with black-box teachers.</a:t>
            </a:r>
          </a:p>
        </p:txBody>
      </p:sp>
      <p:sp>
        <p:nvSpPr>
          <p:cNvPr id="7" name="TextBox 6"/>
          <p:cNvSpPr txBox="1"/>
          <p:nvPr/>
        </p:nvSpPr>
        <p:spPr>
          <a:xfrm>
            <a:off x="3063240" y="5257800"/>
            <a:ext cx="4754880" cy="411480"/>
          </a:xfrm>
          <a:prstGeom prst="rect">
            <a:avLst/>
          </a:prstGeom>
          <a:noFill/>
        </p:spPr>
        <p:txBody>
          <a:bodyPr wrap="none" anchor="t">
            <a:spAutoFit/>
          </a:bodyPr>
          <a:lstStyle/>
          <a:p>
            <a:pPr algn="ctr"/>
            <a:r>
              <a:rPr sz="2400" b="1">
                <a:solidFill>
                  <a:srgbClr val="1C915D"/>
                </a:solidFill>
                <a:latin typeface="Calibri"/>
              </a:rPr>
              <a:t>Thank you. Questions are welcome.</a:t>
            </a:r>
          </a:p>
        </p:txBody>
      </p:sp>
      <p:sp>
        <p:nvSpPr>
          <p:cNvPr id="8" name="Rectangle 7"/>
          <p:cNvSpPr/>
          <p:nvPr/>
        </p:nvSpPr>
        <p:spPr>
          <a:xfrm>
            <a:off x="0" y="6400800"/>
            <a:ext cx="12179300" cy="457200"/>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03320" y="6501384"/>
            <a:ext cx="4023360" cy="228600"/>
          </a:xfrm>
          <a:prstGeom prst="rect">
            <a:avLst/>
          </a:prstGeom>
          <a:noFill/>
        </p:spPr>
        <p:txBody>
          <a:bodyPr wrap="none" anchor="t">
            <a:spAutoFit/>
          </a:bodyPr>
          <a:lstStyle/>
          <a:p>
            <a:pPr algn="ctr"/>
            <a:r>
              <a:rPr sz="1500" b="0">
                <a:solidFill>
                  <a:srgbClr val="FFFFFF"/>
                </a:solidFill>
                <a:latin typeface="Calibri"/>
              </a:rPr>
              <a:t>AIEA 2026 Conference Presentation</a:t>
            </a:r>
          </a:p>
        </p:txBody>
      </p:sp>
      <p:sp>
        <p:nvSpPr>
          <p:cNvPr id="10" name="TextBox 9"/>
          <p:cNvSpPr txBox="1"/>
          <p:nvPr/>
        </p:nvSpPr>
        <p:spPr>
          <a:xfrm>
            <a:off x="11466068" y="6501384"/>
            <a:ext cx="457200" cy="228600"/>
          </a:xfrm>
          <a:prstGeom prst="rect">
            <a:avLst/>
          </a:prstGeom>
          <a:noFill/>
        </p:spPr>
        <p:txBody>
          <a:bodyPr wrap="none" anchor="t">
            <a:spAutoFit/>
          </a:bodyPr>
          <a:lstStyle/>
          <a:p>
            <a:pPr algn="r"/>
            <a:r>
              <a:rPr sz="1500" b="0">
                <a:solidFill>
                  <a:srgbClr val="FFFFFF"/>
                </a:solidFill>
                <a:latin typeface="Calibri"/>
              </a:rPr>
              <a:t>11/12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47472"/>
            <a:ext cx="731520" cy="457200"/>
          </a:xfrm>
          <a:prstGeom prst="rect">
            <a:avLst/>
          </a:prstGeom>
          <a:noFill/>
        </p:spPr>
        <p:txBody>
          <a:bodyPr wrap="none" anchor="t">
            <a:spAutoFit/>
          </a:bodyPr>
          <a:lstStyle/>
          <a:p>
            <a:pPr algn="l"/>
            <a:r>
              <a:rPr sz="3000" b="0">
                <a:solidFill>
                  <a:srgbClr val="9B1F23"/>
                </a:solidFill>
                <a:latin typeface="Calibri"/>
              </a:rPr>
              <a:t>10</a:t>
            </a:r>
          </a:p>
        </p:txBody>
      </p:sp>
      <p:sp>
        <p:nvSpPr>
          <p:cNvPr id="3" name="TextBox 2"/>
          <p:cNvSpPr txBox="1"/>
          <p:nvPr/>
        </p:nvSpPr>
        <p:spPr>
          <a:xfrm>
            <a:off x="1554480" y="310896"/>
            <a:ext cx="8046720" cy="548640"/>
          </a:xfrm>
          <a:prstGeom prst="rect">
            <a:avLst/>
          </a:prstGeom>
          <a:noFill/>
        </p:spPr>
        <p:txBody>
          <a:bodyPr wrap="none" anchor="t">
            <a:spAutoFit/>
          </a:bodyPr>
          <a:lstStyle/>
          <a:p>
            <a:pPr algn="l"/>
            <a:r>
              <a:rPr sz="2800" b="1">
                <a:solidFill>
                  <a:srgbClr val="303030"/>
                </a:solidFill>
                <a:latin typeface="Calibri"/>
              </a:rPr>
              <a:t>Q&amp;A Backup</a:t>
            </a:r>
          </a:p>
        </p:txBody>
      </p:sp>
      <p:sp>
        <p:nvSpPr>
          <p:cNvPr id="4" name="Rectangle 3"/>
          <p:cNvSpPr/>
          <p:nvPr/>
        </p:nvSpPr>
        <p:spPr>
          <a:xfrm>
            <a:off x="749808" y="1042415"/>
            <a:ext cx="1874519" cy="36576"/>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417320"/>
            <a:ext cx="3063240" cy="3383280"/>
          </a:xfrm>
          <a:prstGeom prst="roundRect">
            <a:avLst/>
          </a:prstGeom>
          <a:solidFill>
            <a:srgbClr val="FFFFFF"/>
          </a:solidFill>
          <a:ln w="17780">
            <a:solidFill>
              <a:srgbClr val="008A96"/>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800" b="1">
                <a:solidFill>
                  <a:srgbClr val="008A96"/>
                </a:solidFill>
                <a:latin typeface="Calibri"/>
              </a:rPr>
              <a:t>Why distill only five options?</a:t>
            </a:r>
          </a:p>
          <a:p>
            <a:pPr>
              <a:spcAft>
                <a:spcPts val="400"/>
              </a:spcAft>
            </a:pPr>
            <a:r>
              <a:rPr sz="1300" b="0">
                <a:solidFill>
                  <a:srgbClr val="5C5C5C"/>
                </a:solidFill>
                <a:latin typeface="Calibri"/>
              </a:rPr>
              <a:t>The downstream task is a five-option decision problem.</a:t>
            </a:r>
          </a:p>
          <a:p>
            <a:pPr>
              <a:spcAft>
                <a:spcPts val="400"/>
              </a:spcAft>
            </a:pPr>
            <a:r>
              <a:rPr sz="1300" b="0">
                <a:solidFill>
                  <a:srgbClr val="5C5C5C"/>
                </a:solidFill>
                <a:latin typeface="Calibri"/>
              </a:rPr>
              <a:t>Full-vocabulary supervision introduces unnecessary dimensions.</a:t>
            </a:r>
          </a:p>
          <a:p>
            <a:pPr>
              <a:spcAft>
                <a:spcPts val="400"/>
              </a:spcAft>
            </a:pPr>
            <a:r>
              <a:rPr sz="1300" b="0">
                <a:solidFill>
                  <a:srgbClr val="5C5C5C"/>
                </a:solidFill>
                <a:latin typeface="Calibri"/>
              </a:rPr>
              <a:t>Option-level transfer is more task-aligned and more efficient.</a:t>
            </a:r>
          </a:p>
        </p:txBody>
      </p:sp>
      <p:sp>
        <p:nvSpPr>
          <p:cNvPr id="6" name="Rounded Rectangle 5"/>
          <p:cNvSpPr/>
          <p:nvPr/>
        </p:nvSpPr>
        <p:spPr>
          <a:xfrm>
            <a:off x="4069080" y="1417320"/>
            <a:ext cx="3063240" cy="3383280"/>
          </a:xfrm>
          <a:prstGeom prst="roundRect">
            <a:avLst/>
          </a:prstGeom>
          <a:solidFill>
            <a:srgbClr val="FFFFFF"/>
          </a:solidFill>
          <a:ln w="17780">
            <a:solidFill>
              <a:srgbClr val="1C915D"/>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800" b="1">
                <a:solidFill>
                  <a:srgbClr val="1C915D"/>
                </a:solidFill>
                <a:latin typeface="Calibri"/>
              </a:rPr>
              <a:t>Why can the student outperform the teacher?</a:t>
            </a:r>
          </a:p>
          <a:p>
            <a:pPr>
              <a:spcAft>
                <a:spcPts val="400"/>
              </a:spcAft>
            </a:pPr>
            <a:r>
              <a:rPr sz="1300" b="0">
                <a:solidFill>
                  <a:srgbClr val="5C5C5C"/>
                </a:solidFill>
                <a:latin typeface="Calibri"/>
              </a:rPr>
              <a:t>The student learns teacher soft-label structure.</a:t>
            </a:r>
          </a:p>
          <a:p>
            <a:pPr>
              <a:spcAft>
                <a:spcPts val="400"/>
              </a:spcAft>
            </a:pPr>
            <a:r>
              <a:rPr sz="1300" b="0">
                <a:solidFill>
                  <a:srgbClr val="5C5C5C"/>
                </a:solidFill>
                <a:latin typeface="Calibri"/>
              </a:rPr>
              <a:t>It is still optimized directly for the benchmark objective.</a:t>
            </a:r>
          </a:p>
          <a:p>
            <a:pPr>
              <a:spcAft>
                <a:spcPts val="400"/>
              </a:spcAft>
            </a:pPr>
            <a:r>
              <a:rPr sz="1300" b="0">
                <a:solidFill>
                  <a:srgbClr val="5C5C5C"/>
                </a:solidFill>
                <a:latin typeface="Calibri"/>
              </a:rPr>
              <a:t>Task-aligned supervision can yield a stronger decision boundary.</a:t>
            </a:r>
          </a:p>
        </p:txBody>
      </p:sp>
      <p:sp>
        <p:nvSpPr>
          <p:cNvPr id="7" name="Rounded Rectangle 6"/>
          <p:cNvSpPr/>
          <p:nvPr/>
        </p:nvSpPr>
        <p:spPr>
          <a:xfrm>
            <a:off x="7360920" y="1417320"/>
            <a:ext cx="2834640" cy="3383280"/>
          </a:xfrm>
          <a:prstGeom prst="roundRect">
            <a:avLst/>
          </a:prstGeom>
          <a:solidFill>
            <a:srgbClr val="FFFFFF"/>
          </a:solidFill>
          <a:ln w="17780">
            <a:solidFill>
              <a:srgbClr val="DC741A"/>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800" b="1">
                <a:solidFill>
                  <a:srgbClr val="DC741A"/>
                </a:solidFill>
                <a:latin typeface="Calibri"/>
              </a:rPr>
              <a:t>Can this extend to open-ended QA?</a:t>
            </a:r>
          </a:p>
          <a:p>
            <a:pPr>
              <a:spcAft>
                <a:spcPts val="400"/>
              </a:spcAft>
            </a:pPr>
            <a:r>
              <a:rPr sz="1300" b="0">
                <a:solidFill>
                  <a:srgbClr val="5C5C5C"/>
                </a:solidFill>
                <a:latin typeface="Calibri"/>
              </a:rPr>
              <a:t>Not directly.</a:t>
            </a:r>
          </a:p>
          <a:p>
            <a:pPr>
              <a:spcAft>
                <a:spcPts val="400"/>
              </a:spcAft>
            </a:pPr>
            <a:r>
              <a:rPr sz="1300" b="0">
                <a:solidFill>
                  <a:srgbClr val="5C5C5C"/>
                </a:solidFill>
                <a:latin typeface="Calibri"/>
              </a:rPr>
              <a:t>The current method is built for structured MCQs.</a:t>
            </a:r>
          </a:p>
          <a:p>
            <a:pPr>
              <a:spcAft>
                <a:spcPts val="400"/>
              </a:spcAft>
            </a:pPr>
            <a:r>
              <a:rPr sz="1300" b="0">
                <a:solidFill>
                  <a:srgbClr val="5C5C5C"/>
                </a:solidFill>
                <a:latin typeface="Calibri"/>
              </a:rPr>
              <a:t>Open-ended QA would require a different supervision target.</a:t>
            </a:r>
          </a:p>
        </p:txBody>
      </p:sp>
      <p:sp>
        <p:nvSpPr>
          <p:cNvPr id="8" name="Rectangle 7"/>
          <p:cNvSpPr/>
          <p:nvPr/>
        </p:nvSpPr>
        <p:spPr>
          <a:xfrm>
            <a:off x="0" y="6400800"/>
            <a:ext cx="12179300" cy="457200"/>
          </a:xfrm>
          <a:prstGeom prst="rect">
            <a:avLst/>
          </a:prstGeom>
          <a:solidFill>
            <a:srgbClr val="9B1F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03320" y="6501384"/>
            <a:ext cx="4023360" cy="228600"/>
          </a:xfrm>
          <a:prstGeom prst="rect">
            <a:avLst/>
          </a:prstGeom>
          <a:noFill/>
        </p:spPr>
        <p:txBody>
          <a:bodyPr wrap="none" anchor="t">
            <a:spAutoFit/>
          </a:bodyPr>
          <a:lstStyle/>
          <a:p>
            <a:pPr algn="ctr"/>
            <a:r>
              <a:rPr sz="1500" b="0">
                <a:solidFill>
                  <a:srgbClr val="FFFFFF"/>
                </a:solidFill>
                <a:latin typeface="Calibri"/>
              </a:rPr>
              <a:t>AIEA 2026 Conference Presentation</a:t>
            </a:r>
          </a:p>
        </p:txBody>
      </p:sp>
      <p:sp>
        <p:nvSpPr>
          <p:cNvPr id="10" name="TextBox 9"/>
          <p:cNvSpPr txBox="1"/>
          <p:nvPr/>
        </p:nvSpPr>
        <p:spPr>
          <a:xfrm>
            <a:off x="11466068" y="6501384"/>
            <a:ext cx="457200" cy="228600"/>
          </a:xfrm>
          <a:prstGeom prst="rect">
            <a:avLst/>
          </a:prstGeom>
          <a:noFill/>
        </p:spPr>
        <p:txBody>
          <a:bodyPr wrap="none" anchor="t">
            <a:spAutoFit/>
          </a:bodyPr>
          <a:lstStyle/>
          <a:p>
            <a:pPr algn="r"/>
            <a:r>
              <a:rPr sz="1500" b="0">
                <a:solidFill>
                  <a:srgbClr val="FFFFFF"/>
                </a:solidFill>
                <a:latin typeface="Calibri"/>
              </a:rPr>
              <a:t>12/12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