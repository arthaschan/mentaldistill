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【第1页：标题页】</a:t>
            </a:r>
          </a:p>
          <a:p/>
          <a:p>
            <a:r>
              <a:t>各位老师、各位同学，大家好。</a:t>
            </a:r>
          </a:p>
          <a:p/>
          <a:p>
            <a:r>
              <a:t>[停顿 - 看向观众]</a:t>
            </a:r>
          </a:p>
          <a:p/>
          <a:p>
            <a:r>
              <a:t>我是陈天元，来自香港珠海学院应用人工智能理学硕士项目。</a:t>
            </a:r>
          </a:p>
          <a:p/>
          <a:p>
            <a:r>
              <a:t>今天我要汇报的题目是：面向牙科多选题问答的选择头蒸馏方法。</a:t>
            </a:r>
          </a:p>
          <a:p/>
          <a:p>
            <a:r>
              <a:t>[停顿]</a:t>
            </a:r>
          </a:p>
          <a:p/>
          <a:p>
            <a:r>
              <a:t>这项工作的核心想法是：与其蒸馏大语言模型的整个词汇表分布，我们只蒸馏五个选项——A、B、C、D、E——上的概率分布。</a:t>
            </a:r>
          </a:p>
          <a:p/>
          <a:p>
            <a:r>
              <a:t>这使得蒸馏过程更加高效，而且令人惊讶的是，效果也更好。</a:t>
            </a:r>
          </a:p>
          <a:p/>
          <a:p>
            <a:r>
              <a:t>[停顿 - 过渡到下一页]</a:t>
            </a:r>
          </a:p>
          <a:p/>
          <a:p>
            <a:r>
              <a:t>让我先介绍一下报告的整体框架。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【第2页：大纲】</a:t>
            </a:r>
          </a:p>
          <a:p/>
          <a:p>
            <a:r>
              <a:t>这是我今天的报告大纲。</a:t>
            </a:r>
          </a:p>
          <a:p/>
          <a:p>
            <a:r>
              <a:t>[用手指向大纲列表]</a:t>
            </a:r>
          </a:p>
          <a:p/>
          <a:p>
            <a:r>
              <a:t>首先，我会介绍研究动机和问题背景——为什么我们需要这项工作。</a:t>
            </a:r>
          </a:p>
          <a:p/>
          <a:p>
            <a:r>
              <a:t>然后，我会提出我们的三个研究问题。</a:t>
            </a:r>
          </a:p>
          <a:p/>
          <a:p>
            <a:r>
              <a:t>接着，我会详细描述我们的核心方法——选择头蒸馏，并解释为什么决策空间蒸馏很重要。</a:t>
            </a:r>
          </a:p>
          <a:p/>
          <a:p>
            <a:r>
              <a:t>之后，我会介绍实验设置和主要结果。</a:t>
            </a:r>
          </a:p>
          <a:p/>
          <a:p>
            <a:r>
              <a:t>最后，我会总结关键贡献，讨论实际意义和局限性，并做总结。</a:t>
            </a:r>
          </a:p>
          <a:p/>
          <a:p>
            <a:r>
              <a:t>[停顿]</a:t>
            </a:r>
          </a:p>
          <a:p/>
          <a:p>
            <a:r>
              <a:t>让我们从研究动机开始。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【第3页：动机与问题背景】</a:t>
            </a:r>
          </a:p>
          <a:p/>
          <a:p>
            <a:r>
              <a:t>现在，让我解释一下这项工作的研究动机。</a:t>
            </a:r>
          </a:p>
          <a:p/>
          <a:p>
            <a:r>
              <a:t>[指向左栏 - 问题]</a:t>
            </a:r>
          </a:p>
          <a:p/>
          <a:p>
            <a:r>
              <a:t>左边是我们要解决的问题。大型医学语言模型，比如 DeepSeek-V3，在医学考试基准上可以达到 87% 以上的准确率。但是，部署这些模型的成本非常高。它们需要超过 100GB 显存的 GPU。而牙科教育和临床问答，需要能够在低成本设备上运行的模型。</a:t>
            </a:r>
          </a:p>
          <a:p/>
          <a:p>
            <a:r>
              <a:t>[停顿 - 指向右栏 - 为什么蒸馏]</a:t>
            </a:r>
          </a:p>
          <a:p/>
          <a:p>
            <a:r>
              <a:t>右边解释了为什么知识蒸馏是一个自然的解决方案。我们想把教师的判别能力转移到一个更小的学生模型——比如 Qwen2.5-7B 或 14B——它可以在单张消费级 GPU 上运行。</a:t>
            </a:r>
          </a:p>
          <a:p/>
          <a:p>
            <a:r>
              <a:t>[停顿]</a:t>
            </a:r>
          </a:p>
          <a:p/>
          <a:p>
            <a:r>
              <a:t>但这就引出了一个关键问题：我们到底应该蒸馏什么？对于五选一的多选题，整个词汇表——超过 5 万个 token——大部分是无关的。我们只关心五个选项：A、B、C、D、E。</a:t>
            </a:r>
          </a:p>
          <a:p/>
          <a:p>
            <a:r>
              <a:t>[停顿 - 强调]</a:t>
            </a:r>
          </a:p>
          <a:p/>
          <a:p>
            <a:r>
              <a:t>这就是核心洞察：蒸馏应该针对决策空间，而不是整个词汇表。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【第4页：研究问题】</a:t>
            </a:r>
          </a:p>
          <a:p/>
          <a:p>
            <a:r>
              <a:t>我们的工作围绕三个研究问题展开。</a:t>
            </a:r>
          </a:p>
          <a:p/>
          <a:p>
            <a:r>
              <a:t>[逐个指向]</a:t>
            </a:r>
          </a:p>
          <a:p/>
          <a:p>
            <a:r>
              <a:t>研究问题一：蒸馏什么？是蒸馏整个词汇表，还是只蒸馏五个选项？全词汇表蒸馏对结构化多选题是否是冗余的？</a:t>
            </a:r>
          </a:p>
          <a:p/>
          <a:p>
            <a:r>
              <a:t>研究问题二：学生能否超越教师？在任务对齐的目标下，一个更小的学生模型能否超过更大的教师模型？如果可以，机制是什么？</a:t>
            </a:r>
          </a:p>
          <a:p/>
          <a:p>
            <a:r>
              <a:t>研究问题三：方法能否保持黑盒友好？能否只通过 API 访问教师模型？是否兼容商用大模型 API？</a:t>
            </a:r>
          </a:p>
          <a:p/>
          <a:p>
            <a:r>
              <a:t>[停顿 - 指向核心假设]</a:t>
            </a:r>
          </a:p>
          <a:p/>
          <a:p>
            <a:r>
              <a:t>我们的核心假设是：对于五选一的医学考试任务，关键的迁移目标是决策结构——而不是完整的语言模型行为。</a:t>
            </a:r>
          </a:p>
          <a:p/>
          <a:p>
            <a:r>
              <a:t>[停顿]</a:t>
            </a:r>
          </a:p>
          <a:p/>
          <a:p>
            <a:r>
              <a:t>下面让我介绍我们针对这些问题提出的方法。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【第5页：核心方法】</a:t>
            </a:r>
          </a:p>
          <a:p/>
          <a:p>
            <a:r>
              <a:t>我们的方法——选择头蒸馏——包含两个阶段。</a:t>
            </a:r>
          </a:p>
          <a:p/>
          <a:p>
            <a:r>
              <a:t>[指向 Stage 1]</a:t>
            </a:r>
          </a:p>
          <a:p/>
          <a:p>
            <a:r>
              <a:t>第一阶段是主要阶段——选择头 KL 蒸馏。我们不蒸馏 5 万个 token 上的完整输出分布，而只蒸馏教师在五个选项上的分布。</a:t>
            </a:r>
          </a:p>
          <a:p/>
          <a:p>
            <a:r>
              <a:t>损失函数结合了 KL 散度和交叉熵。KL 项比较教师和学生在 A、B、C、D、E 五个选项上的相对偏好。交叉熵项确保学生仍然能从硬标签中学习。</a:t>
            </a:r>
          </a:p>
          <a:p/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变量说明：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L_sta ：Stage 1 总损失函数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α     ：平衡系数（主实验设为 0.35）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D_KL  : KL 散度，比较教师与学生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        在 A/B/C/D/E 五个选项上的分布差异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p_T   ：教师在五个选项上的概率分布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p_S   : 学生在五个选项上的概率分布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>
                <a:solidFill>
                  <a:srgbClr val="222222"/>
                </a:solidFill>
                <a:latin typeface="Arial" panose="020B0604020202090204"/>
                <a:ea typeface="微软雅黑"/>
                <a:sym typeface="+mn-ea"/>
              </a:rPr>
              <a:t>  L_CE  : 基于金标准答案的交叉熵损失</a:t>
            </a:r>
            <a:endParaRPr>
              <a:solidFill>
                <a:srgbClr val="222222"/>
              </a:solidFill>
              <a:latin typeface="Arial" panose="020B0604020202090204"/>
              <a:ea typeface="微软雅黑"/>
            </a:endParaRPr>
          </a:p>
          <a:p/>
          <a:p/>
          <a:p>
            <a:r>
              <a:t>[停顿 - 指向 Stage 2]</a:t>
            </a:r>
          </a:p>
          <a:p/>
          <a:p>
            <a:r>
              <a:t>第二阶段是可选的——金标准 SFT 校准。它继承了第一阶段的 LoRA 权重，继续用真实标签进行监督微调。</a:t>
            </a:r>
          </a:p>
          <a:p/>
          <a:p>
            <a:r>
              <a:t>直觉是这样的：第一阶段给学生一个相对偏好图，第二阶段用金标准答案来锚定。</a:t>
            </a:r>
          </a:p>
          <a:p/>
          <a:p>
            <a:r>
              <a:t>[停顿 - 强调设计直觉]</a:t>
            </a:r>
          </a:p>
          <a:p/>
          <a:p>
            <a:r>
              <a:t>关键的设计直觉是：保留教师不确定性中直接影响最终选项的部分，去掉不改变决策的监督维度。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【第6页：为什么决策空间蒸馏重要】</a:t>
            </a:r>
          </a:p>
          <a:p/>
          <a:p>
            <a:r>
              <a:t>那么，为什么决策空间蒸馏重要？有四个关键原因。</a:t>
            </a:r>
          </a:p>
          <a:p/>
          <a:p>
            <a:r>
              <a:t>[数手指]</a:t>
            </a:r>
          </a:p>
          <a:p/>
          <a:p>
            <a:r>
              <a:t>第一，任务对齐。因为监督信号遵循五选项结构，信噪比比全词汇表蒸馏好得多。</a:t>
            </a:r>
          </a:p>
          <a:p/>
          <a:p>
            <a:r>
              <a:t>我们将监督空间从数万维的词表压缩到只有 5 维——大约是四到五个数量级的缩减。</a:t>
            </a:r>
          </a:p>
          <a:p/>
          <a:p>
            <a:r>
              <a:t>第三，黑盒兼容性。我们的方法适用于仅 API 的教师。我们只需要通过 logprobs API 获取选项级概率——不需要访问模型内部状态。</a:t>
            </a:r>
          </a:p>
          <a:p/>
          <a:p>
            <a:r>
              <a:t>选项级软标签保留了教师在 A、B、C、D、E 五个选项之间的相对偏好——也就是影响最终决策的那部分“暗知识”。</a:t>
            </a:r>
          </a:p>
          <a:p/>
          <a:p>
            <a:r>
              <a:t>[停顿 - 强调]</a:t>
            </a:r>
          </a:p>
          <a:p/>
          <a:p>
            <a:r>
              <a:t>总结来说，对于结构化多选题，决策空间迁移是一个比通用语言建模好得多的压缩目标。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【第7页：实验设置】</a:t>
            </a:r>
          </a:p>
          <a:p/>
          <a:p>
            <a:r>
              <a:t>接下来介绍实验设置。</a:t>
            </a:r>
          </a:p>
          <a:p/>
          <a:p>
            <a:r>
              <a:t>[逐节指向]</a:t>
            </a:r>
          </a:p>
          <a:p/>
          <a:p>
            <a:r>
              <a:t>数据集：我们使用基于 CMExam 的重新划分，共 6590 道单选医学题。数据按 70/15/15 划分，得到 4608 道训练题、991 道验证题和 991 道测试题。划分时按难度进行了分层。我们在两个测试集上评估：完整的 991 题测试集，和 125 题的牙科子集。</a:t>
            </a:r>
          </a:p>
          <a:p/>
          <a:p>
            <a:r>
              <a:t>[停顿]</a:t>
            </a:r>
          </a:p>
          <a:p/>
          <a:p>
            <a:r>
              <a:t>教师的预测与真实标签之间有约 12% 的不一致</a:t>
            </a:r>
          </a:p>
          <a:p/>
          <a:p>
            <a:r>
              <a:t>[停顿]</a:t>
            </a:r>
          </a:p>
          <a:p/>
          <a:p>
            <a:r>
              <a:t>学生模型：我们使用 Qwen2.5-7B-Instruct 和 Qwen2.5-14B-Instruct 作为学生。训练使用 LoRA，rank=16、alpha=32，学习率 1e-4。第一阶段训练 1 个 epoch，第二阶段可选地增加一个 SFT epoch。</a:t>
            </a:r>
          </a:p>
          <a:p/>
          <a:p>
            <a:r>
              <a:t>[停顿]</a:t>
            </a:r>
          </a:p>
          <a:p/>
          <a:p>
            <a:r>
              <a:t>评估方式：使用精确匹配准确率。我们运行 3 个种子以减少运行间噪声。答案空间是封闭的——只允许 A 到 E，不允许自由生成。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【第8页：主要结果】</a:t>
            </a:r>
          </a:p>
          <a:p/>
          <a:p>
            <a:r>
              <a:t>现在来看主要结果。</a:t>
            </a:r>
          </a:p>
          <a:p/>
          <a:p>
            <a:r>
              <a:t>[指向表格]</a:t>
            </a:r>
          </a:p>
          <a:p/>
          <a:p>
            <a:r>
              <a:t>这是两个测试集上的结果。让我带大家看关键对比。</a:t>
            </a:r>
          </a:p>
          <a:p/>
          <a:p>
            <a:r>
              <a:t>[逐行指向]</a:t>
            </a:r>
          </a:p>
          <a:p/>
          <a:p>
            <a:r>
              <a:t>首先是零样本基线：Qwen2.5-7B 得到 76.49%，14B 得到 83.55%。</a:t>
            </a:r>
          </a:p>
          <a:p/>
          <a:p>
            <a:r>
              <a:t>教师 DeepSeek-V3 在完整测试集上得到 87.18%。</a:t>
            </a:r>
          </a:p>
          <a:p/>
          <a:p>
            <a:r>
              <a:t>经过我们的第一阶段蒸馏后，7B 学生提升到 85.60%，14B 学生平均达到 88.67%。</a:t>
            </a:r>
          </a:p>
          <a:p/>
          <a:p>
            <a:r>
              <a:t>[强调 - 提高音量]</a:t>
            </a:r>
          </a:p>
          <a:p/>
          <a:p>
            <a:r>
              <a:t>最关键的是：最好的 14B 学生达到了 89.10%——超过了教师的 87.18%，领先 1.92 个百分点。</a:t>
            </a:r>
          </a:p>
          <a:p/>
          <a:p>
            <a:r>
              <a:t>[停顿 - 让观众消化这个结果]</a:t>
            </a:r>
          </a:p>
          <a:p/>
          <a:p>
            <a:r>
              <a:t>在牙科子集上，14B 最好结果是 78.40%，接近教师的 79.20%。</a:t>
            </a:r>
          </a:p>
          <a:p/>
          <a:p>
            <a:r>
              <a:t>结果的稳定性也很好：3 个种子的波动范围只有 0.7 个百分点——从 88.40% 到 89.10%。</a:t>
            </a:r>
          </a:p>
          <a:p/>
          <a:p>
            <a:r>
              <a:t>[停顿]</a:t>
            </a:r>
          </a:p>
          <a:p/>
          <a:p>
            <a:r>
              <a:t>学生超越教师，这是我们最关键的发现之一。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【第9页：关键贡献】</a:t>
            </a:r>
          </a:p>
          <a:p/>
          <a:p>
            <a:r>
              <a:t>让我总结这项工作的三个关键贡献。</a:t>
            </a:r>
          </a:p>
          <a:p/>
          <a:p>
            <a:r>
              <a:t>[竖起一根手指]</a:t>
            </a:r>
          </a:p>
          <a:p/>
          <a:p>
            <a:r>
              <a:t>贡献一：方法。我们提出了选择头蒸馏——一个面向五选一医学多选题的任务对齐、决策空间蒸馏框架。它用选项级监督替代了全词汇表蒸馏。而且，它兼容黑盒 API 教师——只需要选项概率，不需要模型内部状态。</a:t>
            </a:r>
          </a:p>
          <a:p/>
          <a:p>
            <a:r>
              <a:t>[竖起两根手指]</a:t>
            </a:r>
          </a:p>
          <a:p/>
          <a:p>
            <a:r>
              <a:t>贡献二：实证发现。我们证明了在任务对齐蒸馏下，更小的学生可以超越更强的教师。最好的 14B 学生达到 89.10%，而教师是 87.18%，在 991 题测试集上。而且结果在不同种子下是稳定的。</a:t>
            </a:r>
          </a:p>
          <a:p/>
          <a:p>
            <a:r>
              <a:t>[竖起三根手指]</a:t>
            </a:r>
          </a:p>
          <a:p/>
          <a:p>
            <a:r>
              <a:t>我们量化了教师标签质量——约 12% 与真实标签不一致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【第10页：实际意义与局限性】</a:t>
            </a:r>
          </a:p>
          <a:p/>
          <a:p>
            <a:r>
              <a:t>现在讨论实际意义和局限性。</a:t>
            </a:r>
          </a:p>
          <a:p/>
          <a:p>
            <a:r>
              <a:t>[指向左侧 - 实际意义]</a:t>
            </a:r>
          </a:p>
          <a:p/>
          <a:p>
            <a:r>
              <a:t>在实际应用方面，我们的方法改变了部署的权衡。不需要超过 100GB 显存的 GPU，蒸馏后的学生可以在单张消费级 GPU 上运行。这意味着更低的推理延迟，不需要付费 API 调用。</a:t>
            </a:r>
          </a:p>
          <a:p/>
          <a:p>
            <a:r>
              <a:t>我们的方法也适用于任何结构化多选题任务——不仅仅是牙科考试。可以用于医师执照考试、资格认证测试、教育 AI 辅导等。</a:t>
            </a:r>
          </a:p>
          <a:p/>
          <a:p>
            <a:r>
              <a:t>[停顿 - 指向右侧 - 局限性]</a:t>
            </a:r>
          </a:p>
          <a:p/>
          <a:p>
            <a:r>
              <a:t>但是，也有重要的局限性。</a:t>
            </a:r>
          </a:p>
          <a:p/>
          <a:p>
            <a:r>
              <a:t>第一，任务范围：我们的方法只适用于固定选项的多选题，不能直接用于开放式问答。</a:t>
            </a:r>
          </a:p>
          <a:p/>
          <a:p>
            <a:r>
              <a:t>第二，实验范围：我们只测试了一个教师模型（DeepSeek-V3）和一个学生模型系列（Qwen2.5）。更多样化的组合会加强结论。</a:t>
            </a:r>
          </a:p>
          <a:p/>
          <a:p>
            <a:r>
              <a:t>第三，第二阶段不总是有益，需要仔细调参。</a:t>
            </a:r>
          </a:p>
          <a:p/>
          <a:p>
            <a:r>
              <a:t>[停顿]</a:t>
            </a:r>
          </a:p>
          <a:p/>
          <a:p>
            <a:r>
              <a:t>未来工作方面，我们计划扩展到其他多选题领域，并测试更多样化的教师-学生组合。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【第11页：总结】</a:t>
            </a:r>
          </a:p>
          <a:p/>
          <a:p>
            <a:r>
              <a:t>总结一下，</a:t>
            </a:r>
          </a:p>
          <a:p/>
          <a:p>
            <a:r>
              <a:t>[停顿 - 放慢语速]</a:t>
            </a:r>
          </a:p>
          <a:p/>
          <a:p>
            <a:r>
              <a:t>本文提出了面向牙科多选题问答的选择头蒸馏方法。</a:t>
            </a:r>
          </a:p>
          <a:p/>
          <a:p>
            <a:r>
              <a:t>该方法只蒸馏教师在五个选项上的答案分布，使得计算更轻量，并且兼容黑盒 API 教师。</a:t>
            </a:r>
          </a:p>
          <a:p/>
          <a:p>
            <a:r>
              <a:t>[强调]</a:t>
            </a:r>
          </a:p>
          <a:p/>
          <a:p>
            <a:r>
              <a:t>关键结果：Qwen2.5-14B 学生达到了 89.10% 的准确率，超越了其 DeepSeek-V3 教师的 87.18%，在 991 题测试集上。</a:t>
            </a:r>
          </a:p>
          <a:p/>
          <a:p>
            <a:r>
              <a:t>对于结构化医学多选题，决策空间蒸馏为固定选项任务提供了一种实用的替代方案。</a:t>
            </a:r>
          </a:p>
          <a:p/>
          <a:p>
            <a:r>
              <a:t>[停顿]</a:t>
            </a:r>
          </a:p>
          <a:p/>
          <a:p>
            <a:r>
              <a:t>代码和数据将公开。感谢大家的聆听，欢迎提问。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【第12页：问答/备用页】</a:t>
            </a:r>
          </a:p>
          <a:p/>
          <a:p>
            <a:r>
              <a:t>[备用页 - 仅在被问及时使用]</a:t>
            </a:r>
          </a:p>
          <a:p/>
          <a:p>
            <a:r>
              <a:t>让我回答一些常见问题。</a:t>
            </a:r>
          </a:p>
          <a:p/>
          <a:p>
            <a:r>
              <a:t>问1：为什么只蒸馏五个选项？</a:t>
            </a:r>
          </a:p>
          <a:p>
            <a:r>
              <a:t>答：因为下游任务就是五选一的决策。全词汇表监督引入了多出四到五个数量级的冗余维度，这些维度不影响最终答案。这完全是浪费。</a:t>
            </a:r>
          </a:p>
          <a:p/>
          <a:p>
            <a:r>
              <a:t>问2：为什么学生能超过教师？</a:t>
            </a:r>
          </a:p>
          <a:p>
            <a:r>
              <a:t>答：学生既学习了教师的软标签结构，又被直接针对基准任务优化。教师的完整行为并不受限于多选题——它在许多任务上都要流畅生成，这反而可能损害其多选题准确率。</a:t>
            </a:r>
          </a:p>
          <a:p/>
          <a:p>
            <a:r>
              <a:t>问3：这能扩展到开放式问答吗？</a:t>
            </a:r>
          </a:p>
          <a:p>
            <a:r>
              <a:t>答：不能直接扩展。我们的方法是为固定选项的结构化多选题设计的。开放式问答需要不同的蒸馏目标，比如理由生成。</a:t>
            </a:r>
          </a:p>
          <a:p/>
          <a:p>
            <a:r>
              <a:t>问4：第二阶段总是有帮助吗？</a:t>
            </a:r>
          </a:p>
          <a:p>
            <a:r>
              <a:t>答：不。在我们的实验中，最好的 14B 结果来自仅第一阶段。额外的真实标签微调反而可能略微损害一个已经充分蒸馏的学生。</a:t>
            </a:r>
          </a:p>
          <a:p/>
          <a:p>
            <a:r>
              <a:t>[如果没有更多问题]</a:t>
            </a:r>
          </a:p>
          <a:p/>
          <a:p>
            <a:r>
              <a:t>再次感谢大家的聆听！会后欢迎进一步交流。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面向牙科多选题问答的</a:t>
            </a:r>
            <a:endParaRPr sz="36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选择头蒸馏方法</a:t>
            </a:r>
            <a:endParaRPr sz="36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AD9E"/>
                </a:solidFill>
                <a:latin typeface="Arial" panose="020B0604020202090204"/>
                <a:ea typeface="微软雅黑"/>
              </a:rPr>
              <a:t>Choice-Head Distillation for Dental MCQ Answering</a:t>
            </a:r>
            <a:endParaRPr sz="2000" b="0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222222"/>
                </a:solidFill>
                <a:latin typeface="Arial" panose="020B0604020202090204"/>
                <a:ea typeface="微软雅黑"/>
              </a:rPr>
              <a:t>报告人：陈天元 (Tianyuan Chen)</a:t>
            </a:r>
            <a:endParaRPr sz="16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600">
                <a:solidFill>
                  <a:srgbClr val="222222"/>
                </a:solidFill>
                <a:latin typeface="Arial" panose="020B0604020202090204"/>
                <a:ea typeface="微软雅黑"/>
              </a:rPr>
              <a:t>指导老师：熊大济 博士 (Dr. Richard Tai-Chiu Hsung)</a:t>
            </a:r>
            <a:endParaRPr sz="16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600">
                <a:solidFill>
                  <a:srgbClr val="222222"/>
                </a:solidFill>
                <a:latin typeface="Arial" panose="020B0604020202090204"/>
                <a:ea typeface="微软雅黑"/>
              </a:rPr>
              <a:t>香港珠海学院 应用人工智能理学硕士</a:t>
            </a:r>
            <a:endParaRPr sz="16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600">
                <a:solidFill>
                  <a:srgbClr val="222222"/>
                </a:solidFill>
                <a:latin typeface="Arial" panose="020B0604020202090204"/>
                <a:ea typeface="微软雅黑"/>
              </a:rPr>
              <a:t>AIEA 2026，深圳</a:t>
            </a:r>
            <a:endParaRPr sz="16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6" name="Picture 5" descr="Flat_vector_illustration_for_a_2026-06-13T02-21-0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79" y="1097280"/>
            <a:ext cx="4114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报告大纲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01  研究动机与问题背景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02  研究问题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03  核心方法：选择头蒸馏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04  为什么决策空间蒸馏重要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05  实验设置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06  主要结果与分析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07  关键贡献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08  实际意义与局限性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09  总结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4" name="Picture 3" descr="Flat_vector_illustration_of_a__2026-06-13T02-25-40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914400"/>
            <a:ext cx="5303520" cy="36287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2/12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01  研究动机与问题背景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问题：准确但昂贵</a:t>
            </a:r>
            <a:endParaRPr sz="24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医学大模型：考试基准准确率 87%+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但：部署推理成本非常高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教师访问：DeepSeek-V3 API（非本地部署）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牙科问答需要低成本、可部署的小模型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为什么选择知识蒸馏？</a:t>
            </a:r>
            <a:endParaRPr sz="24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48056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将教师判别能力转移到更小的学生模型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学生：Qwen2.5-7B/14B（更小、更易部署）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关键问题：到底应该蒸馏什么？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• 全词汇表蒸馏 = 对五选一多选题是冗余的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→ 蒸馏应针对决策空间，而非整个词汇表（5万+ tokens）</a:t>
            </a:r>
            <a:endParaRPr sz="17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8" name="Picture 7" descr="Flat_vector_illustration_showi_2026-06-13T02-21-3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0"/>
            <a:ext cx="548640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3/12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02  研究问题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RQ1：蒸馏什么？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全词汇表还是仅 A/B/C/D/E？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全词汇表蒸馏对结构化多选题是否冗余？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RQ2：学生能否超越教师？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在任务对齐目标下，更小的学生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能否超过更大的教师模型？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RQ3：方法能否保持黑盒友好？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能否仅通过 API 访问教师？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 是否兼容商用大模型 API？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核心假设：
对于五选一的医学考试任务，关键的迁移目标是
决策结构——而非完整的语言模型行为。</a:t>
            </a:r>
            <a:endParaRPr sz="17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5" name="Picture 4" descr="Flat_vector_illustration_of_th_2026-06-13T02-26-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4/12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03  核心方法：选择头蒸馏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45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第一阶段：选择头 KL 蒸馏（主要阶段）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仅蒸馏教师在 5 个选项上的分布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损失</a:t>
            </a:r>
            <a:r>
              <a:rPr lang="zh-CN"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函数</a:t>
            </a:r>
            <a:r>
              <a:rPr lang="en-US" altLang="zh-CN"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：</a:t>
            </a:r>
            <a:endParaRPr lang="en-US" altLang="zh-CN"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endParaRPr lang="en-US" altLang="zh-CN"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endParaRPr lang="en-US" altLang="zh-CN"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endParaRPr lang="en-US" altLang="zh-CN"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KL 比较五个选项上的相对偏好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第二阶段：金标准 SFT 校准（可选）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继承第一阶段的 LoRA 权重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用真实标签继续监督微调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阶段1 = 相对偏好图；阶段2 = 金标准锚点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设计直觉：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保留教师不确定性中影响最终选项的部分。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去掉不改变决策的监督维度。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4" name="Picture 3" descr="Flat_vector_illustration_of_a__2026-06-13T02-22-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5/12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  <p:pic>
        <p:nvPicPr>
          <p:cNvPr id="6" name="Picture 3" descr="ppt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" y="1911985"/>
            <a:ext cx="4710430" cy="9829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04  为什么决策空间蒸馏重要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任务对齐</a:t>
            </a:r>
          </a:p>
          <a:p>
            <a:r>
              <a:t>   监督信号遵循五选项结构 → 更好的信噪比</a:t>
            </a:r>
          </a:p>
          <a:p/>
          <a:p>
            <a:r>
              <a:t>2. 效率</a:t>
            </a:r>
          </a:p>
          <a:p>
            <a:r>
              <a:t>   完整词表 → 5 个选项 = 更小的目标空间</a:t>
            </a:r>
          </a:p>
          <a:p>
            <a:r>
              <a:t>更低内存、更快训练、更少的教师调用开销</a:t>
            </a:r>
          </a:p>
          <a:p/>
          <a:p>
            <a:r>
              <a:t>3. 黑盒兼容性</a:t>
            </a:r>
          </a:p>
          <a:p>
            <a:r>
              <a:t>   适用于 API 教师（本文为 DeepSeek-V3 API 设置）</a:t>
            </a:r>
          </a:p>
          <a:p>
            <a:r>
              <a:t>   使用选项级输出或平滑软标签，无需内部 logits</a:t>
            </a:r>
          </a:p>
          <a:p/>
          <a:p>
            <a:r>
              <a:t>4. 有效的迁移信号</a:t>
            </a:r>
          </a:p>
          <a:p>
            <a:r>
              <a:t>   选项级软标签保留 A/B/C/D/E 之间</a:t>
            </a:r>
          </a:p>
          <a:p>
            <a:r>
              <a:t>   的相对偏好结构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→ 对于结构化多选题，决策空间迁移是更实用的压缩目标。</a:t>
            </a:r>
            <a:endParaRPr sz="17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5" name="Picture 4" descr="Flat_vector_illustration_of_a__2026-06-13T02-22-3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6/12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05  实验设置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数据集：基于 CMExam 的重新划分（6,590 道医学单选题）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70/15/15 划分（4,608 / 991 / 991）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完整测试集：991 题；牙科子集：125 题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教师模型：DeepSeek-V3（完整测试集 87.18%）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教师-真实标签不一致：12.2% 的训练数据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学生模型：Qwen2.5-7B / 14B-Instruct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训练配置：LoRA（rank=16, alpha=32），lr=1e-4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第一阶段：1 epoch；第二阶段：可选 SFT epoch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评估方式：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精确匹配准确率（最终选项选择）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3 个种子减少运行间噪声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封闭答案空间：仅允许 A/B/C/D/E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4" name="Picture 3" descr="Flat_vector_illustration_of_a__2026-06-13T02-26-3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7/12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06  主要结果与分析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CMExam 测试集结果</a:t>
            </a:r>
            <a:endParaRPr sz="24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solidFill>
            <a:srgbClr val="00578B"/>
          </a:solidFill>
          <a:ln>
            <a:solidFill>
              <a:srgbClr val="00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90204"/>
                <a:ea typeface="微软雅黑"/>
              </a:rPr>
              <a:t>模型</a:t>
            </a:r>
            <a:endParaRPr sz="1600" b="1">
              <a:solidFill>
                <a:srgbClr val="FFFFFF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194560" y="1463040"/>
            <a:ext cx="1828800" cy="457200"/>
          </a:xfrm>
          <a:prstGeom prst="rect">
            <a:avLst/>
          </a:prstGeom>
          <a:solidFill>
            <a:srgbClr val="00578B"/>
          </a:solidFill>
          <a:ln>
            <a:solidFill>
              <a:srgbClr val="00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90204"/>
                <a:ea typeface="微软雅黑"/>
              </a:rPr>
              <a:t>设置</a:t>
            </a:r>
            <a:endParaRPr sz="1600" b="1">
              <a:solidFill>
                <a:srgbClr val="FFFFFF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0" y="1463040"/>
            <a:ext cx="1188720" cy="457200"/>
          </a:xfrm>
          <a:prstGeom prst="rect">
            <a:avLst/>
          </a:prstGeom>
          <a:solidFill>
            <a:srgbClr val="00578B"/>
          </a:solidFill>
          <a:ln>
            <a:solidFill>
              <a:srgbClr val="00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90204"/>
                <a:ea typeface="微软雅黑"/>
              </a:rPr>
              <a:t>完整测试</a:t>
            </a:r>
            <a:endParaRPr sz="1600" b="1">
              <a:solidFill>
                <a:srgbClr val="FFFFFF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394960" y="1463040"/>
            <a:ext cx="1188720" cy="457200"/>
          </a:xfrm>
          <a:prstGeom prst="rect">
            <a:avLst/>
          </a:prstGeom>
          <a:solidFill>
            <a:srgbClr val="00578B"/>
          </a:solidFill>
          <a:ln>
            <a:solidFill>
              <a:srgbClr val="005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4630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 panose="020B0604020202090204"/>
                <a:ea typeface="微软雅黑"/>
              </a:rPr>
              <a:t>牙科子集</a:t>
            </a:r>
            <a:endParaRPr sz="1600" b="1">
              <a:solidFill>
                <a:srgbClr val="FFFFFF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16459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94560" y="1965960"/>
            <a:ext cx="182880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0" y="19659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60" y="19659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Qwen2.5-7B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945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零样本基线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  <a:ea typeface="微软雅黑"/>
              </a:rPr>
              <a:t>76.49%</a:t>
            </a:r>
            <a:endParaRPr sz="1500" b="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94960" y="1965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68.80%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Qwen2.5-14B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94560" y="2423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零样本基线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0" y="2423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  <a:ea typeface="微软雅黑"/>
              </a:rPr>
              <a:t>83.55%</a:t>
            </a:r>
            <a:endParaRPr sz="1500" b="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94960" y="2423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74.40%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" y="2880360"/>
            <a:ext cx="16459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94560" y="2880360"/>
            <a:ext cx="182880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28803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0" y="28803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DeepSeek-V3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9456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教师模型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14800" y="2880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  <a:ea typeface="微软雅黑"/>
              </a:rPr>
              <a:t>87.18%</a:t>
            </a:r>
            <a:endParaRPr sz="1500" b="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94960" y="28803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79.20%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720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Qwen2.5-7B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94560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阶段1均值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14800" y="3337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  <a:ea typeface="微软雅黑"/>
              </a:rPr>
              <a:t>85.60%</a:t>
            </a:r>
            <a:endParaRPr sz="1500" b="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94960" y="33375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73.60%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3794760"/>
            <a:ext cx="16459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94560" y="3794760"/>
            <a:ext cx="182880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7947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94960" y="3794760"/>
            <a:ext cx="1188720" cy="457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794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Qwen2.5-14B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19456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阶段1均值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114800" y="3794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222222"/>
                </a:solidFill>
                <a:latin typeface="Arial" panose="020B0604020202090204"/>
                <a:ea typeface="微软雅黑"/>
              </a:rPr>
              <a:t>88.67%</a:t>
            </a:r>
            <a:endParaRPr sz="1500" b="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94960" y="37947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79.20%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Qwen2.5-14B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19456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阶段1最佳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114800" y="4251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89.10%</a:t>
            </a:r>
            <a:endParaRPr sz="15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94960" y="4251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latin typeface="Arial" panose="020B0604020202090204"/>
                <a:ea typeface="微软雅黑"/>
              </a:rPr>
              <a:t>78.40%</a:t>
            </a:r>
            <a:endParaRPr sz="1500" b="0">
              <a:latin typeface="Arial" panose="020B0604020202090204"/>
              <a:ea typeface="微软雅黑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57200" y="489204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2222"/>
                </a:solidFill>
                <a:latin typeface="Arial" panose="020B0604020202090204"/>
                <a:ea typeface="微软雅黑"/>
              </a:rPr>
              <a:t>关键发现：</a:t>
            </a:r>
            <a:endParaRPr sz="1500" b="1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5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14B 最佳 = 89.10% &gt; 教师 = 87.18%（+1.92 pp）</a:t>
            </a:r>
            <a:endParaRPr sz="15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5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稳定性：3 种子范围 88.40% ~ 89.10%</a:t>
            </a:r>
            <a:endParaRPr sz="15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500">
                <a:solidFill>
                  <a:srgbClr val="222222"/>
                </a:solidFill>
                <a:latin typeface="Arial" panose="020B0604020202090204"/>
                <a:ea typeface="微软雅黑"/>
              </a:rPr>
              <a:t>  • 牙科子集：78.40%（≈ 教师 79.20%）</a:t>
            </a:r>
            <a:endParaRPr sz="15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49" name="Picture 48" descr="Flat_vector_illustration_of_a__2026-06-13T02-23-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914400"/>
            <a:ext cx="4754880" cy="475488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8/12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07  关键贡献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贡献一：方法</a:t>
            </a:r>
          </a:p>
          <a:p>
            <a:r>
              <a:t>  提出选择头蒸馏——面向医学多选题的</a:t>
            </a:r>
          </a:p>
          <a:p>
            <a:r>
              <a:t>  任务对齐、决策空间蒸馏框架。</a:t>
            </a:r>
          </a:p>
          <a:p>
            <a:r>
              <a:t>  兼容黑盒 API 教师。</a:t>
            </a:r>
          </a:p>
          <a:p/>
          <a:p>
            <a:r>
              <a:t>贡献二：实证发现</a:t>
            </a:r>
          </a:p>
          <a:p>
            <a:r>
              <a:t>  最佳 14B 学生模型在任务对齐蒸馏下</a:t>
            </a:r>
          </a:p>
          <a:p>
            <a:r>
              <a:t>  超过教师模型。</a:t>
            </a:r>
          </a:p>
          <a:p>
            <a:r>
              <a:t>  14B 最佳：89.10% vs. 教师：87.18%。</a:t>
            </a:r>
          </a:p>
          <a:p/>
          <a:p>
            <a:r>
              <a:t>贡献三：分析</a:t>
            </a:r>
          </a:p>
          <a:p>
            <a:r>
              <a:t>  量化教师-标准答案分歧（12.2%）。</a:t>
            </a:r>
          </a:p>
          <a:p>
            <a:r>
              <a:t>  证明第二阶段并不总是有帮助。</a:t>
            </a:r>
          </a:p>
          <a:p>
            <a:r>
              <a:t>  提供部署权衡的实际意义。</a:t>
            </a:r>
          </a:p>
        </p:txBody>
      </p:sp>
      <p:pic>
        <p:nvPicPr>
          <p:cNvPr id="4" name="Picture 3" descr="Flat_vector_illustration_of_th_2026-06-13T02-23-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9/12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08  实际意义与局限性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实际意义</a:t>
            </a:r>
            <a:endParaRPr sz="24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改变部署权衡：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更小学生模型支持更低成本部署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更低推理延迟和部署成本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降低部署阶段对大型教师推理的依赖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适用于任何结构化多选题任务：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  医学考试、资格认证、AI 辅导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AD9E"/>
                </a:solidFill>
                <a:latin typeface="Arial" panose="020B0604020202090204"/>
                <a:ea typeface="微软雅黑"/>
              </a:rPr>
              <a:t>局限性</a:t>
            </a:r>
            <a:endParaRPr sz="2400" b="1">
              <a:solidFill>
                <a:srgbClr val="00AD9E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任务范围：仅适用于固定选项多选题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实验范围：1 个教师，1 个学生模型系列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第二阶段：不总是有益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700">
                <a:solidFill>
                  <a:srgbClr val="222222"/>
                </a:solidFill>
                <a:latin typeface="Arial" panose="020B0604020202090204"/>
                <a:ea typeface="微软雅黑"/>
              </a:rPr>
              <a:t>教师为黑盒 API、无法获取内部 logits，故未设全词表蒸馏对照</a:t>
            </a:r>
            <a:endParaRPr sz="17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7" name="Picture 6" descr="Flat_vector_illustration_of_a__2026-06-13T02-24-1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10/12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09  总结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本文提出了面向牙科多选题问答的选择头蒸馏方法。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该方法仅蒸馏教师在五个选项上的答案分布，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使得计算更轻量，且兼容黑盒 API 教师。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关键结果：Qwen2.5-14B 学生达到 89.10% 准确率，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超越其 DeepSeek-V3 教师（87.18%），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在 991 题测试集上。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对于结构化医学多选题，决策空间蒸馏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  <a:p>
            <a:pPr algn="l"/>
            <a:r>
              <a:rPr sz="1800">
                <a:solidFill>
                  <a:srgbClr val="222222"/>
                </a:solidFill>
                <a:latin typeface="Arial" panose="020B0604020202090204"/>
                <a:ea typeface="微软雅黑"/>
              </a:rPr>
              <a:t>为固定选项任务提供了一种实用的替代方案。</a:t>
            </a:r>
            <a:endParaRPr sz="1800">
              <a:solidFill>
                <a:srgbClr val="222222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4" name="Picture 3" descr="Flat_vector_illustration_for_p_2026-06-13T02-24-4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11/12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问答 / 备用页</a:t>
            </a:r>
            <a:endParaRPr sz="30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问1：为什么只蒸馏五个选项？</a:t>
            </a:r>
          </a:p>
          <a:p>
            <a:r>
              <a:t>  答：任务就是五选一决策；完整词表大多与最终选择无关。</a:t>
            </a:r>
          </a:p>
          <a:p/>
          <a:p>
            <a:r>
              <a:t>问2：为什么学生能超越教师？</a:t>
            </a:r>
          </a:p>
          <a:p>
            <a:r>
              <a:t>  答：学生结合了教师选项偏好和标准答案纠正，</a:t>
            </a:r>
          </a:p>
          <a:p>
            <a:r>
              <a:t>  在五选项决策空间中被优化。</a:t>
            </a:r>
          </a:p>
          <a:p/>
          <a:p>
            <a:r>
              <a:t>问3：这能扩展到开放式问答吗？</a:t>
            </a:r>
          </a:p>
          <a:p>
            <a:r>
              <a:t>  答：不能直接扩展。方法专为结构化多选题设计。</a:t>
            </a:r>
          </a:p>
          <a:p/>
          <a:p>
            <a:r>
              <a:t>问4：第二阶段总是有帮助吗？</a:t>
            </a:r>
          </a:p>
          <a:p>
            <a:r>
              <a:t>  答：不。14B 最佳结果来自仅第一阶段。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0578B"/>
                </a:solidFill>
                <a:latin typeface="Arial" panose="020B0604020202090204"/>
                <a:ea typeface="微软雅黑"/>
              </a:rPr>
              <a:t>感谢聆听！欢迎提问。</a:t>
            </a:r>
            <a:endParaRPr sz="2600" b="1">
              <a:solidFill>
                <a:srgbClr val="00578B"/>
              </a:solidFill>
              <a:latin typeface="Arial" panose="020B0604020202090204"/>
              <a:ea typeface="微软雅黑"/>
            </a:endParaRPr>
          </a:p>
        </p:txBody>
      </p:sp>
      <p:pic>
        <p:nvPicPr>
          <p:cNvPr id="5" name="Picture 4" descr="Flat_vector_illustration_for_Q_2026-06-13T02-25-1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097280"/>
            <a:ext cx="47548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8888"/>
                </a:solidFill>
                <a:latin typeface="Arial" panose="020B0604020202090204"/>
              </a:rPr>
              <a:t>AIEA 2026 会议演讲  12/12</a:t>
            </a:r>
            <a:endParaRPr sz="1200" b="0">
              <a:solidFill>
                <a:srgbClr val="888888"/>
              </a:solidFill>
              <a:latin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2738</Words>
  <Application>WPS 演示</Application>
  <PresentationFormat>On-screen Show (4:3)</PresentationFormat>
  <Paragraphs>268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WPS_1779157832</cp:lastModifiedBy>
  <cp:revision>2</cp:revision>
  <dcterms:created xsi:type="dcterms:W3CDTF">2026-06-16T14:11:37Z</dcterms:created>
  <dcterms:modified xsi:type="dcterms:W3CDTF">2026-06-16T14:11:37Z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2052-12.1.25896.25896</vt:lpwstr>
  </property>
  <property fmtid="{D5CDD505-2E9C-101B-9397-08002B2CF9AE}" pid="3" name="ICV">
    <vt:lpwstr>0F9B56023958F2399959316A15559265_42</vt:lpwstr>
  </property>
</Properties>
</file>