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afternoon, everyone.</a:t>
            </a:r>
          </a:p>
          <a:p/>
          <a:p>
            <a:r>
              <a:t>[PAUSE - look at audience]</a:t>
            </a:r>
          </a:p>
          <a:p/>
          <a:p>
            <a:r>
              <a:t>My name is Tianyuan Chen. I am a master's student in Applied Artificial Intelligence at Hong Kong Chu Hai College.</a:t>
            </a:r>
          </a:p>
          <a:p/>
          <a:p>
            <a:r>
              <a:t>Today, I would like to present our work on Choice-Head Distillation for Dental Multiple-Choice Question Answering.</a:t>
            </a:r>
          </a:p>
          <a:p/>
          <a:p>
            <a:r>
              <a:t>[PAUSE]</a:t>
            </a:r>
          </a:p>
          <a:p/>
          <a:p>
            <a:r>
              <a:t>The core idea of our work is: instead of distilling the entire vocabulary of a large language model, we only distill the five answer options — A, B, C, D, and E — for medical exam questions.</a:t>
            </a:r>
          </a:p>
          <a:p/>
          <a:p>
            <a:r>
              <a:t>This makes the distillation process much more efficient and, surprisingly, more effective.</a:t>
            </a:r>
          </a:p>
          <a:p/>
          <a:p>
            <a:r>
              <a:t>[PAUSE - transition to next slide]</a:t>
            </a:r>
          </a:p>
          <a:p/>
          <a:p>
            <a:r>
              <a:t>Let me start with an overview of the presentation.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Here is the outline of my talk.</a:t>
            </a:r>
          </a:p>
          <a:p/>
          <a:p>
            <a:r>
              <a:t>[POINT TO SLIDE - trace the outline with hand]</a:t>
            </a:r>
          </a:p>
          <a:p/>
          <a:p>
            <a:r>
              <a:t>First, I will explain the motivation and problem setting — WHY we need this work.</a:t>
            </a:r>
          </a:p>
          <a:p/>
          <a:p>
            <a:r>
              <a:t>Then, I will present our three research questions.</a:t>
            </a:r>
          </a:p>
          <a:p/>
          <a:p>
            <a:r>
              <a:t>After that, I will describe our core method — Choice-Head Distillation — and explain WHY decision-space distillation matters.</a:t>
            </a:r>
          </a:p>
          <a:p/>
          <a:p>
            <a:r>
              <a:t>Next, I will go through the experimental setup and the main results.</a:t>
            </a:r>
          </a:p>
          <a:p/>
          <a:p>
            <a:r>
              <a:t>Finally, I will summarize the key contributions, discuss practical implications and limitations, and conclude.</a:t>
            </a:r>
          </a:p>
          <a:p/>
          <a:p>
            <a:r>
              <a:t>[PAUSE]</a:t>
            </a:r>
          </a:p>
          <a:p/>
          <a:p>
            <a:r>
              <a:t>Let's begin with the motivation.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Now, let me explain the motivation behind our work.</a:t>
            </a:r>
          </a:p>
          <a:p/>
          <a:p>
            <a:r>
              <a:t>[POINT TO LEFT COLUMN]</a:t>
            </a:r>
          </a:p>
          <a:p/>
          <a:p>
            <a:r>
              <a:t>On the left, you can see the problem. Large medical language models, such as DeepSeek-V3, can achieve over 87 percent accuracy on medical exam benchmarks. However, deploying these models is very expensive. They require GPUs with over 100 gigabytes of VRAM. For dental education and clinical QA, we need models that can run on cost-effective devices.</a:t>
            </a:r>
          </a:p>
          <a:p/>
          <a:p>
            <a:r>
              <a:t>[PAUSE - point to right column]</a:t>
            </a:r>
          </a:p>
          <a:p/>
          <a:p>
            <a:r>
              <a:t>On the right, you can see why knowledge distillation is a natural solution. We want to transfer the teacher's discriminative capability to a smaller student model — such as Qwen2.5-7B or 14B — which can run on a single consumer GPU.</a:t>
            </a:r>
          </a:p>
          <a:p/>
          <a:p>
            <a:r>
              <a:t>[PAUSE]</a:t>
            </a:r>
          </a:p>
          <a:p/>
          <a:p>
            <a:r>
              <a:t>But this raises a KEY question: what exactly should we distill? For a five-option multiple-choice question, the full vocabulary — which contains over 50,000 tokens — is mostly irrelevant. We only care about five options: A, B, C, D, and E.</a:t>
            </a:r>
          </a:p>
          <a:p/>
          <a:p>
            <a:r>
              <a:t>[PAUSE - emphasize]</a:t>
            </a:r>
          </a:p>
          <a:p/>
          <a:p>
            <a:r>
              <a:t>This is the core insight: distillation should target the DECISION SPACE, not the full vocabulary.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work is guided by three research questions.</a:t>
            </a:r>
          </a:p>
          <a:p/>
          <a:p>
            <a:r>
              <a:t>[POINT TO EACH RQ]</a:t>
            </a:r>
          </a:p>
          <a:p/>
          <a:p>
            <a:r>
              <a:t>Research Question 1: WHAT to distill? Should we distill the whole vocabulary, or only the five answer options? Is full-vocabulary distillation redundant for structured MCQ tasks?</a:t>
            </a:r>
          </a:p>
          <a:p/>
          <a:p>
            <a:r>
              <a:t>Research Question 2: Can students EXCEED their teachers? Under a task-aligned objective, can a smaller student model outperform its larger teacher? If so, what are the mechanisms?</a:t>
            </a:r>
          </a:p>
          <a:p/>
          <a:p>
            <a:r>
              <a:t>Can it work with API-only teachers — commercial LLM APIs where we cannot access internal model states?</a:t>
            </a:r>
          </a:p>
          <a:p/>
          <a:p>
            <a:r>
              <a:t>[PAUSE - point to hypothesis]</a:t>
            </a:r>
          </a:p>
          <a:p/>
          <a:p>
            <a:r>
              <a:t>Our central hypothesis is: For a five-option medical exam task, the critical transfer target is the DECISION structure — not the full language model behavior.</a:t>
            </a:r>
          </a:p>
          <a:p/>
          <a:p>
            <a:r>
              <a:t>[PAUSE]</a:t>
            </a:r>
          </a:p>
          <a:p/>
          <a:p>
            <a:r>
              <a:t>Now let me describe our method that addresses these questions.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method, Choice-Head Distillation, consists of two stages.</a:t>
            </a:r>
          </a:p>
          <a:p/>
          <a:p>
            <a:r>
              <a:t>[POINT TO Stage 1]</a:t>
            </a:r>
          </a:p>
          <a:p/>
          <a:p>
            <a:r>
              <a:t>Stage 1 is the MAIN stage — Choice-Head KL Distillation. Instead of distilling the full output distribution over 50,000 tokens, we only distill the teacher's distribution over the five answer options. The loss function combines KL divergence with cross-entropy. The KL term compares the teacher's and student's relative preferences across A, B, C, D, and E. The cross-entropy term ensures the student still learns from hard labels.</a:t>
            </a:r>
          </a:p>
          <a:p/>
          <a:p>
            <a:pPr algn="l"/>
            <a:r>
              <a:rPr>
                <a:solidFill>
                  <a:srgbClr val="222222"/>
                </a:solidFill>
                <a:latin typeface="Arial" panose="020B0604020202090204"/>
                <a:sym typeface="+mn-ea"/>
              </a:rPr>
              <a:t>Variable Explanations:</a:t>
            </a:r>
            <a:endParaRPr>
              <a:solidFill>
                <a:srgbClr val="222222"/>
              </a:solidFill>
              <a:latin typeface="Arial" panose="020B0604020202090204"/>
            </a:endParaRPr>
          </a:p>
          <a:p>
            <a:pPr algn="l"/>
            <a:r>
              <a:rPr>
                <a:solidFill>
                  <a:srgbClr val="222222"/>
                </a:solidFill>
                <a:latin typeface="Arial" panose="020B0604020202090204"/>
                <a:sym typeface="+mn-ea"/>
              </a:rPr>
              <a:t>  L_sta : total loss of Stage 1</a:t>
            </a:r>
            <a:endParaRPr>
              <a:solidFill>
                <a:srgbClr val="222222"/>
              </a:solidFill>
              <a:latin typeface="Arial" panose="020B0604020202090204"/>
            </a:endParaRPr>
          </a:p>
          <a:p>
            <a:pPr algn="l"/>
            <a:r>
              <a:rPr>
                <a:solidFill>
                  <a:srgbClr val="222222"/>
                </a:solidFill>
                <a:latin typeface="Arial" panose="020B0604020202090204"/>
                <a:sym typeface="+mn-ea"/>
              </a:rPr>
              <a:t>  α     : balance coefficient (α = 0.35 in main setting)</a:t>
            </a:r>
            <a:endParaRPr>
              <a:solidFill>
                <a:srgbClr val="222222"/>
              </a:solidFill>
              <a:latin typeface="Arial" panose="020B0604020202090204"/>
            </a:endParaRPr>
          </a:p>
          <a:p>
            <a:pPr algn="l"/>
            <a:r>
              <a:rPr>
                <a:solidFill>
                  <a:srgbClr val="222222"/>
                </a:solidFill>
                <a:latin typeface="Arial" panose="020B0604020202090204"/>
                <a:sym typeface="+mn-ea"/>
              </a:rPr>
              <a:t>  D_KL  : KL divergence over 5 options (teacher vs student)</a:t>
            </a:r>
            <a:endParaRPr>
              <a:solidFill>
                <a:srgbClr val="222222"/>
              </a:solidFill>
              <a:latin typeface="Arial" panose="020B0604020202090204"/>
            </a:endParaRPr>
          </a:p>
          <a:p>
            <a:pPr algn="l"/>
            <a:r>
              <a:rPr>
                <a:solidFill>
                  <a:srgbClr val="222222"/>
                </a:solidFill>
                <a:latin typeface="Arial" panose="020B0604020202090204"/>
                <a:sym typeface="+mn-ea"/>
              </a:rPr>
              <a:t>  p_T   : teacher distribution over A/B/C/D/E</a:t>
            </a:r>
            <a:endParaRPr>
              <a:solidFill>
                <a:srgbClr val="222222"/>
              </a:solidFill>
              <a:latin typeface="Arial" panose="020B0604020202090204"/>
            </a:endParaRPr>
          </a:p>
          <a:p>
            <a:pPr algn="l"/>
            <a:r>
              <a:rPr>
                <a:solidFill>
                  <a:srgbClr val="222222"/>
                </a:solidFill>
                <a:latin typeface="Arial" panose="020B0604020202090204"/>
                <a:sym typeface="+mn-ea"/>
              </a:rPr>
              <a:t>  p_S   : student distribution over A/B/C/D/E</a:t>
            </a:r>
            <a:endParaRPr>
              <a:solidFill>
                <a:srgbClr val="222222"/>
              </a:solidFill>
              <a:latin typeface="Arial" panose="020B0604020202090204"/>
            </a:endParaRPr>
          </a:p>
          <a:p>
            <a:pPr algn="l"/>
            <a:r>
              <a:rPr>
                <a:solidFill>
                  <a:srgbClr val="222222"/>
                </a:solidFill>
                <a:latin typeface="Arial" panose="020B0604020202090204"/>
                <a:sym typeface="+mn-ea"/>
              </a:rPr>
              <a:t>  L_CE  : cross-entropy loss vs gold-answer label</a:t>
            </a:r>
            <a:endParaRPr>
              <a:solidFill>
                <a:srgbClr val="222222"/>
              </a:solidFill>
              <a:latin typeface="Arial" panose="020B0604020202090204"/>
            </a:endParaRPr>
          </a:p>
          <a:p/>
          <a:p/>
          <a:p>
            <a:r>
              <a:t>[PAUSE - point to Stage 2]</a:t>
            </a:r>
          </a:p>
          <a:p/>
          <a:p>
            <a:r>
              <a:t>Stage 2 is OPTIONAL — Gold-Answer SFT Calibration. It inherits the LoRA weights from Stage 1 and continues with supervised fine-tuning using ground-truth labels. The intuition is: Stage 1 gives the student a relative preference map, and Stage 2 anchors it to the gold answers.</a:t>
            </a:r>
          </a:p>
          <a:p/>
          <a:p>
            <a:r>
              <a:t>[PAUSE - emphasize the intuition]</a:t>
            </a:r>
          </a:p>
          <a:p/>
          <a:p>
            <a:r>
              <a:t>The key design intuition is: keep the part of teacher uncertainty that directly affects the final option, and drop supervision dimensions that do NOT change the decision.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Now, WHY does decision-space distillation matter? There are four key reasons.</a:t>
            </a:r>
          </a:p>
          <a:p/>
          <a:p>
            <a:r>
              <a:t>[COUNT ON FINGERS]</a:t>
            </a:r>
          </a:p>
          <a:p/>
          <a:p>
            <a:r>
              <a:t>First, TASK ALIGNMENT. Because the supervision follows the five-option structure, the signal-to-noise ratio is much better than full-vocabulary distillation.</a:t>
            </a:r>
          </a:p>
          <a:p/>
          <a:p>
            <a:r>
              <a:t>We reduce the supervision space from tens of thousands of vocabulary dimensions down to just 5 — a reduction of four to five orders of magnitude.</a:t>
            </a:r>
          </a:p>
          <a:p/>
          <a:p>
            <a:r>
              <a:t>We only need an approximate option-level soft label constructed from the teacher's returned answers — we do NOT need access to internal model states.</a:t>
            </a:r>
          </a:p>
          <a:p/>
          <a:p>
            <a:r>
              <a:t>Option-level soft labels preserve the teacher's relative preferences among A, B, C, D, and E — the "dark knowledge" that actually affects the final decision.</a:t>
            </a:r>
          </a:p>
          <a:p/>
          <a:p>
            <a:r>
              <a:t>[PAUSE - emphasize]</a:t>
            </a:r>
          </a:p>
          <a:p/>
          <a:p>
            <a:r>
              <a:t>In summary, for structured MCQ tasks, decision-space transfer is a much better compression target than generic language modeling.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Let me now describe our experimental setup.</a:t>
            </a:r>
          </a:p>
          <a:p/>
          <a:p>
            <a:r>
              <a:t>[POINT TO EACH SECTION]</a:t>
            </a:r>
          </a:p>
          <a:p/>
          <a:p>
            <a:r>
              <a:t>DATASET: We use a CMExam-based resplit with 6,590 single-choice medical questions. The data is split 70-15-15, resulting in 4,608 training, 991 validation, and 991 test questions. The split is stratified by difficulty. We evaluate on two test sets: the full test set of 991 questions, and a dental subset of 125 questions.</a:t>
            </a:r>
          </a:p>
          <a:p/>
          <a:p>
            <a:r>
              <a:t>[PAUSE]</a:t>
            </a:r>
          </a:p>
          <a:p/>
          <a:p>
            <a:r>
              <a:t>there is about 12 percent disagreement between the teacher's predictions and ground-truth labels</a:t>
            </a:r>
          </a:p>
          <a:p/>
          <a:p>
            <a:r>
              <a:t>[PAUSE]</a:t>
            </a:r>
          </a:p>
          <a:p/>
          <a:p>
            <a:r>
              <a:t>STUDENTS: We use Qwen2.5-7B-Instruct and Qwen2.5-14B-Instruct as student models. Training uses LoRA with rank 16 and alpha 32, learning rate 1e-4. Stage 1 runs for 1 epoch, and Stage 2 adds an optional SFT epoch.</a:t>
            </a:r>
          </a:p>
          <a:p/>
          <a:p>
            <a:r>
              <a:t>[PAUSE]</a:t>
            </a:r>
          </a:p>
          <a:p/>
          <a:p>
            <a:r>
              <a:t>EVALUATION: We use exact-match accuracy on the final option choice. We run 3 seeds to reduce run-to-run noise. The answer space is closed — only A through E are allowed, with no free-form generation.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Now, the main results.</a:t>
            </a:r>
          </a:p>
          <a:p/>
          <a:p>
            <a:r>
              <a:t>[POINT TO TABLE]</a:t>
            </a:r>
          </a:p>
          <a:p/>
          <a:p>
            <a:r>
              <a:t>Here are the results on both test sets. Let me walk you through the key comparisons.</a:t>
            </a:r>
          </a:p>
          <a:p/>
          <a:p>
            <a:r>
              <a:t>[POINT TO ROWS]</a:t>
            </a:r>
          </a:p>
          <a:p/>
          <a:p>
            <a:r>
              <a:t>First, the zero-shot baselines: Qwen2.5-7B gets 76.49 percent, and 14B gets 83.55 percent.</a:t>
            </a:r>
          </a:p>
          <a:p/>
          <a:p>
            <a:r>
              <a:t>The teacher, DeepSeek-V3, gets 87.18 percent on the full test.</a:t>
            </a:r>
          </a:p>
          <a:p/>
          <a:p>
            <a:r>
              <a:t>After our Stage 1 distillation, the 7B student improves to 85.60 percent, and the 14B student reaches 88.67 percent on average.</a:t>
            </a:r>
          </a:p>
          <a:p/>
          <a:p>
            <a:r>
              <a:t>[EMPHASIZE - raise voice slightly]</a:t>
            </a:r>
          </a:p>
          <a:p/>
          <a:p>
            <a:r>
              <a:t>Most importantly, the BEST 14B student achieves 89.10 percent — which SURPASSES the teacher's 87.18 percent by 1.92 percentage points.</a:t>
            </a:r>
          </a:p>
          <a:p/>
          <a:p>
            <a:r>
              <a:t>[PAUSE - let this sink in]</a:t>
            </a:r>
          </a:p>
          <a:p/>
          <a:p>
            <a:r>
              <a:t>On the dental subset, the 14B best result is 78.40 percent, which is close to the teacher's 79.20 percent.</a:t>
            </a:r>
          </a:p>
          <a:p/>
          <a:p>
            <a:r>
              <a:t>The results are also stable: across 3 seeds, the spread is only 0.7 percentage points — from 88.40 to 89.10 percent.</a:t>
            </a:r>
          </a:p>
          <a:p/>
          <a:p>
            <a:r>
              <a:t>[PAUSE]</a:t>
            </a:r>
          </a:p>
          <a:p/>
          <a:p>
            <a:r>
              <a:t>This student-over-teacher result is one of our key findings.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Let me summarize the three key contributions of this work.</a:t>
            </a:r>
          </a:p>
          <a:p/>
          <a:p>
            <a:r>
              <a:t>[HOLD UP ONE FINGER]</a:t>
            </a:r>
          </a:p>
          <a:p/>
          <a:p>
            <a:r>
              <a:t>Contribution 1: METHOD. We propose Choice-Head distillation — a task-aligned, decision-space distillation framework for five-option medical MCQs. It replaces full-vocabulary distillation with option-level supervision. And importantly, it is compatible with black-box API teachers — you only need option probabilities, not internal states.</a:t>
            </a:r>
          </a:p>
          <a:p/>
          <a:p>
            <a:r>
              <a:t>[HOLD UP TWO FINGERS]</a:t>
            </a:r>
          </a:p>
          <a:p/>
          <a:p>
            <a:r>
              <a:t>Contribution 2: EMPIRICAL FINDING. We demonstrate that a smaller student can outperform a stronger teacher under task-aligned distillation. The best 14B student reaches 89.10 percent, compared to the teacher's 87.18 percent, on the 991-question test. And this result is stable across seeds.</a:t>
            </a:r>
          </a:p>
          <a:p/>
          <a:p>
            <a:r>
              <a:t>[HOLD UP THREE FINGERS]</a:t>
            </a:r>
          </a:p>
          <a:p/>
          <a:p>
            <a:r>
              <a:t>We quantify teacher label quality — about 12 percent disagreement with ground truth.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Now let me discuss the practical implications and limitations of our work.</a:t>
            </a:r>
          </a:p>
          <a:p/>
          <a:p>
            <a:r>
              <a:t>[POINT TO LEFT - Implications]</a:t>
            </a:r>
          </a:p>
          <a:p/>
          <a:p>
            <a:r>
              <a:t>On the practical side, our method changes the deployment trade-off. Instead of requiring a GPU with over 100 gigabytes of VRAM, the distilled student can run on a single consumer GPU. This means lower inference latency and no need for paid API calls.</a:t>
            </a:r>
          </a:p>
          <a:p/>
          <a:p>
            <a:r>
              <a:t>Our approach is also applicable to any structured MCQ task — not just dental exams. It can be used for medical licensing exams, certification tests, and educational AI tutoring.</a:t>
            </a:r>
          </a:p>
          <a:p/>
          <a:p>
            <a:r>
              <a:t>[PAUSE - point to right - Limitations]</a:t>
            </a:r>
          </a:p>
          <a:p/>
          <a:p>
            <a:r>
              <a:t>However, there are important limitations.</a:t>
            </a:r>
          </a:p>
          <a:p/>
          <a:p>
            <a:r>
              <a:t>First, TASK SCOPE: our method is designed for fixed-option MCQ. It does NOT directly apply to open-ended QA.</a:t>
            </a:r>
          </a:p>
          <a:p/>
          <a:p>
            <a:r>
              <a:t>Second, EXPERIMENT SCOPE: we only tested with one teacher — DeepSeek-V3 — and one student family — Qwen2.5. More diverse combinations would strengthen the findings.</a:t>
            </a:r>
          </a:p>
          <a:p/>
          <a:p>
            <a:r>
              <a:t>Third, Stage 2 is NOT always beneficial and requires careful tuning.</a:t>
            </a:r>
          </a:p>
          <a:p/>
          <a:p>
            <a:r>
              <a:t>[PAUSE]</a:t>
            </a:r>
          </a:p>
          <a:p/>
          <a:p>
            <a:r>
              <a:t>For future work, we plan to extend to other MCQ domains and test with more diverse teacher-student combinations.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conclude,</a:t>
            </a:r>
          </a:p>
          <a:p/>
          <a:p>
            <a:r>
              <a:t>[PAUSE - speak slowly and clearly]</a:t>
            </a:r>
          </a:p>
          <a:p/>
          <a:p>
            <a:r>
              <a:t>This paper presented Choice-Head distillation for dental multiple-choice question answering.</a:t>
            </a:r>
          </a:p>
          <a:p/>
          <a:p>
            <a:r>
              <a:t>The method distills only the five-option answer distribution from the teacher, making it computationally lighter and compatible with black-box API teachers.</a:t>
            </a:r>
          </a:p>
          <a:p/>
          <a:p>
            <a:r>
              <a:t>[EMPHASIZE]</a:t>
            </a:r>
          </a:p>
          <a:p/>
          <a:p>
            <a:r>
              <a:t>Our key result: the Qwen2.5-14B student reaches 89.10 percent accuracy, SURPASSING its DeepSeek-V3 teacher at 87.18 percent, on the 991-question test set.</a:t>
            </a:r>
          </a:p>
          <a:p/>
          <a:p>
            <a:r>
              <a:t>For structured medical MCQs, decision-space distillation provides an effective alternative to full-vocabulary approaches.</a:t>
            </a:r>
          </a:p>
          <a:p/>
          <a:p>
            <a:r>
              <a:t>[PAUSE]</a:t>
            </a:r>
          </a:p>
          <a:p/>
          <a:p>
            <a:r>
              <a:t>Code and data will be publicly available.</a:t>
            </a:r>
          </a:p>
          <a:p/>
          <a:p>
            <a:r>
              <a:t>Thank you for your attention. I am happy to take any questions.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[BACKUP SLIDE - only use if asked]</a:t>
            </a:r>
          </a:p>
          <a:p/>
          <a:p>
            <a:r>
              <a:t>Let me address some common questions you might have.</a:t>
            </a:r>
          </a:p>
          <a:p/>
          <a:p>
            <a:r>
              <a:t>Q1: Why distill only five options? The answer is: the downstream task IS a five-option decision. Full-vocabulary supervision introduces several orders of magnitude more dimensions that do NOT affect the final answer. It is simply wasteful.</a:t>
            </a:r>
          </a:p>
          <a:p/>
          <a:p>
            <a:r>
              <a:t>Q2: Why can the student outperform the teacher? The student learns the teacher's soft-label structure AND is directly optimized for the benchmark task. The teacher's full behavior is not constrained to MCQ — it generates fluently across many tasks, which may actually hurt its MCQ accuracy.</a:t>
            </a:r>
          </a:p>
          <a:p/>
          <a:p>
            <a:r>
              <a:t>Q3: Can this extend to open-ended QA? Not directly. Our method is built for structured MCQs with fixed options. Open-ended QA would require different distillation targets, such as rationale generation.</a:t>
            </a:r>
          </a:p>
          <a:p/>
          <a:p>
            <a:r>
              <a:t>Q4: Does Stage 2 always help? No. In our experiments, the best 14B result came from Stage 1 ONLY. Extra ground-truth fine-tuning can actually mildly hurt a well-distilled student.</a:t>
            </a:r>
          </a:p>
          <a:p/>
          <a:p>
            <a:r>
              <a:t>[IF NO MORE QUESTIONS]</a:t>
            </a:r>
          </a:p>
          <a:p/>
          <a:p>
            <a:r>
              <a:t>Thank you again for your attention! Feel free to reach out after the session.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7.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7.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7.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7.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7.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7.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7.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7.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p:sp>
        <p:nvSpPr>
          <p:cNvPr id="2" name="TextBox 1"/>
          <p:cNvSpPr txBox="1"/>
          <p:nvPr/>
        </p:nvSpPr>
        <p:spPr>
          <a:xfrm>
            <a:off x="731520" y="1097280"/>
            <a:ext cx="6400800" cy="822960"/>
          </a:xfrm>
          <a:prstGeom prst="rect">
            <a:avLst/>
          </a:prstGeom>
          <a:noFill/>
        </p:spPr>
        <p:txBody>
          <a:bodyPr wrap="square">
            <a:spAutoFit/>
          </a:bodyPr>
          <a:lstStyle/>
          <a:p>
            <a:pPr algn="l"/>
            <a:r>
              <a:rPr sz="3600" b="1">
                <a:solidFill>
                  <a:srgbClr val="00578B"/>
                </a:solidFill>
                <a:latin typeface="Arial" panose="020B0604020202090204"/>
              </a:rPr>
              <a:t>Choice-Head Distillation for</a:t>
            </a:r>
            <a:endParaRPr sz="3600" b="1">
              <a:solidFill>
                <a:srgbClr val="00578B"/>
              </a:solidFill>
              <a:latin typeface="Arial" panose="020B0604020202090204"/>
            </a:endParaRPr>
          </a:p>
        </p:txBody>
      </p:sp>
      <p:sp>
        <p:nvSpPr>
          <p:cNvPr id="3" name="TextBox 2"/>
          <p:cNvSpPr txBox="1"/>
          <p:nvPr/>
        </p:nvSpPr>
        <p:spPr>
          <a:xfrm>
            <a:off x="731520" y="1920240"/>
            <a:ext cx="6400800" cy="822960"/>
          </a:xfrm>
          <a:prstGeom prst="rect">
            <a:avLst/>
          </a:prstGeom>
          <a:noFill/>
        </p:spPr>
        <p:txBody>
          <a:bodyPr wrap="square">
            <a:spAutoFit/>
          </a:bodyPr>
          <a:lstStyle/>
          <a:p>
            <a:pPr algn="l"/>
            <a:r>
              <a:rPr sz="3600" b="1">
                <a:solidFill>
                  <a:srgbClr val="00578B"/>
                </a:solidFill>
                <a:latin typeface="Arial" panose="020B0604020202090204"/>
              </a:rPr>
              <a:t>Dental Multiple-Choice Question Answering</a:t>
            </a:r>
            <a:endParaRPr sz="3600" b="1">
              <a:solidFill>
                <a:srgbClr val="00578B"/>
              </a:solidFill>
              <a:latin typeface="Arial" panose="020B0604020202090204"/>
            </a:endParaRPr>
          </a:p>
        </p:txBody>
      </p:sp>
      <p:sp>
        <p:nvSpPr>
          <p:cNvPr id="4" name="TextBox 3"/>
          <p:cNvSpPr txBox="1"/>
          <p:nvPr/>
        </p:nvSpPr>
        <p:spPr>
          <a:xfrm>
            <a:off x="731520" y="2926080"/>
            <a:ext cx="6400800" cy="548640"/>
          </a:xfrm>
          <a:prstGeom prst="rect">
            <a:avLst/>
          </a:prstGeom>
          <a:noFill/>
        </p:spPr>
        <p:txBody>
          <a:bodyPr wrap="square">
            <a:spAutoFit/>
          </a:bodyPr>
          <a:lstStyle/>
          <a:p>
            <a:pPr algn="l"/>
            <a:r>
              <a:rPr sz="2000" b="0">
                <a:solidFill>
                  <a:srgbClr val="00AD9E"/>
                </a:solidFill>
                <a:latin typeface="Arial" panose="020B0604020202090204"/>
              </a:rPr>
              <a:t>Decision-Space Distillation for Deployable Medical QA</a:t>
            </a:r>
            <a:endParaRPr sz="2000" b="0">
              <a:solidFill>
                <a:srgbClr val="00AD9E"/>
              </a:solidFill>
              <a:latin typeface="Arial" panose="020B0604020202090204"/>
            </a:endParaRPr>
          </a:p>
        </p:txBody>
      </p:sp>
      <p:sp>
        <p:nvSpPr>
          <p:cNvPr id="5" name="TextBox 4"/>
          <p:cNvSpPr txBox="1"/>
          <p:nvPr/>
        </p:nvSpPr>
        <p:spPr>
          <a:xfrm>
            <a:off x="731520" y="3931920"/>
            <a:ext cx="6400800" cy="1828800"/>
          </a:xfrm>
          <a:prstGeom prst="rect">
            <a:avLst/>
          </a:prstGeom>
          <a:noFill/>
        </p:spPr>
        <p:txBody>
          <a:bodyPr wrap="square">
            <a:spAutoFit/>
          </a:bodyPr>
          <a:lstStyle/>
          <a:p>
            <a:pPr algn="l"/>
            <a:r>
              <a:rPr sz="1600">
                <a:solidFill>
                  <a:srgbClr val="222222"/>
                </a:solidFill>
                <a:latin typeface="Arial" panose="020B0604020202090204"/>
              </a:rPr>
              <a:t>Presenter: Tianyuan Chen (陈天元)</a:t>
            </a:r>
            <a:endParaRPr sz="1600">
              <a:solidFill>
                <a:srgbClr val="222222"/>
              </a:solidFill>
              <a:latin typeface="Arial" panose="020B0604020202090204"/>
            </a:endParaRPr>
          </a:p>
          <a:p>
            <a:pPr algn="l"/>
            <a:r>
              <a:rPr sz="1600">
                <a:solidFill>
                  <a:srgbClr val="222222"/>
                </a:solidFill>
                <a:latin typeface="Arial" panose="020B0604020202090204"/>
              </a:rPr>
              <a:t>Supervisor: Dr. Richard Tai-Chiu Hsung</a:t>
            </a:r>
            <a:endParaRPr sz="1600">
              <a:solidFill>
                <a:srgbClr val="222222"/>
              </a:solidFill>
              <a:latin typeface="Arial" panose="020B0604020202090204"/>
            </a:endParaRPr>
          </a:p>
          <a:p>
            <a:pPr algn="l"/>
            <a:r>
              <a:rPr sz="1600">
                <a:solidFill>
                  <a:srgbClr val="222222"/>
                </a:solidFill>
                <a:latin typeface="Arial" panose="020B0604020202090204"/>
              </a:rPr>
              <a:t>MSc in Applied AI, Hong Kong Chu Hai College</a:t>
            </a:r>
            <a:endParaRPr sz="1600">
              <a:solidFill>
                <a:srgbClr val="222222"/>
              </a:solidFill>
              <a:latin typeface="Arial" panose="020B0604020202090204"/>
            </a:endParaRPr>
          </a:p>
          <a:p>
            <a:pPr algn="l"/>
            <a:r>
              <a:rPr sz="1600">
                <a:solidFill>
                  <a:srgbClr val="222222"/>
                </a:solidFill>
                <a:latin typeface="Arial" panose="020B0604020202090204"/>
              </a:rPr>
              <a:t>AIEA 2026, Shenzhen</a:t>
            </a:r>
            <a:endParaRPr sz="1600">
              <a:solidFill>
                <a:srgbClr val="222222"/>
              </a:solidFill>
              <a:latin typeface="Arial" panose="020B0604020202090204"/>
            </a:endParaRPr>
          </a:p>
        </p:txBody>
      </p:sp>
      <p:pic>
        <p:nvPicPr>
          <p:cNvPr id="6" name="Picture 5" descr="Flat_vector_illustration_for_a_2026-06-13T02-21-00.png"/>
          <p:cNvPicPr>
            <a:picLocks noChangeAspect="1"/>
          </p:cNvPicPr>
          <p:nvPr/>
        </p:nvPicPr>
        <p:blipFill>
          <a:blip r:embed="rId1"/>
          <a:stretch>
            <a:fillRect/>
          </a:stretch>
        </p:blipFill>
        <p:spPr>
          <a:xfrm>
            <a:off x="7498079" y="1097280"/>
            <a:ext cx="4114800" cy="4114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Presentation Outline</a:t>
            </a:r>
            <a:endParaRPr sz="3000" b="1">
              <a:solidFill>
                <a:srgbClr val="00578B"/>
              </a:solidFill>
              <a:latin typeface="Arial" panose="020B0604020202090204"/>
            </a:endParaRPr>
          </a:p>
        </p:txBody>
      </p:sp>
      <p:sp>
        <p:nvSpPr>
          <p:cNvPr id="3" name="TextBox 2"/>
          <p:cNvSpPr txBox="1"/>
          <p:nvPr/>
        </p:nvSpPr>
        <p:spPr>
          <a:xfrm>
            <a:off x="731520" y="1188720"/>
            <a:ext cx="5029200" cy="4572000"/>
          </a:xfrm>
          <a:prstGeom prst="rect">
            <a:avLst/>
          </a:prstGeom>
          <a:noFill/>
        </p:spPr>
        <p:txBody>
          <a:bodyPr wrap="square">
            <a:spAutoFit/>
          </a:bodyPr>
          <a:lstStyle/>
          <a:p>
            <a:pPr algn="l"/>
            <a:r>
              <a:rPr sz="1800">
                <a:solidFill>
                  <a:srgbClr val="222222"/>
                </a:solidFill>
                <a:latin typeface="Arial" panose="020B0604020202090204"/>
              </a:rPr>
              <a:t>01  Motivation &amp; Problem Setting</a:t>
            </a:r>
            <a:endParaRPr sz="1800">
              <a:solidFill>
                <a:srgbClr val="222222"/>
              </a:solidFill>
              <a:latin typeface="Arial" panose="020B0604020202090204"/>
            </a:endParaRPr>
          </a:p>
          <a:p>
            <a:pPr algn="l"/>
            <a:r>
              <a:rPr sz="1800">
                <a:solidFill>
                  <a:srgbClr val="222222"/>
                </a:solidFill>
                <a:latin typeface="Arial" panose="020B0604020202090204"/>
              </a:rPr>
              <a:t>02  Research Questions</a:t>
            </a:r>
            <a:endParaRPr sz="1800">
              <a:solidFill>
                <a:srgbClr val="222222"/>
              </a:solidFill>
              <a:latin typeface="Arial" panose="020B0604020202090204"/>
            </a:endParaRPr>
          </a:p>
          <a:p>
            <a:pPr algn="l"/>
            <a:r>
              <a:rPr sz="1800">
                <a:solidFill>
                  <a:srgbClr val="222222"/>
                </a:solidFill>
                <a:latin typeface="Arial" panose="020B0604020202090204"/>
              </a:rPr>
              <a:t>03  Core Method: Choice-Head Distillation</a:t>
            </a:r>
            <a:endParaRPr sz="1800">
              <a:solidFill>
                <a:srgbClr val="222222"/>
              </a:solidFill>
              <a:latin typeface="Arial" panose="020B0604020202090204"/>
            </a:endParaRPr>
          </a:p>
          <a:p>
            <a:pPr algn="l"/>
            <a:r>
              <a:rPr sz="1800">
                <a:solidFill>
                  <a:srgbClr val="222222"/>
                </a:solidFill>
                <a:latin typeface="Arial" panose="020B0604020202090204"/>
              </a:rPr>
              <a:t>04  Why Decision-Space Distillation Matters</a:t>
            </a:r>
            <a:endParaRPr sz="1800">
              <a:solidFill>
                <a:srgbClr val="222222"/>
              </a:solidFill>
              <a:latin typeface="Arial" panose="020B0604020202090204"/>
            </a:endParaRPr>
          </a:p>
          <a:p>
            <a:pPr algn="l"/>
            <a:r>
              <a:rPr sz="1800">
                <a:solidFill>
                  <a:srgbClr val="222222"/>
                </a:solidFill>
                <a:latin typeface="Arial" panose="020B0604020202090204"/>
              </a:rPr>
              <a:t>05  Experimental Setup</a:t>
            </a:r>
            <a:endParaRPr sz="1800">
              <a:solidFill>
                <a:srgbClr val="222222"/>
              </a:solidFill>
              <a:latin typeface="Arial" panose="020B0604020202090204"/>
            </a:endParaRPr>
          </a:p>
          <a:p>
            <a:pPr algn="l"/>
            <a:r>
              <a:rPr sz="1800">
                <a:solidFill>
                  <a:srgbClr val="222222"/>
                </a:solidFill>
                <a:latin typeface="Arial" panose="020B0604020202090204"/>
              </a:rPr>
              <a:t>06  Main Results &amp; Analysis</a:t>
            </a:r>
            <a:endParaRPr sz="1800">
              <a:solidFill>
                <a:srgbClr val="222222"/>
              </a:solidFill>
              <a:latin typeface="Arial" panose="020B0604020202090204"/>
            </a:endParaRPr>
          </a:p>
          <a:p>
            <a:pPr algn="l"/>
            <a:r>
              <a:rPr sz="1800">
                <a:solidFill>
                  <a:srgbClr val="222222"/>
                </a:solidFill>
                <a:latin typeface="Arial" panose="020B0604020202090204"/>
              </a:rPr>
              <a:t>07  Key Contributions</a:t>
            </a:r>
            <a:endParaRPr sz="1800">
              <a:solidFill>
                <a:srgbClr val="222222"/>
              </a:solidFill>
              <a:latin typeface="Arial" panose="020B0604020202090204"/>
            </a:endParaRPr>
          </a:p>
          <a:p>
            <a:pPr algn="l"/>
            <a:r>
              <a:rPr sz="1800">
                <a:solidFill>
                  <a:srgbClr val="222222"/>
                </a:solidFill>
                <a:latin typeface="Arial" panose="020B0604020202090204"/>
              </a:rPr>
              <a:t>08  Practical Implications &amp; Limitations</a:t>
            </a:r>
            <a:endParaRPr sz="1800">
              <a:solidFill>
                <a:srgbClr val="222222"/>
              </a:solidFill>
              <a:latin typeface="Arial" panose="020B0604020202090204"/>
            </a:endParaRPr>
          </a:p>
          <a:p>
            <a:pPr algn="l"/>
            <a:r>
              <a:rPr sz="1800">
                <a:solidFill>
                  <a:srgbClr val="222222"/>
                </a:solidFill>
                <a:latin typeface="Arial" panose="020B0604020202090204"/>
              </a:rPr>
              <a:t>09  Conclusion</a:t>
            </a:r>
            <a:endParaRPr sz="1800">
              <a:solidFill>
                <a:srgbClr val="222222"/>
              </a:solidFill>
              <a:latin typeface="Arial" panose="020B0604020202090204"/>
            </a:endParaRPr>
          </a:p>
        </p:txBody>
      </p:sp>
      <p:pic>
        <p:nvPicPr>
          <p:cNvPr id="4" name="Picture 3" descr="Flat_vector_illustration_of_a__2026-06-13T02-25-40.png"/>
          <p:cNvPicPr>
            <a:picLocks noChangeAspect="1"/>
          </p:cNvPicPr>
          <p:nvPr/>
        </p:nvPicPr>
        <p:blipFill>
          <a:blip r:embed="rId1"/>
          <a:stretch>
            <a:fillRect/>
          </a:stretch>
        </p:blipFill>
        <p:spPr>
          <a:xfrm>
            <a:off x="6400800" y="914400"/>
            <a:ext cx="5303520" cy="3628724"/>
          </a:xfrm>
          <a:prstGeom prst="rect">
            <a:avLst/>
          </a:prstGeom>
        </p:spPr>
      </p:pic>
      <p:sp>
        <p:nvSpPr>
          <p:cNvPr id="5" name="TextBox 4"/>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2/12</a:t>
            </a:r>
            <a:endParaRPr sz="1200" b="0">
              <a:solidFill>
                <a:srgbClr val="888888"/>
              </a:solidFill>
              <a:latin typeface="Arial" panose="020B060402020209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01  Motivation &amp; Problem Setting</a:t>
            </a:r>
            <a:endParaRPr sz="3000" b="1">
              <a:solidFill>
                <a:srgbClr val="00578B"/>
              </a:solidFill>
              <a:latin typeface="Arial" panose="020B0604020202090204"/>
            </a:endParaRPr>
          </a:p>
        </p:txBody>
      </p:sp>
      <p:sp>
        <p:nvSpPr>
          <p:cNvPr id="3" name="TextBox 2"/>
          <p:cNvSpPr txBox="1"/>
          <p:nvPr/>
        </p:nvSpPr>
        <p:spPr>
          <a:xfrm>
            <a:off x="457200" y="1097280"/>
            <a:ext cx="5029200" cy="548640"/>
          </a:xfrm>
          <a:prstGeom prst="rect">
            <a:avLst/>
          </a:prstGeom>
          <a:noFill/>
        </p:spPr>
        <p:txBody>
          <a:bodyPr wrap="square">
            <a:spAutoFit/>
          </a:bodyPr>
          <a:lstStyle/>
          <a:p>
            <a:pPr algn="l"/>
            <a:r>
              <a:rPr sz="2400" b="1">
                <a:solidFill>
                  <a:srgbClr val="00AD9E"/>
                </a:solidFill>
                <a:latin typeface="Arial" panose="020B0604020202090204"/>
              </a:rPr>
              <a:t>Problem: Accurate but Expensive</a:t>
            </a:r>
            <a:endParaRPr sz="2400" b="1">
              <a:solidFill>
                <a:srgbClr val="00AD9E"/>
              </a:solidFill>
              <a:latin typeface="Arial" panose="020B0604020202090204"/>
            </a:endParaRPr>
          </a:p>
        </p:txBody>
      </p:sp>
      <p:sp>
        <p:nvSpPr>
          <p:cNvPr id="4" name="TextBox 3"/>
          <p:cNvSpPr txBox="1"/>
          <p:nvPr/>
        </p:nvSpPr>
        <p:spPr>
          <a:xfrm>
            <a:off x="457200" y="1737360"/>
            <a:ext cx="5029200" cy="2011680"/>
          </a:xfrm>
          <a:prstGeom prst="rect">
            <a:avLst/>
          </a:prstGeom>
          <a:noFill/>
        </p:spPr>
        <p:txBody>
          <a:bodyPr wrap="square">
            <a:spAutoFit/>
          </a:bodyPr>
          <a:lstStyle/>
          <a:p>
            <a:pPr algn="l"/>
            <a:r>
              <a:rPr sz="1700">
                <a:solidFill>
                  <a:srgbClr val="222222"/>
                </a:solidFill>
                <a:latin typeface="Arial" panose="020B0604020202090204"/>
              </a:rPr>
              <a:t>• Medical LLMs: 87%+ accuracy on exam benchmarks</a:t>
            </a:r>
            <a:endParaRPr sz="1700">
              <a:solidFill>
                <a:srgbClr val="222222"/>
              </a:solidFill>
              <a:latin typeface="Arial" panose="020B0604020202090204"/>
            </a:endParaRPr>
          </a:p>
          <a:p>
            <a:pPr algn="l"/>
            <a:r>
              <a:rPr sz="1700">
                <a:solidFill>
                  <a:srgbClr val="222222"/>
                </a:solidFill>
                <a:latin typeface="Arial" panose="020B0604020202090204"/>
              </a:rPr>
              <a:t>• But: inference cost is very high for deployment</a:t>
            </a:r>
            <a:endParaRPr sz="1700">
              <a:solidFill>
                <a:srgbClr val="222222"/>
              </a:solidFill>
              <a:latin typeface="Arial" panose="020B0604020202090204"/>
            </a:endParaRPr>
          </a:p>
          <a:p>
            <a:pPr algn="l"/>
            <a:r>
              <a:rPr sz="1700">
                <a:solidFill>
                  <a:srgbClr val="222222"/>
                </a:solidFill>
                <a:latin typeface="Arial" panose="020B0604020202090204"/>
              </a:rPr>
              <a:t>• Teacher access: DeepSeek-V3 API (not local deployment)</a:t>
            </a:r>
            <a:endParaRPr sz="1700">
              <a:solidFill>
                <a:srgbClr val="222222"/>
              </a:solidFill>
              <a:latin typeface="Arial" panose="020B0604020202090204"/>
            </a:endParaRPr>
          </a:p>
          <a:p>
            <a:pPr algn="l"/>
            <a:r>
              <a:rPr sz="1700">
                <a:solidFill>
                  <a:srgbClr val="222222"/>
                </a:solidFill>
                <a:latin typeface="Arial" panose="020B0604020202090204"/>
              </a:rPr>
              <a:t>• Dental QA needs lower-cost deployable models</a:t>
            </a:r>
            <a:endParaRPr sz="1700">
              <a:solidFill>
                <a:srgbClr val="222222"/>
              </a:solidFill>
              <a:latin typeface="Arial" panose="020B0604020202090204"/>
            </a:endParaRPr>
          </a:p>
        </p:txBody>
      </p:sp>
      <p:sp>
        <p:nvSpPr>
          <p:cNvPr id="5" name="TextBox 4"/>
          <p:cNvSpPr txBox="1"/>
          <p:nvPr/>
        </p:nvSpPr>
        <p:spPr>
          <a:xfrm>
            <a:off x="457200" y="3840480"/>
            <a:ext cx="5029200" cy="548640"/>
          </a:xfrm>
          <a:prstGeom prst="rect">
            <a:avLst/>
          </a:prstGeom>
          <a:noFill/>
        </p:spPr>
        <p:txBody>
          <a:bodyPr wrap="square">
            <a:spAutoFit/>
          </a:bodyPr>
          <a:lstStyle/>
          <a:p>
            <a:pPr algn="l"/>
            <a:r>
              <a:rPr sz="2400" b="1">
                <a:solidFill>
                  <a:srgbClr val="00AD9E"/>
                </a:solidFill>
                <a:latin typeface="Arial" panose="020B0604020202090204"/>
              </a:rPr>
              <a:t>Why Knowledge Distillation?</a:t>
            </a:r>
            <a:endParaRPr sz="2400" b="1">
              <a:solidFill>
                <a:srgbClr val="00AD9E"/>
              </a:solidFill>
              <a:latin typeface="Arial" panose="020B0604020202090204"/>
            </a:endParaRPr>
          </a:p>
        </p:txBody>
      </p:sp>
      <p:sp>
        <p:nvSpPr>
          <p:cNvPr id="6" name="TextBox 5"/>
          <p:cNvSpPr txBox="1"/>
          <p:nvPr/>
        </p:nvSpPr>
        <p:spPr>
          <a:xfrm>
            <a:off x="457200" y="4480560"/>
            <a:ext cx="5029200" cy="1645920"/>
          </a:xfrm>
          <a:prstGeom prst="rect">
            <a:avLst/>
          </a:prstGeom>
          <a:noFill/>
        </p:spPr>
        <p:txBody>
          <a:bodyPr wrap="square">
            <a:spAutoFit/>
          </a:bodyPr>
          <a:lstStyle/>
          <a:p>
            <a:pPr algn="l"/>
            <a:r>
              <a:rPr sz="1700">
                <a:solidFill>
                  <a:srgbClr val="222222"/>
                </a:solidFill>
                <a:latin typeface="Arial" panose="020B0604020202090204"/>
              </a:rPr>
              <a:t>• Transfer teacher capability to smaller student</a:t>
            </a:r>
            <a:endParaRPr sz="1700">
              <a:solidFill>
                <a:srgbClr val="222222"/>
              </a:solidFill>
              <a:latin typeface="Arial" panose="020B0604020202090204"/>
            </a:endParaRPr>
          </a:p>
          <a:p>
            <a:pPr algn="l"/>
            <a:r>
              <a:rPr sz="1700">
                <a:solidFill>
                  <a:srgbClr val="222222"/>
                </a:solidFill>
                <a:latin typeface="Arial" panose="020B0604020202090204"/>
              </a:rPr>
              <a:t>• Student: Qwen2.5-7B/14B (smaller deployable models)</a:t>
            </a:r>
            <a:endParaRPr sz="1700">
              <a:solidFill>
                <a:srgbClr val="222222"/>
              </a:solidFill>
              <a:latin typeface="Arial" panose="020B0604020202090204"/>
            </a:endParaRPr>
          </a:p>
          <a:p>
            <a:pPr algn="l"/>
            <a:r>
              <a:rPr sz="1700">
                <a:solidFill>
                  <a:srgbClr val="222222"/>
                </a:solidFill>
                <a:latin typeface="Arial" panose="020B0604020202090204"/>
              </a:rPr>
              <a:t>• Key question: what exactly should we distill?</a:t>
            </a:r>
            <a:endParaRPr sz="1700">
              <a:solidFill>
                <a:srgbClr val="222222"/>
              </a:solidFill>
              <a:latin typeface="Arial" panose="020B0604020202090204"/>
            </a:endParaRPr>
          </a:p>
          <a:p>
            <a:pPr algn="l"/>
            <a:r>
              <a:rPr sz="1700">
                <a:solidFill>
                  <a:srgbClr val="222222"/>
                </a:solidFill>
                <a:latin typeface="Arial" panose="020B0604020202090204"/>
              </a:rPr>
              <a:t>• Full-vocab distillation = redundant for 5-option MCQ</a:t>
            </a:r>
            <a:endParaRPr sz="1700">
              <a:solidFill>
                <a:srgbClr val="222222"/>
              </a:solidFill>
              <a:latin typeface="Arial" panose="020B0604020202090204"/>
            </a:endParaRPr>
          </a:p>
        </p:txBody>
      </p:sp>
      <p:sp>
        <p:nvSpPr>
          <p:cNvPr id="7" name="TextBox 6"/>
          <p:cNvSpPr txBox="1"/>
          <p:nvPr/>
        </p:nvSpPr>
        <p:spPr>
          <a:xfrm>
            <a:off x="457200" y="5943600"/>
            <a:ext cx="5486400" cy="457200"/>
          </a:xfrm>
          <a:prstGeom prst="rect">
            <a:avLst/>
          </a:prstGeom>
          <a:noFill/>
        </p:spPr>
        <p:txBody>
          <a:bodyPr wrap="square">
            <a:spAutoFit/>
          </a:bodyPr>
          <a:lstStyle/>
          <a:p>
            <a:pPr algn="l"/>
            <a:r>
              <a:rPr sz="1700" b="1">
                <a:solidFill>
                  <a:srgbClr val="00AD9E"/>
                </a:solidFill>
                <a:latin typeface="Arial" panose="020B0604020202090204"/>
              </a:rPr>
              <a:t>→ Distillation should target decision space, not full vocab (50K+ tokens)</a:t>
            </a:r>
            <a:endParaRPr sz="1700" b="1">
              <a:solidFill>
                <a:srgbClr val="00AD9E"/>
              </a:solidFill>
              <a:latin typeface="Arial" panose="020B0604020202090204"/>
            </a:endParaRPr>
          </a:p>
        </p:txBody>
      </p:sp>
      <p:pic>
        <p:nvPicPr>
          <p:cNvPr id="8" name="Picture 7" descr="Flat_vector_illustration_showi_2026-06-13T02-21-39.png"/>
          <p:cNvPicPr>
            <a:picLocks noChangeAspect="1"/>
          </p:cNvPicPr>
          <p:nvPr/>
        </p:nvPicPr>
        <p:blipFill>
          <a:blip r:embed="rId1"/>
          <a:stretch>
            <a:fillRect/>
          </a:stretch>
        </p:blipFill>
        <p:spPr>
          <a:xfrm>
            <a:off x="6217920" y="1097280"/>
            <a:ext cx="5486400" cy="5486400"/>
          </a:xfrm>
          <a:prstGeom prst="rect">
            <a:avLst/>
          </a:prstGeom>
        </p:spPr>
      </p:pic>
      <p:sp>
        <p:nvSpPr>
          <p:cNvPr id="9" name="TextBox 8"/>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3/12</a:t>
            </a:r>
            <a:endParaRPr sz="1200" b="0">
              <a:solidFill>
                <a:srgbClr val="888888"/>
              </a:solidFill>
              <a:latin typeface="Arial" panose="020B0604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02  Research Questions</a:t>
            </a:r>
            <a:endParaRPr sz="3000" b="1">
              <a:solidFill>
                <a:srgbClr val="00578B"/>
              </a:solidFill>
              <a:latin typeface="Arial" panose="020B0604020202090204"/>
            </a:endParaRPr>
          </a:p>
        </p:txBody>
      </p:sp>
      <p:sp>
        <p:nvSpPr>
          <p:cNvPr id="3" name="TextBox 2"/>
          <p:cNvSpPr txBox="1"/>
          <p:nvPr/>
        </p:nvSpPr>
        <p:spPr>
          <a:xfrm>
            <a:off x="457200" y="1188720"/>
            <a:ext cx="5943600" cy="3657600"/>
          </a:xfrm>
          <a:prstGeom prst="rect">
            <a:avLst/>
          </a:prstGeom>
          <a:noFill/>
        </p:spPr>
        <p:txBody>
          <a:bodyPr wrap="square">
            <a:spAutoFit/>
          </a:bodyPr>
          <a:lstStyle/>
          <a:p>
            <a:pPr algn="l"/>
            <a:r>
              <a:rPr sz="1700">
                <a:solidFill>
                  <a:srgbClr val="222222"/>
                </a:solidFill>
                <a:latin typeface="Arial" panose="020B0604020202090204"/>
              </a:rPr>
              <a:t>RQ1: What to Distill?</a:t>
            </a:r>
            <a:endParaRPr sz="1700">
              <a:solidFill>
                <a:srgbClr val="222222"/>
              </a:solidFill>
              <a:latin typeface="Arial" panose="020B0604020202090204"/>
            </a:endParaRPr>
          </a:p>
          <a:p>
            <a:pPr algn="l"/>
            <a:r>
              <a:rPr sz="1700">
                <a:solidFill>
                  <a:srgbClr val="222222"/>
                </a:solidFill>
                <a:latin typeface="Arial" panose="020B0604020202090204"/>
              </a:rPr>
              <a:t>   Whole vocabulary or only A/B/C/D/E?</a:t>
            </a:r>
            <a:endParaRPr sz="1700">
              <a:solidFill>
                <a:srgbClr val="222222"/>
              </a:solidFill>
              <a:latin typeface="Arial" panose="020B0604020202090204"/>
            </a:endParaRPr>
          </a:p>
          <a:p>
            <a:pPr algn="l"/>
            <a:r>
              <a:rPr sz="1700">
                <a:solidFill>
                  <a:srgbClr val="222222"/>
                </a:solidFill>
                <a:latin typeface="Arial" panose="020B0604020202090204"/>
              </a:rPr>
              <a:t>   Is full-vocabulary distillation redundant for MCQ?</a:t>
            </a:r>
            <a:endParaRPr sz="1700">
              <a:solidFill>
                <a:srgbClr val="222222"/>
              </a:solidFill>
              <a:latin typeface="Arial" panose="020B0604020202090204"/>
            </a:endParaRPr>
          </a:p>
          <a:p>
            <a:pPr algn="l"/>
          </a:p>
          <a:p>
            <a:pPr algn="l"/>
            <a:r>
              <a:rPr sz="1700">
                <a:solidFill>
                  <a:srgbClr val="222222"/>
                </a:solidFill>
                <a:latin typeface="Arial" panose="020B0604020202090204"/>
              </a:rPr>
              <a:t>RQ2: Can Students Exceed Teachers?</a:t>
            </a:r>
            <a:endParaRPr sz="1700">
              <a:solidFill>
                <a:srgbClr val="222222"/>
              </a:solidFill>
              <a:latin typeface="Arial" panose="020B0604020202090204"/>
            </a:endParaRPr>
          </a:p>
          <a:p>
            <a:pPr algn="l"/>
            <a:r>
              <a:rPr sz="1700">
                <a:solidFill>
                  <a:srgbClr val="222222"/>
                </a:solidFill>
                <a:latin typeface="Arial" panose="020B0604020202090204"/>
              </a:rPr>
              <a:t>   Under a task-aligned objective, can a smaller</a:t>
            </a:r>
            <a:endParaRPr sz="1700">
              <a:solidFill>
                <a:srgbClr val="222222"/>
              </a:solidFill>
              <a:latin typeface="Arial" panose="020B0604020202090204"/>
            </a:endParaRPr>
          </a:p>
          <a:p>
            <a:pPr algn="l"/>
            <a:r>
              <a:rPr sz="1700">
                <a:solidFill>
                  <a:srgbClr val="222222"/>
                </a:solidFill>
                <a:latin typeface="Arial" panose="020B0604020202090204"/>
              </a:rPr>
              <a:t>   student outperform its teacher?</a:t>
            </a:r>
            <a:endParaRPr sz="1700">
              <a:solidFill>
                <a:srgbClr val="222222"/>
              </a:solidFill>
              <a:latin typeface="Arial" panose="020B0604020202090204"/>
            </a:endParaRPr>
          </a:p>
          <a:p>
            <a:pPr algn="l"/>
          </a:p>
          <a:p>
            <a:pPr algn="l"/>
            <a:r>
              <a:rPr sz="1700">
                <a:solidFill>
                  <a:srgbClr val="222222"/>
                </a:solidFill>
                <a:latin typeface="Arial" panose="020B0604020202090204"/>
              </a:rPr>
              <a:t>RQ3: Can It Stay Black-Box Friendly?</a:t>
            </a:r>
            <a:endParaRPr sz="1700">
              <a:solidFill>
                <a:srgbClr val="222222"/>
              </a:solidFill>
              <a:latin typeface="Arial" panose="020B0604020202090204"/>
            </a:endParaRPr>
          </a:p>
          <a:p>
            <a:pPr algn="l"/>
            <a:r>
              <a:rPr sz="1700">
                <a:solidFill>
                  <a:srgbClr val="222222"/>
                </a:solidFill>
                <a:latin typeface="Arial" panose="020B0604020202090204"/>
              </a:rPr>
              <a:t>   Can the method work with API-only teachers?</a:t>
            </a:r>
            <a:endParaRPr sz="1700">
              <a:solidFill>
                <a:srgbClr val="222222"/>
              </a:solidFill>
              <a:latin typeface="Arial" panose="020B0604020202090204"/>
            </a:endParaRPr>
          </a:p>
          <a:p>
            <a:pPr algn="l"/>
            <a:r>
              <a:rPr sz="1700">
                <a:solidFill>
                  <a:srgbClr val="222222"/>
                </a:solidFill>
                <a:latin typeface="Arial" panose="020B0604020202090204"/>
              </a:rPr>
              <a:t>   Compatible with commercial LLM APIs?</a:t>
            </a:r>
            <a:endParaRPr sz="1700">
              <a:solidFill>
                <a:srgbClr val="222222"/>
              </a:solidFill>
              <a:latin typeface="Arial" panose="020B0604020202090204"/>
            </a:endParaRPr>
          </a:p>
        </p:txBody>
      </p:sp>
      <p:sp>
        <p:nvSpPr>
          <p:cNvPr id="4" name="TextBox 3"/>
          <p:cNvSpPr txBox="1"/>
          <p:nvPr/>
        </p:nvSpPr>
        <p:spPr>
          <a:xfrm>
            <a:off x="457200" y="5120640"/>
            <a:ext cx="5943600" cy="1097280"/>
          </a:xfrm>
          <a:prstGeom prst="rect">
            <a:avLst/>
          </a:prstGeom>
          <a:noFill/>
        </p:spPr>
        <p:txBody>
          <a:bodyPr wrap="square">
            <a:spAutoFit/>
          </a:bodyPr>
          <a:lstStyle/>
          <a:p>
            <a:pPr algn="l"/>
            <a:r>
              <a:rPr sz="1700" b="1">
                <a:solidFill>
                  <a:srgbClr val="00AD9E"/>
                </a:solidFill>
                <a:latin typeface="Arial" panose="020B0604020202090204"/>
              </a:rPr>
              <a:t>Central Hypothesis:
For a five-option medical exam task, the critical transfer
target is the decision structure—not the full LM behavior.</a:t>
            </a:r>
            <a:endParaRPr sz="1700" b="1">
              <a:solidFill>
                <a:srgbClr val="00AD9E"/>
              </a:solidFill>
              <a:latin typeface="Arial" panose="020B0604020202090204"/>
            </a:endParaRPr>
          </a:p>
        </p:txBody>
      </p:sp>
      <p:pic>
        <p:nvPicPr>
          <p:cNvPr id="5" name="Picture 4" descr="Flat_vector_illustration_of_th_2026-06-13T02-26-08.png"/>
          <p:cNvPicPr>
            <a:picLocks noChangeAspect="1"/>
          </p:cNvPicPr>
          <p:nvPr/>
        </p:nvPicPr>
        <p:blipFill>
          <a:blip r:embed="rId1"/>
          <a:stretch>
            <a:fillRect/>
          </a:stretch>
        </p:blipFill>
        <p:spPr>
          <a:xfrm>
            <a:off x="6858000" y="1097280"/>
            <a:ext cx="4754880" cy="4754880"/>
          </a:xfrm>
          <a:prstGeom prst="rect">
            <a:avLst/>
          </a:prstGeom>
        </p:spPr>
      </p:pic>
      <p:sp>
        <p:nvSpPr>
          <p:cNvPr id="6" name="TextBox 5"/>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4/12</a:t>
            </a:r>
            <a:endParaRPr sz="1200" b="0">
              <a:solidFill>
                <a:srgbClr val="888888"/>
              </a:solidFill>
              <a:latin typeface="Arial" panose="020B060402020209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03  Core Method: Choice-Head Distillation</a:t>
            </a:r>
            <a:endParaRPr sz="3000" b="1">
              <a:solidFill>
                <a:srgbClr val="00578B"/>
              </a:solidFill>
              <a:latin typeface="Arial" panose="020B0604020202090204"/>
            </a:endParaRPr>
          </a:p>
        </p:txBody>
      </p:sp>
      <p:sp>
        <p:nvSpPr>
          <p:cNvPr id="3" name="TextBox 2"/>
          <p:cNvSpPr txBox="1"/>
          <p:nvPr/>
        </p:nvSpPr>
        <p:spPr>
          <a:xfrm>
            <a:off x="457200" y="1097280"/>
            <a:ext cx="5943600" cy="4831080"/>
          </a:xfrm>
          <a:prstGeom prst="rect">
            <a:avLst/>
          </a:prstGeom>
          <a:noFill/>
        </p:spPr>
        <p:txBody>
          <a:bodyPr wrap="square">
            <a:spAutoFit/>
          </a:bodyPr>
          <a:lstStyle/>
          <a:p>
            <a:pPr algn="l"/>
            <a:r>
              <a:rPr sz="1700">
                <a:solidFill>
                  <a:srgbClr val="222222"/>
                </a:solidFill>
                <a:latin typeface="Arial" panose="020B0604020202090204"/>
              </a:rPr>
              <a:t>Stage 1: Choice-Head KL Distillation (Main Stage)</a:t>
            </a:r>
            <a:endParaRPr sz="1700">
              <a:solidFill>
                <a:srgbClr val="222222"/>
              </a:solidFill>
              <a:latin typeface="Arial" panose="020B0604020202090204"/>
            </a:endParaRPr>
          </a:p>
          <a:p>
            <a:pPr algn="l"/>
            <a:r>
              <a:rPr sz="1700">
                <a:solidFill>
                  <a:srgbClr val="222222"/>
                </a:solidFill>
                <a:latin typeface="Arial" panose="020B0604020202090204"/>
              </a:rPr>
              <a:t>Distills only the teacher's distribution over the 5 answer options</a:t>
            </a:r>
            <a:endParaRPr sz="1700">
              <a:solidFill>
                <a:srgbClr val="222222"/>
              </a:solidFill>
              <a:latin typeface="Arial" panose="020B0604020202090204"/>
            </a:endParaRPr>
          </a:p>
          <a:p>
            <a:pPr algn="l"/>
            <a:r>
              <a:rPr sz="1700">
                <a:solidFill>
                  <a:srgbClr val="222222"/>
                </a:solidFill>
                <a:latin typeface="Arial" panose="020B0604020202090204"/>
              </a:rPr>
              <a:t>  • Loss: L = α·KL(p_T || p_S) + (1-α)·CE</a:t>
            </a:r>
            <a:endParaRPr sz="1700">
              <a:solidFill>
                <a:srgbClr val="222222"/>
              </a:solidFill>
              <a:latin typeface="Arial" panose="020B0604020202090204"/>
            </a:endParaRPr>
          </a:p>
          <a:p>
            <a:pPr algn="l"/>
            <a:endParaRPr sz="1700">
              <a:solidFill>
                <a:srgbClr val="222222"/>
              </a:solidFill>
              <a:latin typeface="Arial" panose="020B0604020202090204"/>
            </a:endParaRPr>
          </a:p>
          <a:p>
            <a:pPr algn="l"/>
            <a:endParaRPr sz="1700">
              <a:solidFill>
                <a:srgbClr val="222222"/>
              </a:solidFill>
              <a:latin typeface="Arial" panose="020B0604020202090204"/>
            </a:endParaRPr>
          </a:p>
          <a:p>
            <a:pPr algn="l"/>
            <a:endParaRPr sz="1700">
              <a:solidFill>
                <a:srgbClr val="222222"/>
              </a:solidFill>
              <a:latin typeface="Arial" panose="020B0604020202090204"/>
            </a:endParaRPr>
          </a:p>
          <a:p>
            <a:pPr algn="l"/>
            <a:endParaRPr sz="1700">
              <a:solidFill>
                <a:srgbClr val="222222"/>
              </a:solidFill>
              <a:latin typeface="Arial" panose="020B0604020202090204"/>
            </a:endParaRPr>
          </a:p>
          <a:p>
            <a:pPr algn="l"/>
            <a:endParaRPr sz="1700">
              <a:solidFill>
                <a:srgbClr val="222222"/>
              </a:solidFill>
              <a:latin typeface="Arial" panose="020B0604020202090204"/>
            </a:endParaRPr>
          </a:p>
          <a:p>
            <a:pPr algn="l"/>
            <a:r>
              <a:rPr sz="1700">
                <a:solidFill>
                  <a:srgbClr val="222222"/>
                </a:solidFill>
                <a:latin typeface="Arial" panose="020B0604020202090204"/>
              </a:rPr>
              <a:t>  • KL compares relative preferences across options</a:t>
            </a:r>
            <a:endParaRPr sz="1700">
              <a:solidFill>
                <a:srgbClr val="222222"/>
              </a:solidFill>
              <a:latin typeface="Arial" panose="020B0604020202090204"/>
            </a:endParaRPr>
          </a:p>
          <a:p>
            <a:pPr algn="l"/>
          </a:p>
          <a:p>
            <a:pPr algn="l"/>
            <a:r>
              <a:rPr sz="1700">
                <a:solidFill>
                  <a:srgbClr val="222222"/>
                </a:solidFill>
                <a:latin typeface="Arial" panose="020B0604020202090204"/>
              </a:rPr>
              <a:t>Stage 2: Gold-Answer SFT Calibration (Optional)</a:t>
            </a:r>
            <a:endParaRPr sz="1700">
              <a:solidFill>
                <a:srgbClr val="222222"/>
              </a:solidFill>
              <a:latin typeface="Arial" panose="020B0604020202090204"/>
            </a:endParaRPr>
          </a:p>
          <a:p>
            <a:pPr algn="l"/>
            <a:r>
              <a:rPr sz="1700">
                <a:solidFill>
                  <a:srgbClr val="222222"/>
                </a:solidFill>
                <a:latin typeface="Arial" panose="020B0604020202090204"/>
              </a:rPr>
              <a:t>  • Inherits Stage 1 LoRA weights</a:t>
            </a:r>
            <a:endParaRPr sz="1700">
              <a:solidFill>
                <a:srgbClr val="222222"/>
              </a:solidFill>
              <a:latin typeface="Arial" panose="020B0604020202090204"/>
            </a:endParaRPr>
          </a:p>
          <a:p>
            <a:pPr algn="l"/>
            <a:r>
              <a:rPr sz="1700">
                <a:solidFill>
                  <a:srgbClr val="222222"/>
                </a:solidFill>
                <a:latin typeface="Arial" panose="020B0604020202090204"/>
              </a:rPr>
              <a:t>  • Continues supervised fine-tuning with GT labels</a:t>
            </a:r>
            <a:endParaRPr sz="1700">
              <a:solidFill>
                <a:srgbClr val="222222"/>
              </a:solidFill>
              <a:latin typeface="Arial" panose="020B0604020202090204"/>
            </a:endParaRPr>
          </a:p>
          <a:p>
            <a:pPr algn="l"/>
            <a:r>
              <a:rPr sz="1700">
                <a:solidFill>
                  <a:srgbClr val="222222"/>
                </a:solidFill>
                <a:latin typeface="Arial" panose="020B0604020202090204"/>
              </a:rPr>
              <a:t>  • Stage 1 = relative map; Stage 2 = gold anchor</a:t>
            </a:r>
            <a:endParaRPr sz="1700">
              <a:solidFill>
                <a:srgbClr val="222222"/>
              </a:solidFill>
              <a:latin typeface="Arial" panose="020B0604020202090204"/>
            </a:endParaRPr>
          </a:p>
          <a:p>
            <a:pPr algn="l"/>
          </a:p>
          <a:p>
            <a:pPr algn="l"/>
            <a:r>
              <a:rPr sz="1700">
                <a:solidFill>
                  <a:srgbClr val="222222"/>
                </a:solidFill>
                <a:latin typeface="Arial" panose="020B0604020202090204"/>
              </a:rPr>
              <a:t>Design Intuition:</a:t>
            </a:r>
            <a:endParaRPr sz="1700">
              <a:solidFill>
                <a:srgbClr val="222222"/>
              </a:solidFill>
              <a:latin typeface="Arial" panose="020B0604020202090204"/>
            </a:endParaRPr>
          </a:p>
          <a:p>
            <a:pPr algn="l"/>
            <a:r>
              <a:rPr sz="1700">
                <a:solidFill>
                  <a:srgbClr val="222222"/>
                </a:solidFill>
                <a:latin typeface="Arial" panose="020B0604020202090204"/>
              </a:rPr>
              <a:t>  Keep teacher uncertainty that affects final option.</a:t>
            </a:r>
            <a:endParaRPr sz="1700">
              <a:solidFill>
                <a:srgbClr val="222222"/>
              </a:solidFill>
              <a:latin typeface="Arial" panose="020B0604020202090204"/>
            </a:endParaRPr>
          </a:p>
          <a:p>
            <a:pPr algn="l"/>
            <a:r>
              <a:rPr sz="1700">
                <a:solidFill>
                  <a:srgbClr val="222222"/>
                </a:solidFill>
                <a:latin typeface="Arial" panose="020B0604020202090204"/>
              </a:rPr>
              <a:t>  Drop dimensions that do NOT change the decision.</a:t>
            </a:r>
            <a:endParaRPr sz="1700">
              <a:solidFill>
                <a:srgbClr val="222222"/>
              </a:solidFill>
              <a:latin typeface="Arial" panose="020B0604020202090204"/>
            </a:endParaRPr>
          </a:p>
        </p:txBody>
      </p:sp>
      <p:pic>
        <p:nvPicPr>
          <p:cNvPr id="4" name="Picture 3" descr="Flat_vector_illustration_of_a__2026-06-13T02-22-07.png"/>
          <p:cNvPicPr>
            <a:picLocks noChangeAspect="1"/>
          </p:cNvPicPr>
          <p:nvPr/>
        </p:nvPicPr>
        <p:blipFill>
          <a:blip r:embed="rId1"/>
          <a:stretch>
            <a:fillRect/>
          </a:stretch>
        </p:blipFill>
        <p:spPr>
          <a:xfrm>
            <a:off x="6858000" y="1097280"/>
            <a:ext cx="4754880" cy="4754880"/>
          </a:xfrm>
          <a:prstGeom prst="rect">
            <a:avLst/>
          </a:prstGeom>
        </p:spPr>
      </p:pic>
      <p:sp>
        <p:nvSpPr>
          <p:cNvPr id="5" name="TextBox 4"/>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5/12</a:t>
            </a:r>
            <a:endParaRPr sz="1200" b="0">
              <a:solidFill>
                <a:srgbClr val="888888"/>
              </a:solidFill>
              <a:latin typeface="Arial" panose="020B0604020202090204"/>
            </a:endParaRPr>
          </a:p>
        </p:txBody>
      </p:sp>
      <p:pic>
        <p:nvPicPr>
          <p:cNvPr id="6" name="Picture 3" descr="ppt_formula.png"/>
          <p:cNvPicPr>
            <a:picLocks noChangeAspect="1"/>
          </p:cNvPicPr>
          <p:nvPr/>
        </p:nvPicPr>
        <p:blipFill>
          <a:blip r:embed="rId2"/>
          <a:stretch>
            <a:fillRect/>
          </a:stretch>
        </p:blipFill>
        <p:spPr>
          <a:xfrm>
            <a:off x="604520" y="1997710"/>
            <a:ext cx="4710430" cy="9829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04  Why Decision-Space Distillation Matters</a:t>
            </a:r>
            <a:endParaRPr sz="3000" b="1">
              <a:solidFill>
                <a:srgbClr val="00578B"/>
              </a:solidFill>
              <a:latin typeface="Arial" panose="020B0604020202090204"/>
            </a:endParaRPr>
          </a:p>
        </p:txBody>
      </p:sp>
      <p:sp>
        <p:nvSpPr>
          <p:cNvPr id="3" name="TextBox 2"/>
          <p:cNvSpPr txBox="1"/>
          <p:nvPr/>
        </p:nvSpPr>
        <p:spPr>
          <a:xfrm>
            <a:off x="457200" y="1097280"/>
            <a:ext cx="5943600" cy="4572000"/>
          </a:xfrm>
          <a:prstGeom prst="rect">
            <a:avLst/>
          </a:prstGeom>
          <a:noFill/>
        </p:spPr>
        <p:txBody>
          <a:bodyPr wrap="square">
            <a:spAutoFit/>
          </a:bodyPr>
          <a:lstStyle/>
          <a:p>
            <a:r>
              <a:t>1. Task Alignment</a:t>
            </a:r>
          </a:p>
          <a:p>
            <a:r>
              <a:t>   Supervision follows five-option structure → better signal-to-noise</a:t>
            </a:r>
          </a:p>
          <a:p/>
          <a:p>
            <a:r>
              <a:t>2. Efficiency</a:t>
            </a:r>
          </a:p>
          <a:p>
            <a:r>
              <a:t>   Full vocabulary → 5 options = much smaller target space</a:t>
            </a:r>
          </a:p>
          <a:p>
            <a:r>
              <a:t>Lower memory, faster training, reduced teacher API cost</a:t>
            </a:r>
          </a:p>
          <a:p/>
          <a:p>
            <a:r>
              <a:t>3. Black-Box Compatibility</a:t>
            </a:r>
          </a:p>
          <a:p>
            <a:r>
              <a:t>   Works with API-based teachers (DeepSeek-V3 API setup)</a:t>
            </a:r>
          </a:p>
          <a:p>
            <a:r>
              <a:t>   Uses option-level outputs or smoothed soft labels</a:t>
            </a:r>
          </a:p>
          <a:p/>
          <a:p>
            <a:r>
              <a:t>4. Effective Transfer Signal</a:t>
            </a:r>
          </a:p>
          <a:p>
            <a:r>
              <a:t>   Option-level soft labels preserve relative preferences</a:t>
            </a:r>
          </a:p>
          <a:p>
            <a:r>
              <a:t>   among A/B/C/D/E</a:t>
            </a:r>
          </a:p>
        </p:txBody>
      </p:sp>
      <p:sp>
        <p:nvSpPr>
          <p:cNvPr id="4" name="TextBox 3"/>
          <p:cNvSpPr txBox="1"/>
          <p:nvPr/>
        </p:nvSpPr>
        <p:spPr>
          <a:xfrm>
            <a:off x="457200" y="5669280"/>
            <a:ext cx="5943600" cy="548640"/>
          </a:xfrm>
          <a:prstGeom prst="rect">
            <a:avLst/>
          </a:prstGeom>
          <a:noFill/>
        </p:spPr>
        <p:txBody>
          <a:bodyPr wrap="square">
            <a:spAutoFit/>
          </a:bodyPr>
          <a:lstStyle/>
          <a:p>
            <a:pPr algn="l"/>
            <a:r>
              <a:rPr sz="1700" b="1">
                <a:solidFill>
                  <a:srgbClr val="00AD9E"/>
                </a:solidFill>
                <a:latin typeface="Arial" panose="020B0604020202090204"/>
              </a:rPr>
              <a:t>→ Decision-space transfer is a practical target for structured MCQs.</a:t>
            </a:r>
            <a:endParaRPr sz="1700" b="1">
              <a:solidFill>
                <a:srgbClr val="00AD9E"/>
              </a:solidFill>
              <a:latin typeface="Arial" panose="020B0604020202090204"/>
            </a:endParaRPr>
          </a:p>
        </p:txBody>
      </p:sp>
      <p:pic>
        <p:nvPicPr>
          <p:cNvPr id="5" name="Picture 4" descr="Flat_vector_illustration_of_a__2026-06-13T02-22-35.png"/>
          <p:cNvPicPr>
            <a:picLocks noChangeAspect="1"/>
          </p:cNvPicPr>
          <p:nvPr/>
        </p:nvPicPr>
        <p:blipFill>
          <a:blip r:embed="rId1"/>
          <a:stretch>
            <a:fillRect/>
          </a:stretch>
        </p:blipFill>
        <p:spPr>
          <a:xfrm>
            <a:off x="6858000" y="1097280"/>
            <a:ext cx="4754880" cy="4754880"/>
          </a:xfrm>
          <a:prstGeom prst="rect">
            <a:avLst/>
          </a:prstGeom>
        </p:spPr>
      </p:pic>
      <p:sp>
        <p:nvSpPr>
          <p:cNvPr id="6" name="TextBox 5"/>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6/12</a:t>
            </a:r>
            <a:endParaRPr sz="1200" b="0">
              <a:solidFill>
                <a:srgbClr val="888888"/>
              </a:solidFill>
              <a:latin typeface="Arial" panose="020B060402020209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05  Experimental Setup</a:t>
            </a:r>
            <a:endParaRPr sz="3000" b="1">
              <a:solidFill>
                <a:srgbClr val="00578B"/>
              </a:solidFill>
              <a:latin typeface="Arial" panose="020B0604020202090204"/>
            </a:endParaRPr>
          </a:p>
        </p:txBody>
      </p:sp>
      <p:sp>
        <p:nvSpPr>
          <p:cNvPr id="3" name="TextBox 2"/>
          <p:cNvSpPr txBox="1"/>
          <p:nvPr/>
        </p:nvSpPr>
        <p:spPr>
          <a:xfrm>
            <a:off x="457200" y="1097280"/>
            <a:ext cx="5943600" cy="5029200"/>
          </a:xfrm>
          <a:prstGeom prst="rect">
            <a:avLst/>
          </a:prstGeom>
          <a:noFill/>
        </p:spPr>
        <p:txBody>
          <a:bodyPr wrap="square">
            <a:spAutoFit/>
          </a:bodyPr>
          <a:lstStyle/>
          <a:p>
            <a:pPr algn="l"/>
            <a:r>
              <a:rPr sz="1700">
                <a:solidFill>
                  <a:srgbClr val="222222"/>
                </a:solidFill>
                <a:latin typeface="Arial" panose="020B0604020202090204"/>
              </a:rPr>
              <a:t>Dataset: CMExam-based resplit (6,590 medical MCQs)</a:t>
            </a:r>
            <a:endParaRPr sz="1700">
              <a:solidFill>
                <a:srgbClr val="222222"/>
              </a:solidFill>
              <a:latin typeface="Arial" panose="020B0604020202090204"/>
            </a:endParaRPr>
          </a:p>
          <a:p>
            <a:pPr algn="l"/>
            <a:r>
              <a:rPr sz="1700">
                <a:solidFill>
                  <a:srgbClr val="222222"/>
                </a:solidFill>
                <a:latin typeface="Arial" panose="020B0604020202090204"/>
              </a:rPr>
              <a:t>  • 70/15/15 partition (4,608 / 991 / 991)</a:t>
            </a:r>
            <a:endParaRPr sz="1700">
              <a:solidFill>
                <a:srgbClr val="222222"/>
              </a:solidFill>
              <a:latin typeface="Arial" panose="020B0604020202090204"/>
            </a:endParaRPr>
          </a:p>
          <a:p>
            <a:pPr algn="l"/>
            <a:r>
              <a:rPr sz="1700">
                <a:solidFill>
                  <a:srgbClr val="222222"/>
                </a:solidFill>
                <a:latin typeface="Arial" panose="020B0604020202090204"/>
              </a:rPr>
              <a:t>  • Full Test: 991 questions; Dental Subset: 125</a:t>
            </a:r>
            <a:endParaRPr sz="1700">
              <a:solidFill>
                <a:srgbClr val="222222"/>
              </a:solidFill>
              <a:latin typeface="Arial" panose="020B0604020202090204"/>
            </a:endParaRPr>
          </a:p>
          <a:p>
            <a:pPr algn="l"/>
          </a:p>
          <a:p>
            <a:pPr algn="l"/>
            <a:r>
              <a:rPr sz="1700">
                <a:solidFill>
                  <a:srgbClr val="222222"/>
                </a:solidFill>
                <a:latin typeface="Arial" panose="020B0604020202090204"/>
              </a:rPr>
              <a:t>Teacher: DeepSeek-V3 (87.18% on full test)</a:t>
            </a:r>
            <a:endParaRPr sz="1700">
              <a:solidFill>
                <a:srgbClr val="222222"/>
              </a:solidFill>
              <a:latin typeface="Arial" panose="020B0604020202090204"/>
            </a:endParaRPr>
          </a:p>
          <a:p>
            <a:pPr algn="l"/>
            <a:r>
              <a:rPr sz="1700">
                <a:solidFill>
                  <a:srgbClr val="222222"/>
                </a:solidFill>
                <a:latin typeface="Arial" panose="020B0604020202090204"/>
              </a:rPr>
              <a:t>  • Teacher-GT disagreement: 12.2% of training data</a:t>
            </a:r>
            <a:endParaRPr sz="1700">
              <a:solidFill>
                <a:srgbClr val="222222"/>
              </a:solidFill>
              <a:latin typeface="Arial" panose="020B0604020202090204"/>
            </a:endParaRPr>
          </a:p>
          <a:p>
            <a:pPr algn="l"/>
          </a:p>
          <a:p>
            <a:pPr algn="l"/>
            <a:r>
              <a:rPr sz="1700">
                <a:solidFill>
                  <a:srgbClr val="222222"/>
                </a:solidFill>
                <a:latin typeface="Arial" panose="020B0604020202090204"/>
              </a:rPr>
              <a:t>Students: Qwen2.5-7B / 14B-Instruct</a:t>
            </a:r>
            <a:endParaRPr sz="1700">
              <a:solidFill>
                <a:srgbClr val="222222"/>
              </a:solidFill>
              <a:latin typeface="Arial" panose="020B0604020202090204"/>
            </a:endParaRPr>
          </a:p>
          <a:p>
            <a:pPr algn="l"/>
            <a:r>
              <a:rPr sz="1700">
                <a:solidFill>
                  <a:srgbClr val="222222"/>
                </a:solidFill>
                <a:latin typeface="Arial" panose="020B0604020202090204"/>
              </a:rPr>
              <a:t>  • LoRA (rank=16, alpha=32), lr=1e-4</a:t>
            </a:r>
            <a:endParaRPr sz="1700">
              <a:solidFill>
                <a:srgbClr val="222222"/>
              </a:solidFill>
              <a:latin typeface="Arial" panose="020B0604020202090204"/>
            </a:endParaRPr>
          </a:p>
          <a:p>
            <a:pPr algn="l"/>
            <a:r>
              <a:rPr sz="1700">
                <a:solidFill>
                  <a:srgbClr val="222222"/>
                </a:solidFill>
                <a:latin typeface="Arial" panose="020B0604020202090204"/>
              </a:rPr>
              <a:t>  • Stage 1: 1 epoch; Stage 2: optional SFT epoch</a:t>
            </a:r>
            <a:endParaRPr sz="1700">
              <a:solidFill>
                <a:srgbClr val="222222"/>
              </a:solidFill>
              <a:latin typeface="Arial" panose="020B0604020202090204"/>
            </a:endParaRPr>
          </a:p>
          <a:p>
            <a:pPr algn="l"/>
          </a:p>
          <a:p>
            <a:pPr algn="l"/>
            <a:r>
              <a:rPr sz="1700">
                <a:solidFill>
                  <a:srgbClr val="222222"/>
                </a:solidFill>
                <a:latin typeface="Arial" panose="020B0604020202090204"/>
              </a:rPr>
              <a:t>Evaluation:</a:t>
            </a:r>
            <a:endParaRPr sz="1700">
              <a:solidFill>
                <a:srgbClr val="222222"/>
              </a:solidFill>
              <a:latin typeface="Arial" panose="020B0604020202090204"/>
            </a:endParaRPr>
          </a:p>
          <a:p>
            <a:pPr algn="l"/>
            <a:r>
              <a:rPr sz="1700">
                <a:solidFill>
                  <a:srgbClr val="222222"/>
                </a:solidFill>
                <a:latin typeface="Arial" panose="020B0604020202090204"/>
              </a:rPr>
              <a:t>  • Exact-match accuracy on final option</a:t>
            </a:r>
            <a:endParaRPr sz="1700">
              <a:solidFill>
                <a:srgbClr val="222222"/>
              </a:solidFill>
              <a:latin typeface="Arial" panose="020B0604020202090204"/>
            </a:endParaRPr>
          </a:p>
          <a:p>
            <a:pPr algn="l"/>
            <a:r>
              <a:rPr sz="1700">
                <a:solidFill>
                  <a:srgbClr val="222222"/>
                </a:solidFill>
                <a:latin typeface="Arial" panose="020B0604020202090204"/>
              </a:rPr>
              <a:t>  • 3 seeds to reduce run-to-run noise</a:t>
            </a:r>
            <a:endParaRPr sz="1700">
              <a:solidFill>
                <a:srgbClr val="222222"/>
              </a:solidFill>
              <a:latin typeface="Arial" panose="020B0604020202090204"/>
            </a:endParaRPr>
          </a:p>
          <a:p>
            <a:pPr algn="l"/>
            <a:r>
              <a:rPr sz="1700">
                <a:solidFill>
                  <a:srgbClr val="222222"/>
                </a:solidFill>
                <a:latin typeface="Arial" panose="020B0604020202090204"/>
              </a:rPr>
              <a:t>  • Closed answer space: only A/B/C/D/E</a:t>
            </a:r>
            <a:endParaRPr sz="1700">
              <a:solidFill>
                <a:srgbClr val="222222"/>
              </a:solidFill>
              <a:latin typeface="Arial" panose="020B0604020202090204"/>
            </a:endParaRPr>
          </a:p>
        </p:txBody>
      </p:sp>
      <p:pic>
        <p:nvPicPr>
          <p:cNvPr id="4" name="Picture 3" descr="Flat_vector_illustration_of_a__2026-06-13T02-26-36.png"/>
          <p:cNvPicPr>
            <a:picLocks noChangeAspect="1"/>
          </p:cNvPicPr>
          <p:nvPr/>
        </p:nvPicPr>
        <p:blipFill>
          <a:blip r:embed="rId1"/>
          <a:stretch>
            <a:fillRect/>
          </a:stretch>
        </p:blipFill>
        <p:spPr>
          <a:xfrm>
            <a:off x="6858000" y="1097280"/>
            <a:ext cx="4754880" cy="4754880"/>
          </a:xfrm>
          <a:prstGeom prst="rect">
            <a:avLst/>
          </a:prstGeom>
        </p:spPr>
      </p:pic>
      <p:sp>
        <p:nvSpPr>
          <p:cNvPr id="5" name="TextBox 4"/>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7/12</a:t>
            </a:r>
            <a:endParaRPr sz="1200" b="0">
              <a:solidFill>
                <a:srgbClr val="888888"/>
              </a:solidFill>
              <a:latin typeface="Arial" panose="020B060402020209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06  Main Results &amp; Analysis</a:t>
            </a:r>
            <a:endParaRPr sz="3000" b="1">
              <a:solidFill>
                <a:srgbClr val="00578B"/>
              </a:solidFill>
              <a:latin typeface="Arial" panose="020B0604020202090204"/>
            </a:endParaRPr>
          </a:p>
        </p:txBody>
      </p:sp>
      <p:sp>
        <p:nvSpPr>
          <p:cNvPr id="3" name="TextBox 2"/>
          <p:cNvSpPr txBox="1"/>
          <p:nvPr/>
        </p:nvSpPr>
        <p:spPr>
          <a:xfrm>
            <a:off x="457200" y="914400"/>
            <a:ext cx="5943600" cy="457200"/>
          </a:xfrm>
          <a:prstGeom prst="rect">
            <a:avLst/>
          </a:prstGeom>
          <a:noFill/>
        </p:spPr>
        <p:txBody>
          <a:bodyPr wrap="square">
            <a:spAutoFit/>
          </a:bodyPr>
          <a:lstStyle/>
          <a:p>
            <a:pPr algn="ctr"/>
            <a:r>
              <a:rPr sz="2400" b="1">
                <a:solidFill>
                  <a:srgbClr val="00AD9E"/>
                </a:solidFill>
                <a:latin typeface="Arial" panose="020B0604020202090204"/>
              </a:rPr>
              <a:t>Results on CMExam Test Sets</a:t>
            </a:r>
            <a:endParaRPr sz="2400" b="1">
              <a:solidFill>
                <a:srgbClr val="00AD9E"/>
              </a:solidFill>
              <a:latin typeface="Arial" panose="020B0604020202090204"/>
            </a:endParaRPr>
          </a:p>
        </p:txBody>
      </p:sp>
      <p:sp>
        <p:nvSpPr>
          <p:cNvPr id="4" name="Rectangle 3"/>
          <p:cNvSpPr/>
          <p:nvPr/>
        </p:nvSpPr>
        <p:spPr>
          <a:xfrm>
            <a:off x="457200" y="1463040"/>
            <a:ext cx="1645920" cy="457200"/>
          </a:xfrm>
          <a:prstGeom prst="rect">
            <a:avLst/>
          </a:prstGeom>
          <a:solidFill>
            <a:srgbClr val="00578B"/>
          </a:solidFill>
          <a:ln>
            <a:solidFill>
              <a:srgbClr val="0057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63040"/>
            <a:ext cx="1645920" cy="457200"/>
          </a:xfrm>
          <a:prstGeom prst="rect">
            <a:avLst/>
          </a:prstGeom>
          <a:noFill/>
        </p:spPr>
        <p:txBody>
          <a:bodyPr wrap="square">
            <a:spAutoFit/>
          </a:bodyPr>
          <a:lstStyle/>
          <a:p>
            <a:pPr algn="ctr"/>
            <a:r>
              <a:rPr sz="1600" b="1">
                <a:solidFill>
                  <a:srgbClr val="FFFFFF"/>
                </a:solidFill>
                <a:latin typeface="Arial" panose="020B0604020202090204"/>
              </a:rPr>
              <a:t>Model</a:t>
            </a:r>
            <a:endParaRPr sz="1600" b="1">
              <a:solidFill>
                <a:srgbClr val="FFFFFF"/>
              </a:solidFill>
              <a:latin typeface="Arial" panose="020B0604020202090204"/>
            </a:endParaRPr>
          </a:p>
        </p:txBody>
      </p:sp>
      <p:sp>
        <p:nvSpPr>
          <p:cNvPr id="6" name="Rectangle 5"/>
          <p:cNvSpPr/>
          <p:nvPr/>
        </p:nvSpPr>
        <p:spPr>
          <a:xfrm>
            <a:off x="2194560" y="1463040"/>
            <a:ext cx="1828800" cy="457200"/>
          </a:xfrm>
          <a:prstGeom prst="rect">
            <a:avLst/>
          </a:prstGeom>
          <a:solidFill>
            <a:srgbClr val="00578B"/>
          </a:solidFill>
          <a:ln>
            <a:solidFill>
              <a:srgbClr val="0057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94560" y="1463040"/>
            <a:ext cx="1828800" cy="457200"/>
          </a:xfrm>
          <a:prstGeom prst="rect">
            <a:avLst/>
          </a:prstGeom>
          <a:noFill/>
        </p:spPr>
        <p:txBody>
          <a:bodyPr wrap="square">
            <a:spAutoFit/>
          </a:bodyPr>
          <a:lstStyle/>
          <a:p>
            <a:pPr algn="ctr"/>
            <a:r>
              <a:rPr sz="1600" b="1">
                <a:solidFill>
                  <a:srgbClr val="FFFFFF"/>
                </a:solidFill>
                <a:latin typeface="Arial" panose="020B0604020202090204"/>
              </a:rPr>
              <a:t>Setting</a:t>
            </a:r>
            <a:endParaRPr sz="1600" b="1">
              <a:solidFill>
                <a:srgbClr val="FFFFFF"/>
              </a:solidFill>
              <a:latin typeface="Arial" panose="020B0604020202090204"/>
            </a:endParaRPr>
          </a:p>
        </p:txBody>
      </p:sp>
      <p:sp>
        <p:nvSpPr>
          <p:cNvPr id="8" name="Rectangle 7"/>
          <p:cNvSpPr/>
          <p:nvPr/>
        </p:nvSpPr>
        <p:spPr>
          <a:xfrm>
            <a:off x="4114800" y="1463040"/>
            <a:ext cx="1188720" cy="457200"/>
          </a:xfrm>
          <a:prstGeom prst="rect">
            <a:avLst/>
          </a:prstGeom>
          <a:solidFill>
            <a:srgbClr val="00578B"/>
          </a:solidFill>
          <a:ln>
            <a:solidFill>
              <a:srgbClr val="0057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463040"/>
            <a:ext cx="1188720" cy="457200"/>
          </a:xfrm>
          <a:prstGeom prst="rect">
            <a:avLst/>
          </a:prstGeom>
          <a:noFill/>
        </p:spPr>
        <p:txBody>
          <a:bodyPr wrap="square">
            <a:spAutoFit/>
          </a:bodyPr>
          <a:lstStyle/>
          <a:p>
            <a:pPr algn="ctr"/>
            <a:r>
              <a:rPr sz="1600" b="1">
                <a:solidFill>
                  <a:srgbClr val="FFFFFF"/>
                </a:solidFill>
                <a:latin typeface="Arial" panose="020B0604020202090204"/>
              </a:rPr>
              <a:t>Full Test</a:t>
            </a:r>
            <a:endParaRPr sz="1600" b="1">
              <a:solidFill>
                <a:srgbClr val="FFFFFF"/>
              </a:solidFill>
              <a:latin typeface="Arial" panose="020B0604020202090204"/>
            </a:endParaRPr>
          </a:p>
        </p:txBody>
      </p:sp>
      <p:sp>
        <p:nvSpPr>
          <p:cNvPr id="10" name="Rectangle 9"/>
          <p:cNvSpPr/>
          <p:nvPr/>
        </p:nvSpPr>
        <p:spPr>
          <a:xfrm>
            <a:off x="5394960" y="1463040"/>
            <a:ext cx="1188720" cy="457200"/>
          </a:xfrm>
          <a:prstGeom prst="rect">
            <a:avLst/>
          </a:prstGeom>
          <a:solidFill>
            <a:srgbClr val="00578B"/>
          </a:solidFill>
          <a:ln>
            <a:solidFill>
              <a:srgbClr val="0057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94960" y="1463040"/>
            <a:ext cx="1188720" cy="457200"/>
          </a:xfrm>
          <a:prstGeom prst="rect">
            <a:avLst/>
          </a:prstGeom>
          <a:noFill/>
        </p:spPr>
        <p:txBody>
          <a:bodyPr wrap="square">
            <a:spAutoFit/>
          </a:bodyPr>
          <a:lstStyle/>
          <a:p>
            <a:pPr algn="ctr"/>
            <a:r>
              <a:rPr sz="1600" b="1">
                <a:solidFill>
                  <a:srgbClr val="FFFFFF"/>
                </a:solidFill>
                <a:latin typeface="Arial" panose="020B0604020202090204"/>
              </a:rPr>
              <a:t>Dental</a:t>
            </a:r>
            <a:endParaRPr sz="1600" b="1">
              <a:solidFill>
                <a:srgbClr val="FFFFFF"/>
              </a:solidFill>
              <a:latin typeface="Arial" panose="020B0604020202090204"/>
            </a:endParaRPr>
          </a:p>
        </p:txBody>
      </p:sp>
      <p:sp>
        <p:nvSpPr>
          <p:cNvPr id="12" name="Rectangle 11"/>
          <p:cNvSpPr/>
          <p:nvPr/>
        </p:nvSpPr>
        <p:spPr>
          <a:xfrm>
            <a:off x="457200" y="1965960"/>
            <a:ext cx="16459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194560" y="1965960"/>
            <a:ext cx="182880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14800" y="1965960"/>
            <a:ext cx="11887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394960" y="1965960"/>
            <a:ext cx="11887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965960"/>
            <a:ext cx="1645920" cy="457200"/>
          </a:xfrm>
          <a:prstGeom prst="rect">
            <a:avLst/>
          </a:prstGeom>
          <a:noFill/>
        </p:spPr>
        <p:txBody>
          <a:bodyPr wrap="square">
            <a:spAutoFit/>
          </a:bodyPr>
          <a:lstStyle/>
          <a:p>
            <a:pPr algn="ctr"/>
            <a:r>
              <a:rPr sz="1500" b="0">
                <a:latin typeface="Arial" panose="020B0604020202090204"/>
              </a:rPr>
              <a:t>Qwen2.5-7B</a:t>
            </a:r>
            <a:endParaRPr sz="1500" b="0">
              <a:latin typeface="Arial" panose="020B0604020202090204"/>
            </a:endParaRPr>
          </a:p>
        </p:txBody>
      </p:sp>
      <p:sp>
        <p:nvSpPr>
          <p:cNvPr id="17" name="TextBox 16"/>
          <p:cNvSpPr txBox="1"/>
          <p:nvPr/>
        </p:nvSpPr>
        <p:spPr>
          <a:xfrm>
            <a:off x="2194560" y="1965960"/>
            <a:ext cx="1828800" cy="457200"/>
          </a:xfrm>
          <a:prstGeom prst="rect">
            <a:avLst/>
          </a:prstGeom>
          <a:noFill/>
        </p:spPr>
        <p:txBody>
          <a:bodyPr wrap="square">
            <a:spAutoFit/>
          </a:bodyPr>
          <a:lstStyle/>
          <a:p>
            <a:pPr algn="ctr"/>
            <a:r>
              <a:rPr sz="1500" b="0">
                <a:latin typeface="Arial" panose="020B0604020202090204"/>
              </a:rPr>
              <a:t>Zero-shot</a:t>
            </a:r>
            <a:endParaRPr sz="1500" b="0">
              <a:latin typeface="Arial" panose="020B0604020202090204"/>
            </a:endParaRPr>
          </a:p>
        </p:txBody>
      </p:sp>
      <p:sp>
        <p:nvSpPr>
          <p:cNvPr id="18" name="TextBox 17"/>
          <p:cNvSpPr txBox="1"/>
          <p:nvPr/>
        </p:nvSpPr>
        <p:spPr>
          <a:xfrm>
            <a:off x="4114800" y="1965960"/>
            <a:ext cx="1188720" cy="457200"/>
          </a:xfrm>
          <a:prstGeom prst="rect">
            <a:avLst/>
          </a:prstGeom>
          <a:noFill/>
        </p:spPr>
        <p:txBody>
          <a:bodyPr wrap="square">
            <a:spAutoFit/>
          </a:bodyPr>
          <a:lstStyle/>
          <a:p>
            <a:pPr algn="ctr"/>
            <a:r>
              <a:rPr sz="1500" b="0">
                <a:solidFill>
                  <a:srgbClr val="222222"/>
                </a:solidFill>
                <a:latin typeface="Arial" panose="020B0604020202090204"/>
              </a:rPr>
              <a:t>76.49%</a:t>
            </a:r>
            <a:endParaRPr sz="1500" b="0">
              <a:solidFill>
                <a:srgbClr val="222222"/>
              </a:solidFill>
              <a:latin typeface="Arial" panose="020B0604020202090204"/>
            </a:endParaRPr>
          </a:p>
        </p:txBody>
      </p:sp>
      <p:sp>
        <p:nvSpPr>
          <p:cNvPr id="19" name="TextBox 18"/>
          <p:cNvSpPr txBox="1"/>
          <p:nvPr/>
        </p:nvSpPr>
        <p:spPr>
          <a:xfrm>
            <a:off x="5394960" y="1965960"/>
            <a:ext cx="1188720" cy="457200"/>
          </a:xfrm>
          <a:prstGeom prst="rect">
            <a:avLst/>
          </a:prstGeom>
          <a:noFill/>
        </p:spPr>
        <p:txBody>
          <a:bodyPr wrap="square">
            <a:spAutoFit/>
          </a:bodyPr>
          <a:lstStyle/>
          <a:p>
            <a:pPr algn="ctr"/>
            <a:r>
              <a:rPr sz="1500" b="0">
                <a:latin typeface="Arial" panose="020B0604020202090204"/>
              </a:rPr>
              <a:t>68.80%</a:t>
            </a:r>
            <a:endParaRPr sz="1500" b="0">
              <a:latin typeface="Arial" panose="020B0604020202090204"/>
            </a:endParaRPr>
          </a:p>
        </p:txBody>
      </p:sp>
      <p:sp>
        <p:nvSpPr>
          <p:cNvPr id="20" name="TextBox 19"/>
          <p:cNvSpPr txBox="1"/>
          <p:nvPr/>
        </p:nvSpPr>
        <p:spPr>
          <a:xfrm>
            <a:off x="457200" y="2423160"/>
            <a:ext cx="1645920" cy="457200"/>
          </a:xfrm>
          <a:prstGeom prst="rect">
            <a:avLst/>
          </a:prstGeom>
          <a:noFill/>
        </p:spPr>
        <p:txBody>
          <a:bodyPr wrap="square">
            <a:spAutoFit/>
          </a:bodyPr>
          <a:lstStyle/>
          <a:p>
            <a:pPr algn="ctr"/>
            <a:r>
              <a:rPr sz="1500" b="0">
                <a:latin typeface="Arial" panose="020B0604020202090204"/>
              </a:rPr>
              <a:t>Qwen2.5-14B</a:t>
            </a:r>
            <a:endParaRPr sz="1500" b="0">
              <a:latin typeface="Arial" panose="020B0604020202090204"/>
            </a:endParaRPr>
          </a:p>
        </p:txBody>
      </p:sp>
      <p:sp>
        <p:nvSpPr>
          <p:cNvPr id="21" name="TextBox 20"/>
          <p:cNvSpPr txBox="1"/>
          <p:nvPr/>
        </p:nvSpPr>
        <p:spPr>
          <a:xfrm>
            <a:off x="2194560" y="2423160"/>
            <a:ext cx="1828800" cy="457200"/>
          </a:xfrm>
          <a:prstGeom prst="rect">
            <a:avLst/>
          </a:prstGeom>
          <a:noFill/>
        </p:spPr>
        <p:txBody>
          <a:bodyPr wrap="square">
            <a:spAutoFit/>
          </a:bodyPr>
          <a:lstStyle/>
          <a:p>
            <a:pPr algn="ctr"/>
            <a:r>
              <a:rPr sz="1500" b="0">
                <a:latin typeface="Arial" panose="020B0604020202090204"/>
              </a:rPr>
              <a:t>Zero-shot</a:t>
            </a:r>
            <a:endParaRPr sz="1500" b="0">
              <a:latin typeface="Arial" panose="020B0604020202090204"/>
            </a:endParaRPr>
          </a:p>
        </p:txBody>
      </p:sp>
      <p:sp>
        <p:nvSpPr>
          <p:cNvPr id="22" name="TextBox 21"/>
          <p:cNvSpPr txBox="1"/>
          <p:nvPr/>
        </p:nvSpPr>
        <p:spPr>
          <a:xfrm>
            <a:off x="4114800" y="2423160"/>
            <a:ext cx="1188720" cy="457200"/>
          </a:xfrm>
          <a:prstGeom prst="rect">
            <a:avLst/>
          </a:prstGeom>
          <a:noFill/>
        </p:spPr>
        <p:txBody>
          <a:bodyPr wrap="square">
            <a:spAutoFit/>
          </a:bodyPr>
          <a:lstStyle/>
          <a:p>
            <a:pPr algn="ctr"/>
            <a:r>
              <a:rPr sz="1500" b="0">
                <a:solidFill>
                  <a:srgbClr val="222222"/>
                </a:solidFill>
                <a:latin typeface="Arial" panose="020B0604020202090204"/>
              </a:rPr>
              <a:t>83.55%</a:t>
            </a:r>
            <a:endParaRPr sz="1500" b="0">
              <a:solidFill>
                <a:srgbClr val="222222"/>
              </a:solidFill>
              <a:latin typeface="Arial" panose="020B0604020202090204"/>
            </a:endParaRPr>
          </a:p>
        </p:txBody>
      </p:sp>
      <p:sp>
        <p:nvSpPr>
          <p:cNvPr id="23" name="TextBox 22"/>
          <p:cNvSpPr txBox="1"/>
          <p:nvPr/>
        </p:nvSpPr>
        <p:spPr>
          <a:xfrm>
            <a:off x="5394960" y="2423160"/>
            <a:ext cx="1188720" cy="457200"/>
          </a:xfrm>
          <a:prstGeom prst="rect">
            <a:avLst/>
          </a:prstGeom>
          <a:noFill/>
        </p:spPr>
        <p:txBody>
          <a:bodyPr wrap="square">
            <a:spAutoFit/>
          </a:bodyPr>
          <a:lstStyle/>
          <a:p>
            <a:pPr algn="ctr"/>
            <a:r>
              <a:rPr sz="1500" b="0">
                <a:latin typeface="Arial" panose="020B0604020202090204"/>
              </a:rPr>
              <a:t>74.40%</a:t>
            </a:r>
            <a:endParaRPr sz="1500" b="0">
              <a:latin typeface="Arial" panose="020B0604020202090204"/>
            </a:endParaRPr>
          </a:p>
        </p:txBody>
      </p:sp>
      <p:sp>
        <p:nvSpPr>
          <p:cNvPr id="24" name="Rectangle 23"/>
          <p:cNvSpPr/>
          <p:nvPr/>
        </p:nvSpPr>
        <p:spPr>
          <a:xfrm>
            <a:off x="457200" y="2880360"/>
            <a:ext cx="16459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194560" y="2880360"/>
            <a:ext cx="182880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14800" y="2880360"/>
            <a:ext cx="11887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394960" y="2880360"/>
            <a:ext cx="11887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2880360"/>
            <a:ext cx="1645920" cy="457200"/>
          </a:xfrm>
          <a:prstGeom prst="rect">
            <a:avLst/>
          </a:prstGeom>
          <a:noFill/>
        </p:spPr>
        <p:txBody>
          <a:bodyPr wrap="square">
            <a:spAutoFit/>
          </a:bodyPr>
          <a:lstStyle/>
          <a:p>
            <a:pPr algn="ctr"/>
            <a:r>
              <a:rPr sz="1500" b="0">
                <a:latin typeface="Arial" panose="020B0604020202090204"/>
              </a:rPr>
              <a:t>DeepSeek-V3</a:t>
            </a:r>
            <a:endParaRPr sz="1500" b="0">
              <a:latin typeface="Arial" panose="020B0604020202090204"/>
            </a:endParaRPr>
          </a:p>
        </p:txBody>
      </p:sp>
      <p:sp>
        <p:nvSpPr>
          <p:cNvPr id="29" name="TextBox 28"/>
          <p:cNvSpPr txBox="1"/>
          <p:nvPr/>
        </p:nvSpPr>
        <p:spPr>
          <a:xfrm>
            <a:off x="2194560" y="2880360"/>
            <a:ext cx="1828800" cy="457200"/>
          </a:xfrm>
          <a:prstGeom prst="rect">
            <a:avLst/>
          </a:prstGeom>
          <a:noFill/>
        </p:spPr>
        <p:txBody>
          <a:bodyPr wrap="square">
            <a:spAutoFit/>
          </a:bodyPr>
          <a:lstStyle/>
          <a:p>
            <a:pPr algn="ctr"/>
            <a:r>
              <a:rPr sz="1500" b="0">
                <a:latin typeface="Arial" panose="020B0604020202090204"/>
              </a:rPr>
              <a:t>Teacher</a:t>
            </a:r>
            <a:endParaRPr sz="1500" b="0">
              <a:latin typeface="Arial" panose="020B0604020202090204"/>
            </a:endParaRPr>
          </a:p>
        </p:txBody>
      </p:sp>
      <p:sp>
        <p:nvSpPr>
          <p:cNvPr id="30" name="TextBox 29"/>
          <p:cNvSpPr txBox="1"/>
          <p:nvPr/>
        </p:nvSpPr>
        <p:spPr>
          <a:xfrm>
            <a:off x="4114800" y="2880360"/>
            <a:ext cx="1188720" cy="457200"/>
          </a:xfrm>
          <a:prstGeom prst="rect">
            <a:avLst/>
          </a:prstGeom>
          <a:noFill/>
        </p:spPr>
        <p:txBody>
          <a:bodyPr wrap="square">
            <a:spAutoFit/>
          </a:bodyPr>
          <a:lstStyle/>
          <a:p>
            <a:pPr algn="ctr"/>
            <a:r>
              <a:rPr sz="1500" b="0">
                <a:solidFill>
                  <a:srgbClr val="222222"/>
                </a:solidFill>
                <a:latin typeface="Arial" panose="020B0604020202090204"/>
              </a:rPr>
              <a:t>87.18%</a:t>
            </a:r>
            <a:endParaRPr sz="1500" b="0">
              <a:solidFill>
                <a:srgbClr val="222222"/>
              </a:solidFill>
              <a:latin typeface="Arial" panose="020B0604020202090204"/>
            </a:endParaRPr>
          </a:p>
        </p:txBody>
      </p:sp>
      <p:sp>
        <p:nvSpPr>
          <p:cNvPr id="31" name="TextBox 30"/>
          <p:cNvSpPr txBox="1"/>
          <p:nvPr/>
        </p:nvSpPr>
        <p:spPr>
          <a:xfrm>
            <a:off x="5394960" y="2880360"/>
            <a:ext cx="1188720" cy="457200"/>
          </a:xfrm>
          <a:prstGeom prst="rect">
            <a:avLst/>
          </a:prstGeom>
          <a:noFill/>
        </p:spPr>
        <p:txBody>
          <a:bodyPr wrap="square">
            <a:spAutoFit/>
          </a:bodyPr>
          <a:lstStyle/>
          <a:p>
            <a:pPr algn="ctr"/>
            <a:r>
              <a:rPr sz="1500" b="0">
                <a:latin typeface="Arial" panose="020B0604020202090204"/>
              </a:rPr>
              <a:t>79.20%</a:t>
            </a:r>
            <a:endParaRPr sz="1500" b="0">
              <a:latin typeface="Arial" panose="020B0604020202090204"/>
            </a:endParaRPr>
          </a:p>
        </p:txBody>
      </p:sp>
      <p:sp>
        <p:nvSpPr>
          <p:cNvPr id="32" name="TextBox 31"/>
          <p:cNvSpPr txBox="1"/>
          <p:nvPr/>
        </p:nvSpPr>
        <p:spPr>
          <a:xfrm>
            <a:off x="457200" y="3337560"/>
            <a:ext cx="1645920" cy="457200"/>
          </a:xfrm>
          <a:prstGeom prst="rect">
            <a:avLst/>
          </a:prstGeom>
          <a:noFill/>
        </p:spPr>
        <p:txBody>
          <a:bodyPr wrap="square">
            <a:spAutoFit/>
          </a:bodyPr>
          <a:lstStyle/>
          <a:p>
            <a:pPr algn="ctr"/>
            <a:r>
              <a:rPr sz="1500" b="0">
                <a:latin typeface="Arial" panose="020B0604020202090204"/>
              </a:rPr>
              <a:t>Qwen2.5-7B</a:t>
            </a:r>
            <a:endParaRPr sz="1500" b="0">
              <a:latin typeface="Arial" panose="020B0604020202090204"/>
            </a:endParaRPr>
          </a:p>
        </p:txBody>
      </p:sp>
      <p:sp>
        <p:nvSpPr>
          <p:cNvPr id="33" name="TextBox 32"/>
          <p:cNvSpPr txBox="1"/>
          <p:nvPr/>
        </p:nvSpPr>
        <p:spPr>
          <a:xfrm>
            <a:off x="2194560" y="3337560"/>
            <a:ext cx="1828800" cy="457200"/>
          </a:xfrm>
          <a:prstGeom prst="rect">
            <a:avLst/>
          </a:prstGeom>
          <a:noFill/>
        </p:spPr>
        <p:txBody>
          <a:bodyPr wrap="square">
            <a:spAutoFit/>
          </a:bodyPr>
          <a:lstStyle/>
          <a:p>
            <a:pPr algn="ctr"/>
            <a:r>
              <a:rPr sz="1500" b="0">
                <a:latin typeface="Arial" panose="020B0604020202090204"/>
              </a:rPr>
              <a:t>Stage 1 mean</a:t>
            </a:r>
            <a:endParaRPr sz="1500" b="0">
              <a:latin typeface="Arial" panose="020B0604020202090204"/>
            </a:endParaRPr>
          </a:p>
        </p:txBody>
      </p:sp>
      <p:sp>
        <p:nvSpPr>
          <p:cNvPr id="34" name="TextBox 33"/>
          <p:cNvSpPr txBox="1"/>
          <p:nvPr/>
        </p:nvSpPr>
        <p:spPr>
          <a:xfrm>
            <a:off x="4114800" y="3337560"/>
            <a:ext cx="1188720" cy="457200"/>
          </a:xfrm>
          <a:prstGeom prst="rect">
            <a:avLst/>
          </a:prstGeom>
          <a:noFill/>
        </p:spPr>
        <p:txBody>
          <a:bodyPr wrap="square">
            <a:spAutoFit/>
          </a:bodyPr>
          <a:lstStyle/>
          <a:p>
            <a:pPr algn="ctr"/>
            <a:r>
              <a:rPr sz="1500" b="0">
                <a:solidFill>
                  <a:srgbClr val="222222"/>
                </a:solidFill>
                <a:latin typeface="Arial" panose="020B0604020202090204"/>
              </a:rPr>
              <a:t>85.60%</a:t>
            </a:r>
            <a:endParaRPr sz="1500" b="0">
              <a:solidFill>
                <a:srgbClr val="222222"/>
              </a:solidFill>
              <a:latin typeface="Arial" panose="020B0604020202090204"/>
            </a:endParaRPr>
          </a:p>
        </p:txBody>
      </p:sp>
      <p:sp>
        <p:nvSpPr>
          <p:cNvPr id="35" name="TextBox 34"/>
          <p:cNvSpPr txBox="1"/>
          <p:nvPr/>
        </p:nvSpPr>
        <p:spPr>
          <a:xfrm>
            <a:off x="5394960" y="3337560"/>
            <a:ext cx="1188720" cy="457200"/>
          </a:xfrm>
          <a:prstGeom prst="rect">
            <a:avLst/>
          </a:prstGeom>
          <a:noFill/>
        </p:spPr>
        <p:txBody>
          <a:bodyPr wrap="square">
            <a:spAutoFit/>
          </a:bodyPr>
          <a:lstStyle/>
          <a:p>
            <a:pPr algn="ctr"/>
            <a:r>
              <a:rPr sz="1500" b="0">
                <a:latin typeface="Arial" panose="020B0604020202090204"/>
              </a:rPr>
              <a:t>73.60%</a:t>
            </a:r>
            <a:endParaRPr sz="1500" b="0">
              <a:latin typeface="Arial" panose="020B0604020202090204"/>
            </a:endParaRPr>
          </a:p>
        </p:txBody>
      </p:sp>
      <p:sp>
        <p:nvSpPr>
          <p:cNvPr id="36" name="Rectangle 35"/>
          <p:cNvSpPr/>
          <p:nvPr/>
        </p:nvSpPr>
        <p:spPr>
          <a:xfrm>
            <a:off x="457200" y="3794760"/>
            <a:ext cx="16459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194560" y="3794760"/>
            <a:ext cx="182880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114800" y="3794760"/>
            <a:ext cx="11887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394960" y="3794760"/>
            <a:ext cx="1188720" cy="457200"/>
          </a:xfrm>
          <a:prstGeom prst="rect">
            <a:avLst/>
          </a:prstGeom>
          <a:solidFill>
            <a:srgbClr val="E8F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794760"/>
            <a:ext cx="1645920" cy="457200"/>
          </a:xfrm>
          <a:prstGeom prst="rect">
            <a:avLst/>
          </a:prstGeom>
          <a:noFill/>
        </p:spPr>
        <p:txBody>
          <a:bodyPr wrap="square">
            <a:spAutoFit/>
          </a:bodyPr>
          <a:lstStyle/>
          <a:p>
            <a:pPr algn="ctr"/>
            <a:r>
              <a:rPr sz="1500" b="0">
                <a:latin typeface="Arial" panose="020B0604020202090204"/>
              </a:rPr>
              <a:t>Qwen2.5-14B</a:t>
            </a:r>
            <a:endParaRPr sz="1500" b="0">
              <a:latin typeface="Arial" panose="020B0604020202090204"/>
            </a:endParaRPr>
          </a:p>
        </p:txBody>
      </p:sp>
      <p:sp>
        <p:nvSpPr>
          <p:cNvPr id="41" name="TextBox 40"/>
          <p:cNvSpPr txBox="1"/>
          <p:nvPr/>
        </p:nvSpPr>
        <p:spPr>
          <a:xfrm>
            <a:off x="2194560" y="3794760"/>
            <a:ext cx="1828800" cy="457200"/>
          </a:xfrm>
          <a:prstGeom prst="rect">
            <a:avLst/>
          </a:prstGeom>
          <a:noFill/>
        </p:spPr>
        <p:txBody>
          <a:bodyPr wrap="square">
            <a:spAutoFit/>
          </a:bodyPr>
          <a:lstStyle/>
          <a:p>
            <a:pPr algn="ctr"/>
            <a:r>
              <a:rPr sz="1500" b="0">
                <a:latin typeface="Arial" panose="020B0604020202090204"/>
              </a:rPr>
              <a:t>Stage 1 mean</a:t>
            </a:r>
            <a:endParaRPr sz="1500" b="0">
              <a:latin typeface="Arial" panose="020B0604020202090204"/>
            </a:endParaRPr>
          </a:p>
        </p:txBody>
      </p:sp>
      <p:sp>
        <p:nvSpPr>
          <p:cNvPr id="42" name="TextBox 41"/>
          <p:cNvSpPr txBox="1"/>
          <p:nvPr/>
        </p:nvSpPr>
        <p:spPr>
          <a:xfrm>
            <a:off x="4114800" y="3794760"/>
            <a:ext cx="1188720" cy="457200"/>
          </a:xfrm>
          <a:prstGeom prst="rect">
            <a:avLst/>
          </a:prstGeom>
          <a:noFill/>
        </p:spPr>
        <p:txBody>
          <a:bodyPr wrap="square">
            <a:spAutoFit/>
          </a:bodyPr>
          <a:lstStyle/>
          <a:p>
            <a:pPr algn="ctr"/>
            <a:r>
              <a:rPr sz="1500" b="0">
                <a:solidFill>
                  <a:srgbClr val="222222"/>
                </a:solidFill>
                <a:latin typeface="Arial" panose="020B0604020202090204"/>
              </a:rPr>
              <a:t>88.67%</a:t>
            </a:r>
            <a:endParaRPr sz="1500" b="0">
              <a:solidFill>
                <a:srgbClr val="222222"/>
              </a:solidFill>
              <a:latin typeface="Arial" panose="020B0604020202090204"/>
            </a:endParaRPr>
          </a:p>
        </p:txBody>
      </p:sp>
      <p:sp>
        <p:nvSpPr>
          <p:cNvPr id="43" name="TextBox 42"/>
          <p:cNvSpPr txBox="1"/>
          <p:nvPr/>
        </p:nvSpPr>
        <p:spPr>
          <a:xfrm>
            <a:off x="5394960" y="3794760"/>
            <a:ext cx="1188720" cy="457200"/>
          </a:xfrm>
          <a:prstGeom prst="rect">
            <a:avLst/>
          </a:prstGeom>
          <a:noFill/>
        </p:spPr>
        <p:txBody>
          <a:bodyPr wrap="square">
            <a:spAutoFit/>
          </a:bodyPr>
          <a:lstStyle/>
          <a:p>
            <a:pPr algn="ctr"/>
            <a:r>
              <a:rPr sz="1500" b="0">
                <a:latin typeface="Arial" panose="020B0604020202090204"/>
              </a:rPr>
              <a:t>79.20%</a:t>
            </a:r>
            <a:endParaRPr sz="1500" b="0">
              <a:latin typeface="Arial" panose="020B0604020202090204"/>
            </a:endParaRPr>
          </a:p>
        </p:txBody>
      </p:sp>
      <p:sp>
        <p:nvSpPr>
          <p:cNvPr id="44" name="TextBox 43"/>
          <p:cNvSpPr txBox="1"/>
          <p:nvPr/>
        </p:nvSpPr>
        <p:spPr>
          <a:xfrm>
            <a:off x="457200" y="4251960"/>
            <a:ext cx="1645920" cy="457200"/>
          </a:xfrm>
          <a:prstGeom prst="rect">
            <a:avLst/>
          </a:prstGeom>
          <a:noFill/>
        </p:spPr>
        <p:txBody>
          <a:bodyPr wrap="square">
            <a:spAutoFit/>
          </a:bodyPr>
          <a:lstStyle/>
          <a:p>
            <a:pPr algn="ctr"/>
            <a:r>
              <a:rPr sz="1500" b="0">
                <a:latin typeface="Arial" panose="020B0604020202090204"/>
              </a:rPr>
              <a:t>Qwen2.5-14B</a:t>
            </a:r>
            <a:endParaRPr sz="1500" b="0">
              <a:latin typeface="Arial" panose="020B0604020202090204"/>
            </a:endParaRPr>
          </a:p>
        </p:txBody>
      </p:sp>
      <p:sp>
        <p:nvSpPr>
          <p:cNvPr id="45" name="TextBox 44"/>
          <p:cNvSpPr txBox="1"/>
          <p:nvPr/>
        </p:nvSpPr>
        <p:spPr>
          <a:xfrm>
            <a:off x="2194560" y="4251960"/>
            <a:ext cx="1828800" cy="457200"/>
          </a:xfrm>
          <a:prstGeom prst="rect">
            <a:avLst/>
          </a:prstGeom>
          <a:noFill/>
        </p:spPr>
        <p:txBody>
          <a:bodyPr wrap="square">
            <a:spAutoFit/>
          </a:bodyPr>
          <a:lstStyle/>
          <a:p>
            <a:pPr algn="ctr"/>
            <a:r>
              <a:rPr sz="1500" b="0">
                <a:latin typeface="Arial" panose="020B0604020202090204"/>
              </a:rPr>
              <a:t>Stage 1 best</a:t>
            </a:r>
            <a:endParaRPr sz="1500" b="0">
              <a:latin typeface="Arial" panose="020B0604020202090204"/>
            </a:endParaRPr>
          </a:p>
        </p:txBody>
      </p:sp>
      <p:sp>
        <p:nvSpPr>
          <p:cNvPr id="46" name="TextBox 45"/>
          <p:cNvSpPr txBox="1"/>
          <p:nvPr/>
        </p:nvSpPr>
        <p:spPr>
          <a:xfrm>
            <a:off x="4114800" y="4251960"/>
            <a:ext cx="1188720" cy="457200"/>
          </a:xfrm>
          <a:prstGeom prst="rect">
            <a:avLst/>
          </a:prstGeom>
          <a:noFill/>
        </p:spPr>
        <p:txBody>
          <a:bodyPr wrap="square">
            <a:spAutoFit/>
          </a:bodyPr>
          <a:lstStyle/>
          <a:p>
            <a:pPr algn="ctr"/>
            <a:r>
              <a:rPr sz="1500" b="1">
                <a:solidFill>
                  <a:srgbClr val="00578B"/>
                </a:solidFill>
                <a:latin typeface="Arial" panose="020B0604020202090204"/>
              </a:rPr>
              <a:t>89.10%</a:t>
            </a:r>
            <a:endParaRPr sz="1500" b="1">
              <a:solidFill>
                <a:srgbClr val="00578B"/>
              </a:solidFill>
              <a:latin typeface="Arial" panose="020B0604020202090204"/>
            </a:endParaRPr>
          </a:p>
        </p:txBody>
      </p:sp>
      <p:sp>
        <p:nvSpPr>
          <p:cNvPr id="47" name="TextBox 46"/>
          <p:cNvSpPr txBox="1"/>
          <p:nvPr/>
        </p:nvSpPr>
        <p:spPr>
          <a:xfrm>
            <a:off x="5394960" y="4251960"/>
            <a:ext cx="1188720" cy="457200"/>
          </a:xfrm>
          <a:prstGeom prst="rect">
            <a:avLst/>
          </a:prstGeom>
          <a:noFill/>
        </p:spPr>
        <p:txBody>
          <a:bodyPr wrap="square">
            <a:spAutoFit/>
          </a:bodyPr>
          <a:lstStyle/>
          <a:p>
            <a:pPr algn="ctr"/>
            <a:r>
              <a:rPr sz="1500" b="0">
                <a:latin typeface="Arial" panose="020B0604020202090204"/>
              </a:rPr>
              <a:t>78.40%</a:t>
            </a:r>
            <a:endParaRPr sz="1500" b="0">
              <a:latin typeface="Arial" panose="020B0604020202090204"/>
            </a:endParaRPr>
          </a:p>
        </p:txBody>
      </p:sp>
      <p:sp>
        <p:nvSpPr>
          <p:cNvPr id="48" name="TextBox 47"/>
          <p:cNvSpPr txBox="1"/>
          <p:nvPr/>
        </p:nvSpPr>
        <p:spPr>
          <a:xfrm>
            <a:off x="457200" y="4892040"/>
            <a:ext cx="5943600" cy="1371600"/>
          </a:xfrm>
          <a:prstGeom prst="rect">
            <a:avLst/>
          </a:prstGeom>
          <a:noFill/>
        </p:spPr>
        <p:txBody>
          <a:bodyPr wrap="square">
            <a:spAutoFit/>
          </a:bodyPr>
          <a:lstStyle/>
          <a:p>
            <a:pPr algn="l"/>
            <a:r>
              <a:rPr sz="1500" b="1">
                <a:solidFill>
                  <a:srgbClr val="222222"/>
                </a:solidFill>
                <a:latin typeface="Arial" panose="020B0604020202090204"/>
              </a:rPr>
              <a:t>Key Findings:</a:t>
            </a:r>
            <a:endParaRPr sz="1500" b="1">
              <a:solidFill>
                <a:srgbClr val="222222"/>
              </a:solidFill>
              <a:latin typeface="Arial" panose="020B0604020202090204"/>
            </a:endParaRPr>
          </a:p>
          <a:p>
            <a:pPr algn="l"/>
            <a:r>
              <a:rPr sz="1500">
                <a:solidFill>
                  <a:srgbClr val="222222"/>
                </a:solidFill>
                <a:latin typeface="Arial" panose="020B0604020202090204"/>
              </a:rPr>
              <a:t>  • 14B best = 89.10% &gt; Teacher = 87.18% (+1.92 pp)</a:t>
            </a:r>
            <a:endParaRPr sz="1500">
              <a:solidFill>
                <a:srgbClr val="222222"/>
              </a:solidFill>
              <a:latin typeface="Arial" panose="020B0604020202090204"/>
            </a:endParaRPr>
          </a:p>
          <a:p>
            <a:pPr algn="l"/>
            <a:r>
              <a:rPr sz="1500">
                <a:solidFill>
                  <a:srgbClr val="222222"/>
                </a:solidFill>
                <a:latin typeface="Arial" panose="020B0604020202090204"/>
              </a:rPr>
              <a:t>  • Stability: 3-seed range 88.40% ~ 89.10%</a:t>
            </a:r>
            <a:endParaRPr sz="1500">
              <a:solidFill>
                <a:srgbClr val="222222"/>
              </a:solidFill>
              <a:latin typeface="Arial" panose="020B0604020202090204"/>
            </a:endParaRPr>
          </a:p>
          <a:p>
            <a:pPr algn="l"/>
            <a:r>
              <a:rPr sz="1500">
                <a:solidFill>
                  <a:srgbClr val="222222"/>
                </a:solidFill>
                <a:latin typeface="Arial" panose="020B0604020202090204"/>
              </a:rPr>
              <a:t>  • Dental subset: 78.40% (≈ teacher 79.20%)</a:t>
            </a:r>
            <a:endParaRPr sz="1500">
              <a:solidFill>
                <a:srgbClr val="222222"/>
              </a:solidFill>
              <a:latin typeface="Arial" panose="020B0604020202090204"/>
            </a:endParaRPr>
          </a:p>
        </p:txBody>
      </p:sp>
      <p:pic>
        <p:nvPicPr>
          <p:cNvPr id="49" name="Picture 48" descr="Flat_vector_illustration_of_a__2026-06-13T02-23-02.png"/>
          <p:cNvPicPr>
            <a:picLocks noChangeAspect="1"/>
          </p:cNvPicPr>
          <p:nvPr/>
        </p:nvPicPr>
        <p:blipFill>
          <a:blip r:embed="rId1"/>
          <a:stretch>
            <a:fillRect/>
          </a:stretch>
        </p:blipFill>
        <p:spPr>
          <a:xfrm>
            <a:off x="6858000" y="914400"/>
            <a:ext cx="4754880" cy="4754880"/>
          </a:xfrm>
          <a:prstGeom prst="rect">
            <a:avLst/>
          </a:prstGeom>
        </p:spPr>
      </p:pic>
      <p:sp>
        <p:nvSpPr>
          <p:cNvPr id="50" name="TextBox 49"/>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8/12</a:t>
            </a:r>
            <a:endParaRPr sz="1200" b="0">
              <a:solidFill>
                <a:srgbClr val="888888"/>
              </a:solidFill>
              <a:latin typeface="Arial" panose="020B060402020209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07  Key Contributions</a:t>
            </a:r>
            <a:endParaRPr sz="3000" b="1">
              <a:solidFill>
                <a:srgbClr val="00578B"/>
              </a:solidFill>
              <a:latin typeface="Arial" panose="020B0604020202090204"/>
            </a:endParaRPr>
          </a:p>
        </p:txBody>
      </p:sp>
      <p:sp>
        <p:nvSpPr>
          <p:cNvPr id="3" name="TextBox 2"/>
          <p:cNvSpPr txBox="1"/>
          <p:nvPr/>
        </p:nvSpPr>
        <p:spPr>
          <a:xfrm>
            <a:off x="457200" y="1097280"/>
            <a:ext cx="5943600" cy="5029200"/>
          </a:xfrm>
          <a:prstGeom prst="rect">
            <a:avLst/>
          </a:prstGeom>
          <a:noFill/>
        </p:spPr>
        <p:txBody>
          <a:bodyPr wrap="square">
            <a:spAutoFit/>
          </a:bodyPr>
          <a:lstStyle/>
          <a:p>
            <a:r>
              <a:t>Contribution 1: Method</a:t>
            </a:r>
          </a:p>
          <a:p>
            <a:r>
              <a:t>  Proposes Choice-Head distillation — task-aligned</a:t>
            </a:r>
          </a:p>
          <a:p>
            <a:r>
              <a:t>  decision-space distillation for medical MCQs.</a:t>
            </a:r>
          </a:p>
          <a:p>
            <a:r>
              <a:t>  Compatible with black-box API teachers.</a:t>
            </a:r>
          </a:p>
          <a:p/>
          <a:p>
            <a:r>
              <a:t>Contribution 2: Empirical Finding</a:t>
            </a:r>
          </a:p>
          <a:p>
            <a:r>
              <a:t>  Best 14B student outperforms the teacher</a:t>
            </a:r>
          </a:p>
          <a:p>
            <a:r>
              <a:t>  under task-aligned distillation.</a:t>
            </a:r>
          </a:p>
          <a:p>
            <a:r>
              <a:t>  Best 14B: 89.10% vs. Teacher: 87.18%.</a:t>
            </a:r>
          </a:p>
          <a:p/>
          <a:p>
            <a:r>
              <a:t>Contribution 3: Analysis</a:t>
            </a:r>
          </a:p>
          <a:p>
            <a:r>
              <a:t>  Quantifies teacher-gold disagreement (12.2%).</a:t>
            </a:r>
          </a:p>
          <a:p>
            <a:r>
              <a:t>  Shows Stage 2 does NOT consistently help.</a:t>
            </a:r>
          </a:p>
          <a:p>
            <a:r>
              <a:t>  Provides deployment trade-off implications.</a:t>
            </a:r>
          </a:p>
        </p:txBody>
      </p:sp>
      <p:pic>
        <p:nvPicPr>
          <p:cNvPr id="4" name="Picture 3" descr="Flat_vector_illustration_of_th_2026-06-13T02-23-49.png"/>
          <p:cNvPicPr>
            <a:picLocks noChangeAspect="1"/>
          </p:cNvPicPr>
          <p:nvPr/>
        </p:nvPicPr>
        <p:blipFill>
          <a:blip r:embed="rId1"/>
          <a:stretch>
            <a:fillRect/>
          </a:stretch>
        </p:blipFill>
        <p:spPr>
          <a:xfrm>
            <a:off x="6858000" y="1097280"/>
            <a:ext cx="4754880" cy="4754880"/>
          </a:xfrm>
          <a:prstGeom prst="rect">
            <a:avLst/>
          </a:prstGeom>
        </p:spPr>
      </p:pic>
      <p:sp>
        <p:nvSpPr>
          <p:cNvPr id="5" name="TextBox 4"/>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9/12</a:t>
            </a:r>
            <a:endParaRPr sz="1200" b="0">
              <a:solidFill>
                <a:srgbClr val="888888"/>
              </a:solidFill>
              <a:latin typeface="Arial" panose="020B060402020209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08  Practical Implications &amp; Limitations</a:t>
            </a:r>
            <a:endParaRPr sz="3000" b="1">
              <a:solidFill>
                <a:srgbClr val="00578B"/>
              </a:solidFill>
              <a:latin typeface="Arial" panose="020B0604020202090204"/>
            </a:endParaRPr>
          </a:p>
        </p:txBody>
      </p:sp>
      <p:sp>
        <p:nvSpPr>
          <p:cNvPr id="3" name="TextBox 2"/>
          <p:cNvSpPr txBox="1"/>
          <p:nvPr/>
        </p:nvSpPr>
        <p:spPr>
          <a:xfrm>
            <a:off x="457200" y="1097280"/>
            <a:ext cx="5029200" cy="548640"/>
          </a:xfrm>
          <a:prstGeom prst="rect">
            <a:avLst/>
          </a:prstGeom>
          <a:noFill/>
        </p:spPr>
        <p:txBody>
          <a:bodyPr wrap="square">
            <a:spAutoFit/>
          </a:bodyPr>
          <a:lstStyle/>
          <a:p>
            <a:pPr algn="l"/>
            <a:r>
              <a:rPr sz="2400" b="1">
                <a:solidFill>
                  <a:srgbClr val="00AD9E"/>
                </a:solidFill>
                <a:latin typeface="Arial" panose="020B0604020202090204"/>
              </a:rPr>
              <a:t>Practical Implications</a:t>
            </a:r>
            <a:endParaRPr sz="2400" b="1">
              <a:solidFill>
                <a:srgbClr val="00AD9E"/>
              </a:solidFill>
              <a:latin typeface="Arial" panose="020B0604020202090204"/>
            </a:endParaRPr>
          </a:p>
        </p:txBody>
      </p:sp>
      <p:sp>
        <p:nvSpPr>
          <p:cNvPr id="4" name="TextBox 3"/>
          <p:cNvSpPr txBox="1"/>
          <p:nvPr/>
        </p:nvSpPr>
        <p:spPr>
          <a:xfrm>
            <a:off x="457200" y="1737360"/>
            <a:ext cx="5029200" cy="2286000"/>
          </a:xfrm>
          <a:prstGeom prst="rect">
            <a:avLst/>
          </a:prstGeom>
          <a:noFill/>
        </p:spPr>
        <p:txBody>
          <a:bodyPr wrap="square">
            <a:spAutoFit/>
          </a:bodyPr>
          <a:lstStyle/>
          <a:p>
            <a:r>
              <a:t>Changes deployment trade-off:</a:t>
            </a:r>
          </a:p>
          <a:p>
            <a:r>
              <a:t>  Smaller student models for lower-cost deployment</a:t>
            </a:r>
          </a:p>
          <a:p>
            <a:r>
              <a:t>  Lower inference latency and deployment cost</a:t>
            </a:r>
          </a:p>
          <a:p>
            <a:r>
              <a:t>  Reduced dependence on large teacher inference</a:t>
            </a:r>
          </a:p>
          <a:p/>
          <a:p>
            <a:r>
              <a:t>Applicable to any structured MCQ:</a:t>
            </a:r>
          </a:p>
          <a:p>
            <a:r>
              <a:t>  Medical exams, certifications, AI tutoring</a:t>
            </a:r>
          </a:p>
        </p:txBody>
      </p:sp>
      <p:sp>
        <p:nvSpPr>
          <p:cNvPr id="5" name="TextBox 4"/>
          <p:cNvSpPr txBox="1"/>
          <p:nvPr/>
        </p:nvSpPr>
        <p:spPr>
          <a:xfrm>
            <a:off x="457200" y="4206240"/>
            <a:ext cx="5029200" cy="548640"/>
          </a:xfrm>
          <a:prstGeom prst="rect">
            <a:avLst/>
          </a:prstGeom>
          <a:noFill/>
        </p:spPr>
        <p:txBody>
          <a:bodyPr wrap="square">
            <a:spAutoFit/>
          </a:bodyPr>
          <a:lstStyle/>
          <a:p>
            <a:pPr algn="l"/>
            <a:r>
              <a:rPr sz="2400" b="1">
                <a:solidFill>
                  <a:srgbClr val="00AD9E"/>
                </a:solidFill>
                <a:latin typeface="Arial" panose="020B0604020202090204"/>
              </a:rPr>
              <a:t>Limitations</a:t>
            </a:r>
            <a:endParaRPr sz="2400" b="1">
              <a:solidFill>
                <a:srgbClr val="00AD9E"/>
              </a:solidFill>
              <a:latin typeface="Arial" panose="020B0604020202090204"/>
            </a:endParaRPr>
          </a:p>
        </p:txBody>
      </p:sp>
      <p:sp>
        <p:nvSpPr>
          <p:cNvPr id="6" name="TextBox 5"/>
          <p:cNvSpPr txBox="1"/>
          <p:nvPr/>
        </p:nvSpPr>
        <p:spPr>
          <a:xfrm>
            <a:off x="457200" y="4846320"/>
            <a:ext cx="5029200" cy="1645920"/>
          </a:xfrm>
          <a:prstGeom prst="rect">
            <a:avLst/>
          </a:prstGeom>
          <a:noFill/>
        </p:spPr>
        <p:txBody>
          <a:bodyPr wrap="square">
            <a:spAutoFit/>
          </a:bodyPr>
          <a:lstStyle/>
          <a:p>
            <a:pPr algn="l"/>
            <a:r>
              <a:rPr sz="1700">
                <a:solidFill>
                  <a:srgbClr val="222222"/>
                </a:solidFill>
                <a:latin typeface="Arial" panose="020B0604020202090204"/>
              </a:rPr>
              <a:t>Task scope: only fixed-option MCQ</a:t>
            </a:r>
            <a:endParaRPr sz="1700">
              <a:solidFill>
                <a:srgbClr val="222222"/>
              </a:solidFill>
              <a:latin typeface="Arial" panose="020B0604020202090204"/>
            </a:endParaRPr>
          </a:p>
          <a:p>
            <a:pPr algn="l"/>
            <a:r>
              <a:rPr sz="1700">
                <a:solidFill>
                  <a:srgbClr val="222222"/>
                </a:solidFill>
                <a:latin typeface="Arial" panose="020B0604020202090204"/>
              </a:rPr>
              <a:t>Experiment scope: 1 teacher, 1 student family</a:t>
            </a:r>
            <a:endParaRPr sz="1700">
              <a:solidFill>
                <a:srgbClr val="222222"/>
              </a:solidFill>
              <a:latin typeface="Arial" panose="020B0604020202090204"/>
            </a:endParaRPr>
          </a:p>
          <a:p>
            <a:pPr algn="l"/>
            <a:r>
              <a:rPr sz="1700">
                <a:solidFill>
                  <a:srgbClr val="222222"/>
                </a:solidFill>
                <a:latin typeface="Arial" panose="020B0604020202090204"/>
              </a:rPr>
              <a:t>Stage 2: not always beneficial</a:t>
            </a:r>
            <a:endParaRPr sz="1700">
              <a:solidFill>
                <a:srgbClr val="222222"/>
              </a:solidFill>
              <a:latin typeface="Arial" panose="020B0604020202090204"/>
            </a:endParaRPr>
          </a:p>
          <a:p>
            <a:pPr algn="l"/>
            <a:r>
              <a:rPr sz="1700">
                <a:solidFill>
                  <a:srgbClr val="222222"/>
                </a:solidFill>
                <a:latin typeface="Arial" panose="020B0604020202090204"/>
              </a:rPr>
              <a:t>No full-vocabulary baseline (teacher is API-only; internal logits unavailable)</a:t>
            </a:r>
            <a:endParaRPr sz="1700">
              <a:solidFill>
                <a:srgbClr val="222222"/>
              </a:solidFill>
              <a:latin typeface="Arial" panose="020B0604020202090204"/>
            </a:endParaRPr>
          </a:p>
        </p:txBody>
      </p:sp>
      <p:pic>
        <p:nvPicPr>
          <p:cNvPr id="7" name="Picture 6" descr="Flat_vector_illustration_of_a__2026-06-13T02-24-17.png"/>
          <p:cNvPicPr>
            <a:picLocks noChangeAspect="1"/>
          </p:cNvPicPr>
          <p:nvPr/>
        </p:nvPicPr>
        <p:blipFill>
          <a:blip r:embed="rId1"/>
          <a:stretch>
            <a:fillRect/>
          </a:stretch>
        </p:blipFill>
        <p:spPr>
          <a:xfrm>
            <a:off x="6858000" y="1097280"/>
            <a:ext cx="4754880" cy="4754880"/>
          </a:xfrm>
          <a:prstGeom prst="rect">
            <a:avLst/>
          </a:prstGeom>
        </p:spPr>
      </p:pic>
      <p:sp>
        <p:nvSpPr>
          <p:cNvPr id="8" name="TextBox 7"/>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10/12</a:t>
            </a:r>
            <a:endParaRPr sz="1200" b="0">
              <a:solidFill>
                <a:srgbClr val="888888"/>
              </a:solidFill>
              <a:latin typeface="Arial" panose="020B060402020209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09  Conclusion</a:t>
            </a:r>
            <a:endParaRPr sz="3000" b="1">
              <a:solidFill>
                <a:srgbClr val="00578B"/>
              </a:solidFill>
              <a:latin typeface="Arial" panose="020B0604020202090204"/>
            </a:endParaRPr>
          </a:p>
        </p:txBody>
      </p:sp>
      <p:sp>
        <p:nvSpPr>
          <p:cNvPr id="3" name="TextBox 2"/>
          <p:cNvSpPr txBox="1"/>
          <p:nvPr/>
        </p:nvSpPr>
        <p:spPr>
          <a:xfrm>
            <a:off x="457200" y="1097280"/>
            <a:ext cx="5943600" cy="5029200"/>
          </a:xfrm>
          <a:prstGeom prst="rect">
            <a:avLst/>
          </a:prstGeom>
          <a:noFill/>
        </p:spPr>
        <p:txBody>
          <a:bodyPr wrap="square">
            <a:spAutoFit/>
          </a:bodyPr>
          <a:lstStyle/>
          <a:p>
            <a:pPr algn="l"/>
            <a:r>
              <a:rPr sz="1800">
                <a:solidFill>
                  <a:srgbClr val="222222"/>
                </a:solidFill>
                <a:latin typeface="Arial" panose="020B0604020202090204"/>
              </a:rPr>
              <a:t>This paper presented Choice-Head distillation</a:t>
            </a:r>
            <a:endParaRPr sz="1800">
              <a:solidFill>
                <a:srgbClr val="222222"/>
              </a:solidFill>
              <a:latin typeface="Arial" panose="020B0604020202090204"/>
            </a:endParaRPr>
          </a:p>
          <a:p>
            <a:pPr algn="l"/>
            <a:r>
              <a:rPr sz="1800">
                <a:solidFill>
                  <a:srgbClr val="222222"/>
                </a:solidFill>
                <a:latin typeface="Arial" panose="020B0604020202090204"/>
              </a:rPr>
              <a:t>for dental MCQ answering.</a:t>
            </a:r>
            <a:endParaRPr sz="1800">
              <a:solidFill>
                <a:srgbClr val="222222"/>
              </a:solidFill>
              <a:latin typeface="Arial" panose="020B0604020202090204"/>
            </a:endParaRPr>
          </a:p>
          <a:p>
            <a:pPr algn="l"/>
          </a:p>
          <a:p>
            <a:pPr algn="l"/>
            <a:r>
              <a:rPr sz="1800">
                <a:solidFill>
                  <a:srgbClr val="222222"/>
                </a:solidFill>
                <a:latin typeface="Arial" panose="020B0604020202090204"/>
              </a:rPr>
              <a:t>The method distills only the five-option answer</a:t>
            </a:r>
            <a:endParaRPr sz="1800">
              <a:solidFill>
                <a:srgbClr val="222222"/>
              </a:solidFill>
              <a:latin typeface="Arial" panose="020B0604020202090204"/>
            </a:endParaRPr>
          </a:p>
          <a:p>
            <a:pPr algn="l"/>
            <a:r>
              <a:rPr sz="1800">
                <a:solidFill>
                  <a:srgbClr val="222222"/>
                </a:solidFill>
                <a:latin typeface="Arial" panose="020B0604020202090204"/>
              </a:rPr>
              <a:t>distribution — computationally lighter and</a:t>
            </a:r>
            <a:endParaRPr sz="1800">
              <a:solidFill>
                <a:srgbClr val="222222"/>
              </a:solidFill>
              <a:latin typeface="Arial" panose="020B0604020202090204"/>
            </a:endParaRPr>
          </a:p>
          <a:p>
            <a:pPr algn="l"/>
            <a:r>
              <a:rPr sz="1800">
                <a:solidFill>
                  <a:srgbClr val="222222"/>
                </a:solidFill>
                <a:latin typeface="Arial" panose="020B0604020202090204"/>
              </a:rPr>
              <a:t>black-box API compatible.</a:t>
            </a:r>
            <a:endParaRPr sz="1800">
              <a:solidFill>
                <a:srgbClr val="222222"/>
              </a:solidFill>
              <a:latin typeface="Arial" panose="020B0604020202090204"/>
            </a:endParaRPr>
          </a:p>
          <a:p>
            <a:pPr algn="l"/>
          </a:p>
          <a:p>
            <a:pPr algn="l"/>
            <a:r>
              <a:rPr sz="1800">
                <a:solidFill>
                  <a:srgbClr val="222222"/>
                </a:solidFill>
                <a:latin typeface="Arial" panose="020B0604020202090204"/>
              </a:rPr>
              <a:t>Key result: Qwen2.5-14B student reaches</a:t>
            </a:r>
            <a:endParaRPr sz="1800">
              <a:solidFill>
                <a:srgbClr val="222222"/>
              </a:solidFill>
              <a:latin typeface="Arial" panose="020B0604020202090204"/>
            </a:endParaRPr>
          </a:p>
          <a:p>
            <a:pPr algn="l"/>
            <a:r>
              <a:rPr sz="1800">
                <a:solidFill>
                  <a:srgbClr val="222222"/>
                </a:solidFill>
                <a:latin typeface="Arial" panose="020B0604020202090204"/>
              </a:rPr>
              <a:t>89.10% accuracy, surpassing its DeepSeek-V3</a:t>
            </a:r>
            <a:endParaRPr sz="1800">
              <a:solidFill>
                <a:srgbClr val="222222"/>
              </a:solidFill>
              <a:latin typeface="Arial" panose="020B0604020202090204"/>
            </a:endParaRPr>
          </a:p>
          <a:p>
            <a:pPr algn="l"/>
            <a:r>
              <a:rPr sz="1800">
                <a:solidFill>
                  <a:srgbClr val="222222"/>
                </a:solidFill>
                <a:latin typeface="Arial" panose="020B0604020202090204"/>
              </a:rPr>
              <a:t>teacher (87.18%) on the 991-question test.</a:t>
            </a:r>
            <a:endParaRPr sz="1800">
              <a:solidFill>
                <a:srgbClr val="222222"/>
              </a:solidFill>
              <a:latin typeface="Arial" panose="020B0604020202090204"/>
            </a:endParaRPr>
          </a:p>
          <a:p>
            <a:pPr algn="l"/>
          </a:p>
          <a:p>
            <a:pPr algn="l"/>
            <a:r>
              <a:rPr sz="1800">
                <a:solidFill>
                  <a:srgbClr val="222222"/>
                </a:solidFill>
                <a:latin typeface="Arial" panose="020B0604020202090204"/>
              </a:rPr>
              <a:t>For structured medical MCQs, decision-space</a:t>
            </a:r>
            <a:endParaRPr sz="1800">
              <a:solidFill>
                <a:srgbClr val="222222"/>
              </a:solidFill>
              <a:latin typeface="Arial" panose="020B0604020202090204"/>
            </a:endParaRPr>
          </a:p>
          <a:p>
            <a:pPr algn="l"/>
            <a:r>
              <a:rPr sz="1800">
                <a:solidFill>
                  <a:srgbClr val="222222"/>
                </a:solidFill>
                <a:latin typeface="Arial" panose="020B0604020202090204"/>
              </a:rPr>
              <a:t>distillation provides an effective alternative</a:t>
            </a:r>
            <a:endParaRPr sz="1800">
              <a:solidFill>
                <a:srgbClr val="222222"/>
              </a:solidFill>
              <a:latin typeface="Arial" panose="020B0604020202090204"/>
            </a:endParaRPr>
          </a:p>
          <a:p>
            <a:pPr algn="l"/>
            <a:r>
              <a:rPr sz="1800">
                <a:solidFill>
                  <a:srgbClr val="222222"/>
                </a:solidFill>
                <a:latin typeface="Arial" panose="020B0604020202090204"/>
              </a:rPr>
              <a:t>to full-vocabulary objectives for fixed-option tasks.</a:t>
            </a:r>
            <a:endParaRPr sz="1800">
              <a:solidFill>
                <a:srgbClr val="222222"/>
              </a:solidFill>
              <a:latin typeface="Arial" panose="020B0604020202090204"/>
            </a:endParaRPr>
          </a:p>
        </p:txBody>
      </p:sp>
      <p:pic>
        <p:nvPicPr>
          <p:cNvPr id="4" name="Picture 3" descr="Flat_vector_illustration_for_p_2026-06-13T02-24-45.png"/>
          <p:cNvPicPr>
            <a:picLocks noChangeAspect="1"/>
          </p:cNvPicPr>
          <p:nvPr/>
        </p:nvPicPr>
        <p:blipFill>
          <a:blip r:embed="rId1"/>
          <a:stretch>
            <a:fillRect/>
          </a:stretch>
        </p:blipFill>
        <p:spPr>
          <a:xfrm>
            <a:off x="6858000" y="1097280"/>
            <a:ext cx="4754880" cy="4754880"/>
          </a:xfrm>
          <a:prstGeom prst="rect">
            <a:avLst/>
          </a:prstGeom>
        </p:spPr>
      </p:pic>
      <p:sp>
        <p:nvSpPr>
          <p:cNvPr id="5" name="TextBox 4"/>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11/12</a:t>
            </a:r>
            <a:endParaRPr sz="1200" b="0">
              <a:solidFill>
                <a:srgbClr val="888888"/>
              </a:solidFill>
              <a:latin typeface="Arial" panose="020B060402020209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57200" y="274320"/>
            <a:ext cx="10972800" cy="731520"/>
          </a:xfrm>
          <a:prstGeom prst="rect">
            <a:avLst/>
          </a:prstGeom>
          <a:noFill/>
        </p:spPr>
        <p:txBody>
          <a:bodyPr wrap="square">
            <a:spAutoFit/>
          </a:bodyPr>
          <a:lstStyle/>
          <a:p>
            <a:pPr algn="l"/>
            <a:r>
              <a:rPr sz="3000" b="1">
                <a:solidFill>
                  <a:srgbClr val="00578B"/>
                </a:solidFill>
                <a:latin typeface="Arial" panose="020B0604020202090204"/>
              </a:rPr>
              <a:t>Q &amp; A / Backup Slides</a:t>
            </a:r>
            <a:endParaRPr sz="3000" b="1">
              <a:solidFill>
                <a:srgbClr val="00578B"/>
              </a:solidFill>
              <a:latin typeface="Arial" panose="020B0604020202090204"/>
            </a:endParaRPr>
          </a:p>
        </p:txBody>
      </p:sp>
      <p:sp>
        <p:nvSpPr>
          <p:cNvPr id="3" name="TextBox 2"/>
          <p:cNvSpPr txBox="1"/>
          <p:nvPr/>
        </p:nvSpPr>
        <p:spPr>
          <a:xfrm>
            <a:off x="457200" y="1097280"/>
            <a:ext cx="5943600" cy="4114800"/>
          </a:xfrm>
          <a:prstGeom prst="rect">
            <a:avLst/>
          </a:prstGeom>
          <a:noFill/>
        </p:spPr>
        <p:txBody>
          <a:bodyPr wrap="square">
            <a:spAutoFit/>
          </a:bodyPr>
          <a:lstStyle/>
          <a:p>
            <a:r>
              <a:t>Q1: Why distill only five options?</a:t>
            </a:r>
          </a:p>
          <a:p>
            <a:r>
              <a:t>  A: Task = five-option decision; full vocabulary is mostly irrelevant.</a:t>
            </a:r>
          </a:p>
          <a:p/>
          <a:p>
            <a:r>
              <a:t>Q2: Why can the student beat the teacher?</a:t>
            </a:r>
          </a:p>
          <a:p>
            <a:r>
              <a:t>  A: Student combines teacher option preferences with</a:t>
            </a:r>
          </a:p>
          <a:p>
            <a:r>
              <a:t>  gold-label correction in the five-option decision space.</a:t>
            </a:r>
          </a:p>
          <a:p/>
          <a:p>
            <a:r>
              <a:t>Q3: Can this extend to open-ended QA?</a:t>
            </a:r>
          </a:p>
          <a:p>
            <a:r>
              <a:t>  A: Not directly. Built for structured MCQs.</a:t>
            </a:r>
          </a:p>
          <a:p/>
          <a:p>
            <a:r>
              <a:t>Q4: Does Stage 2 always help?</a:t>
            </a:r>
          </a:p>
          <a:p>
            <a:r>
              <a:t>  A: No. Best 14B result = Stage 1 only.</a:t>
            </a:r>
          </a:p>
        </p:txBody>
      </p:sp>
      <p:sp>
        <p:nvSpPr>
          <p:cNvPr id="4" name="TextBox 3"/>
          <p:cNvSpPr txBox="1"/>
          <p:nvPr/>
        </p:nvSpPr>
        <p:spPr>
          <a:xfrm>
            <a:off x="457200" y="5303520"/>
            <a:ext cx="5943600" cy="731520"/>
          </a:xfrm>
          <a:prstGeom prst="rect">
            <a:avLst/>
          </a:prstGeom>
          <a:noFill/>
        </p:spPr>
        <p:txBody>
          <a:bodyPr wrap="square">
            <a:spAutoFit/>
          </a:bodyPr>
          <a:lstStyle/>
          <a:p>
            <a:pPr algn="ctr"/>
            <a:r>
              <a:rPr sz="2600" b="1">
                <a:solidFill>
                  <a:srgbClr val="00578B"/>
                </a:solidFill>
                <a:latin typeface="Arial" panose="020B0604020202090204"/>
              </a:rPr>
              <a:t>Thank you! Questions welcome.</a:t>
            </a:r>
            <a:endParaRPr sz="2600" b="1">
              <a:solidFill>
                <a:srgbClr val="00578B"/>
              </a:solidFill>
              <a:latin typeface="Arial" panose="020B0604020202090204"/>
            </a:endParaRPr>
          </a:p>
        </p:txBody>
      </p:sp>
      <p:pic>
        <p:nvPicPr>
          <p:cNvPr id="5" name="Picture 4" descr="Flat_vector_illustration_for_Q_2026-06-13T02-25-12.png"/>
          <p:cNvPicPr>
            <a:picLocks noChangeAspect="1"/>
          </p:cNvPicPr>
          <p:nvPr/>
        </p:nvPicPr>
        <p:blipFill>
          <a:blip r:embed="rId1"/>
          <a:stretch>
            <a:fillRect/>
          </a:stretch>
        </p:blipFill>
        <p:spPr>
          <a:xfrm>
            <a:off x="6858000" y="1097280"/>
            <a:ext cx="4754880" cy="4754880"/>
          </a:xfrm>
          <a:prstGeom prst="rect">
            <a:avLst/>
          </a:prstGeom>
        </p:spPr>
      </p:pic>
      <p:sp>
        <p:nvSpPr>
          <p:cNvPr id="6" name="TextBox 5"/>
          <p:cNvSpPr txBox="1"/>
          <p:nvPr/>
        </p:nvSpPr>
        <p:spPr>
          <a:xfrm>
            <a:off x="457200" y="6400800"/>
            <a:ext cx="10972800" cy="365760"/>
          </a:xfrm>
          <a:prstGeom prst="rect">
            <a:avLst/>
          </a:prstGeom>
          <a:noFill/>
        </p:spPr>
        <p:txBody>
          <a:bodyPr wrap="square">
            <a:spAutoFit/>
          </a:bodyPr>
          <a:lstStyle/>
          <a:p>
            <a:pPr algn="l"/>
            <a:r>
              <a:rPr sz="1200" b="0">
                <a:solidFill>
                  <a:srgbClr val="888888"/>
                </a:solidFill>
                <a:latin typeface="Arial" panose="020B0604020202090204"/>
              </a:rPr>
              <a:t>AIEA 2026 Conference Presentation  12/12</a:t>
            </a:r>
            <a:endParaRPr sz="1200" b="0">
              <a:solidFill>
                <a:srgbClr val="888888"/>
              </a:solidFill>
              <a:latin typeface="Arial" panose="020B0604020202090204"/>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5858</Words>
  <Application>WPS 演示</Application>
  <PresentationFormat>On-screen Show (4:3)</PresentationFormat>
  <Paragraphs>272</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宋体</vt:lpstr>
      <vt:lpstr>Wingdings</vt:lpstr>
      <vt:lpstr>Arial</vt:lpstr>
      <vt:lpstr>Calibri</vt:lpstr>
      <vt:lpstr>Helvetica Neue</vt:lpstr>
      <vt:lpstr>宋体</vt:lpstr>
      <vt:lpstr>宋体-简</vt:lpstr>
      <vt:lpstr>微软雅黑</vt:lpstr>
      <vt:lpstr>汉仪旗黑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WPS_1779157832</cp:lastModifiedBy>
  <cp:revision>2</cp:revision>
  <dcterms:created xsi:type="dcterms:W3CDTF">2026-06-16T02:12:59Z</dcterms:created>
  <dcterms:modified xsi:type="dcterms:W3CDTF">2026-06-16T02:12:59Z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2052-12.1.25896.25896</vt:lpwstr>
  </property>
  <property fmtid="{D5CDD505-2E9C-101B-9397-08002B2CF9AE}" pid="3" name="ICV">
    <vt:lpwstr>4D1208DB397100612BB1306A00732812_42</vt:lpwstr>
  </property>
</Properties>
</file>